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D0EBBFE-B117-4311-80C1-DB0513F6D675}">
  <a:tblStyle styleId="{AD0EBBFE-B117-4311-80C1-DB0513F6D675}"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3860C78C-165E-429C-BBCA-56A9A168E9F6}"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b6514e172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g3b6514e172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6514e1727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g3b6514e1727_0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01" name="Google Shape;10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55" name="Google Shape;15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69" name="Google Shape;16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5" name="Shape 25"/>
        <p:cNvGrpSpPr/>
        <p:nvPr/>
      </p:nvGrpSpPr>
      <p:grpSpPr>
        <a:xfrm>
          <a:off x="0" y="0"/>
          <a:ext cx="0" cy="0"/>
          <a:chOff x="0" y="0"/>
          <a:chExt cx="0" cy="0"/>
        </a:xfrm>
      </p:grpSpPr>
      <p:sp>
        <p:nvSpPr>
          <p:cNvPr id="26" name="Google Shape;26;p4"/>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p:nvPr>
            <p:ph idx="2" type="pic"/>
          </p:nvPr>
        </p:nvSpPr>
        <p:spPr>
          <a:xfrm>
            <a:off x="2389717" y="612775"/>
            <a:ext cx="7315200" cy="4114800"/>
          </a:xfrm>
          <a:prstGeom prst="rect">
            <a:avLst/>
          </a:prstGeom>
          <a:noFill/>
          <a:ln>
            <a:noFill/>
          </a:ln>
        </p:spPr>
      </p:sp>
      <p:sp>
        <p:nvSpPr>
          <p:cNvPr id="28" name="Google Shape;28;p4"/>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9" name="Google Shape;29;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5"/>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6"/>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2" name="Google Shape;42;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7"/>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7"/>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 name="Google Shape;49;p7"/>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0" name="Google Shape;50;p7"/>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1" name="Google Shape;51;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8"/>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descr="C:\Users\AMMU\Desktop\Border.png" id="59" name="Google Shape;59;p8"/>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7" name="Google Shape;67;p10"/>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github.com/chirustark17/Sentiment-analysis-of-comments-received-through-E-consultation-modul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800"/>
              <a:buNone/>
            </a:pPr>
            <a:r>
              <a:rPr lang="en-US" sz="2200">
                <a:solidFill>
                  <a:srgbClr val="212529"/>
                </a:solidFill>
                <a:highlight>
                  <a:srgbClr val="FFFFFF"/>
                </a:highlight>
                <a:latin typeface="Cambria"/>
                <a:ea typeface="Cambria"/>
                <a:cs typeface="Cambria"/>
                <a:sym typeface="Cambria"/>
              </a:rPr>
              <a:t>Sentiment analysis of comments received through E-consultation module</a:t>
            </a:r>
            <a:endParaRPr sz="3600">
              <a:solidFill>
                <a:schemeClr val="dk1"/>
              </a:solidFill>
              <a:latin typeface="Cambria"/>
              <a:ea typeface="Cambria"/>
              <a:cs typeface="Cambria"/>
              <a:sym typeface="Cambria"/>
            </a:endParaRPr>
          </a:p>
        </p:txBody>
      </p:sp>
      <p:sp>
        <p:nvSpPr>
          <p:cNvPr id="88" name="Google Shape;88;p13"/>
          <p:cNvSpPr txBox="1"/>
          <p:nvPr>
            <p:ph idx="1" type="subTitle"/>
          </p:nvPr>
        </p:nvSpPr>
        <p:spPr>
          <a:xfrm>
            <a:off x="790468" y="2100777"/>
            <a:ext cx="4391100"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CSD_8</a:t>
            </a:r>
            <a:endParaRPr sz="1800">
              <a:latin typeface="Cambria"/>
              <a:ea typeface="Cambria"/>
              <a:cs typeface="Cambria"/>
              <a:sym typeface="Cambria"/>
            </a:endParaRPr>
          </a:p>
        </p:txBody>
      </p:sp>
      <p:sp>
        <p:nvSpPr>
          <p:cNvPr id="89" name="Google Shape;89;p13"/>
          <p:cNvSpPr txBox="1"/>
          <p:nvPr/>
        </p:nvSpPr>
        <p:spPr>
          <a:xfrm>
            <a:off x="6480195" y="2513340"/>
            <a:ext cx="5514300" cy="202050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US"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ctr">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Mr. </a:t>
            </a:r>
            <a:r>
              <a:rPr b="1" lang="en-US" sz="1700">
                <a:solidFill>
                  <a:srgbClr val="17365D"/>
                </a:solidFill>
                <a:latin typeface="Cambria"/>
                <a:ea typeface="Cambria"/>
                <a:cs typeface="Cambria"/>
                <a:sym typeface="Cambria"/>
              </a:rPr>
              <a:t>Anand Haridas</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Assistant Professor</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School of Computer Science and Engineering</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Presidency University</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197505" y="2721840"/>
          <a:ext cx="3000000" cy="3000000"/>
        </p:xfrm>
        <a:graphic>
          <a:graphicData uri="http://schemas.openxmlformats.org/drawingml/2006/table">
            <a:tbl>
              <a:tblPr bandRow="1" firstRow="1">
                <a:noFill/>
                <a:tableStyleId>{AD0EBBFE-B117-4311-80C1-DB0513F6D675}</a:tableStyleId>
              </a:tblPr>
              <a:tblGrid>
                <a:gridCol w="2221925"/>
                <a:gridCol w="3552600"/>
              </a:tblGrid>
              <a:tr h="283500">
                <a:tc>
                  <a:txBody>
                    <a:bodyPr/>
                    <a:lstStyle/>
                    <a:p>
                      <a:pPr indent="0" lvl="1"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20221</a:t>
                      </a:r>
                      <a:r>
                        <a:rPr lang="en-US" sz="1800"/>
                        <a:t>CSD0134</a:t>
                      </a:r>
                      <a:r>
                        <a:rPr lang="en-US" sz="1800" u="none" cap="none" strike="noStrike"/>
                        <a:t>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CHIRAG K S</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20221C</a:t>
                      </a:r>
                      <a:r>
                        <a:rPr lang="en-US" sz="1800"/>
                        <a:t>SD0133</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ARJUN ATHREY</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202</a:t>
                      </a:r>
                      <a:r>
                        <a:rPr lang="en-US" sz="1800"/>
                        <a:t>21CSD0145</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SRUSHTI S GOLAPPANAVAR</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1"/>
            <a:ext cx="5499000" cy="72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31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Review-1</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0" y="4533900"/>
            <a:ext cx="12249900"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chemeClr val="accent1"/>
                </a:solidFill>
                <a:latin typeface="Cambria"/>
                <a:ea typeface="Cambria"/>
                <a:cs typeface="Cambria"/>
                <a:sym typeface="Cambria"/>
              </a:rPr>
              <a:t>Name of the Program: </a:t>
            </a:r>
            <a:r>
              <a:rPr b="1" lang="en-US" sz="1800">
                <a:solidFill>
                  <a:schemeClr val="dk1"/>
                </a:solidFill>
                <a:latin typeface="Cambria"/>
                <a:ea typeface="Cambria"/>
                <a:cs typeface="Cambria"/>
                <a:sym typeface="Cambria"/>
              </a:rPr>
              <a:t>B.Tech  (</a:t>
            </a:r>
            <a:r>
              <a:rPr b="1" i="0" lang="en-US" sz="1800" u="none" cap="none" strike="noStrike">
                <a:solidFill>
                  <a:schemeClr val="dk1"/>
                </a:solidFill>
                <a:latin typeface="Cambria"/>
                <a:ea typeface="Cambria"/>
                <a:cs typeface="Cambria"/>
                <a:sym typeface="Cambria"/>
              </a:rPr>
              <a:t>Computer Science and Engineering{DATA SCIENCE})</a:t>
            </a:r>
            <a:endParaRPr>
              <a:solidFill>
                <a:schemeClr val="dk1"/>
              </a:solidFill>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HoD: </a:t>
            </a:r>
            <a:r>
              <a:rPr b="1" lang="en-US" sz="1800">
                <a:solidFill>
                  <a:schemeClr val="dk1"/>
                </a:solidFill>
                <a:latin typeface="Cambria"/>
                <a:ea typeface="Cambria"/>
                <a:cs typeface="Cambria"/>
                <a:sym typeface="Cambria"/>
              </a:rPr>
              <a:t>Dr. Pravinthraja S</a:t>
            </a:r>
            <a:endParaRPr b="1" sz="1800">
              <a:solidFill>
                <a:srgbClr val="FF0000"/>
              </a:solidFill>
              <a:latin typeface="Cambria"/>
              <a:ea typeface="Cambria"/>
              <a:cs typeface="Cambria"/>
              <a:sym typeface="Cambria"/>
            </a:endParaRPr>
          </a:p>
          <a:p>
            <a:pPr indent="0" lvl="0" marL="0" marR="0" rtl="0" algn="l">
              <a:lnSpc>
                <a:spcPct val="100000"/>
              </a:lnSpc>
              <a:spcBef>
                <a:spcPts val="0"/>
              </a:spcBef>
              <a:spcAft>
                <a:spcPts val="0"/>
              </a:spcAft>
              <a:buNone/>
            </a:pPr>
            <a:r>
              <a:rPr b="1" i="0" lang="en-US" sz="1800" u="none" cap="none" strike="noStrike">
                <a:solidFill>
                  <a:schemeClr val="accent1"/>
                </a:solidFill>
                <a:latin typeface="Cambria"/>
                <a:ea typeface="Cambria"/>
                <a:cs typeface="Cambria"/>
                <a:sym typeface="Cambria"/>
              </a:rPr>
              <a:t>Name of the Program Project Coordinator: </a:t>
            </a:r>
            <a:r>
              <a:rPr b="1" i="0" lang="en-US" sz="1800" u="none" cap="none" strike="noStrike">
                <a:solidFill>
                  <a:schemeClr val="dk1"/>
                </a:solidFill>
                <a:latin typeface="Cambria"/>
                <a:ea typeface="Cambria"/>
                <a:cs typeface="Cambria"/>
                <a:sym typeface="Cambria"/>
              </a:rPr>
              <a:t>Dr. H M M</a:t>
            </a:r>
            <a:r>
              <a:rPr b="1" lang="en-US" sz="1800">
                <a:solidFill>
                  <a:schemeClr val="dk1"/>
                </a:solidFill>
                <a:latin typeface="Cambria"/>
                <a:ea typeface="Cambria"/>
                <a:cs typeface="Cambria"/>
                <a:sym typeface="Cambria"/>
              </a:rPr>
              <a:t>anjula</a:t>
            </a:r>
            <a:endParaRPr b="1" sz="1800">
              <a:solidFill>
                <a:schemeClr val="dk1"/>
              </a:solidFill>
              <a:latin typeface="Cambria"/>
              <a:ea typeface="Cambria"/>
              <a:cs typeface="Cambria"/>
              <a:sym typeface="Cambria"/>
            </a:endParaRPr>
          </a:p>
          <a:p>
            <a:pPr indent="0" lvl="0" marL="0" marR="0" rtl="0" algn="l">
              <a:lnSpc>
                <a:spcPct val="100000"/>
              </a:lnSpc>
              <a:spcBef>
                <a:spcPts val="0"/>
              </a:spcBef>
              <a:spcAft>
                <a:spcPts val="0"/>
              </a:spcAft>
              <a:buNone/>
            </a:pPr>
            <a:r>
              <a:rPr b="1" i="0" lang="en-US" sz="1800" u="none" cap="none" strike="noStrike">
                <a:solidFill>
                  <a:schemeClr val="accent1"/>
                </a:solidFill>
                <a:latin typeface="Cambria"/>
                <a:ea typeface="Cambria"/>
                <a:cs typeface="Cambria"/>
                <a:sym typeface="Cambria"/>
              </a:rPr>
              <a:t>Name of the School Project Coordinators: </a:t>
            </a:r>
            <a:r>
              <a:rPr b="1" i="0" lang="en-US" sz="1800" u="none" cap="none" strike="noStrike">
                <a:solidFill>
                  <a:schemeClr val="dk1"/>
                </a:solidFill>
                <a:latin typeface="Cambria"/>
                <a:ea typeface="Cambria"/>
                <a:cs typeface="Cambria"/>
                <a:sym typeface="Cambria"/>
              </a:rPr>
              <a:t>Dr. Sampath A K , Dr. Geetha A </a:t>
            </a:r>
            <a:endParaRPr b="1" i="0" sz="1800" u="none" cap="none" strike="noStrike">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ph type="title"/>
          </p:nvPr>
        </p:nvSpPr>
        <p:spPr>
          <a:xfrm>
            <a:off x="904240" y="274499"/>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25035</a:t>
            </a:r>
            <a:endParaRPr>
              <a:latin typeface="Cambria"/>
              <a:ea typeface="Cambria"/>
              <a:cs typeface="Cambria"/>
              <a:sym typeface="Cambria"/>
            </a:endParaRPr>
          </a:p>
        </p:txBody>
      </p:sp>
      <p:sp>
        <p:nvSpPr>
          <p:cNvPr id="98" name="Google Shape;98;p14"/>
          <p:cNvSpPr txBox="1"/>
          <p:nvPr>
            <p:ph idx="1" type="body"/>
          </p:nvPr>
        </p:nvSpPr>
        <p:spPr>
          <a:xfrm>
            <a:off x="762000" y="1143001"/>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SzPts val="2595"/>
              <a:buNone/>
            </a:pPr>
            <a:r>
              <a:rPr b="1" lang="en-US" sz="1700">
                <a:latin typeface="Cambria"/>
                <a:ea typeface="Cambria"/>
                <a:cs typeface="Cambria"/>
                <a:sym typeface="Cambria"/>
              </a:rPr>
              <a:t>Organization: Ministry of Corporate Affairs </a:t>
            </a:r>
            <a:r>
              <a:rPr b="1" lang="en-US" sz="1700">
                <a:solidFill>
                  <a:srgbClr val="212529"/>
                </a:solidFill>
                <a:latin typeface="Cambria"/>
                <a:ea typeface="Cambria"/>
                <a:cs typeface="Cambria"/>
                <a:sym typeface="Cambria"/>
              </a:rPr>
              <a:t>(MoCA)</a:t>
            </a:r>
            <a:endParaRPr b="1" sz="1700">
              <a:latin typeface="Cambria"/>
              <a:ea typeface="Cambria"/>
              <a:cs typeface="Cambria"/>
              <a:sym typeface="Cambria"/>
            </a:endParaRPr>
          </a:p>
          <a:p>
            <a:pPr indent="-190500" lvl="0" marL="342900" rtl="0" algn="just">
              <a:lnSpc>
                <a:spcPct val="100000"/>
              </a:lnSpc>
              <a:spcBef>
                <a:spcPts val="0"/>
              </a:spcBef>
              <a:spcAft>
                <a:spcPts val="0"/>
              </a:spcAft>
              <a:buSzPts val="2595"/>
              <a:buNone/>
            </a:pPr>
            <a:r>
              <a:t/>
            </a:r>
            <a:endParaRPr b="1" sz="1700">
              <a:latin typeface="Cambria"/>
              <a:ea typeface="Cambria"/>
              <a:cs typeface="Cambria"/>
              <a:sym typeface="Cambria"/>
            </a:endParaRPr>
          </a:p>
          <a:p>
            <a:pPr indent="-190500" lvl="0" marL="342900" rtl="0" algn="just">
              <a:lnSpc>
                <a:spcPct val="100000"/>
              </a:lnSpc>
              <a:spcBef>
                <a:spcPts val="0"/>
              </a:spcBef>
              <a:spcAft>
                <a:spcPts val="0"/>
              </a:spcAft>
              <a:buSzPts val="2595"/>
              <a:buNone/>
            </a:pPr>
            <a:r>
              <a:rPr b="1" lang="en-US" sz="1700">
                <a:latin typeface="Cambria"/>
                <a:ea typeface="Cambria"/>
                <a:cs typeface="Cambria"/>
                <a:sym typeface="Cambria"/>
              </a:rPr>
              <a:t>Category : Software</a:t>
            </a:r>
            <a:endParaRPr sz="1700">
              <a:latin typeface="Cambria"/>
              <a:ea typeface="Cambria"/>
              <a:cs typeface="Cambria"/>
              <a:sym typeface="Cambria"/>
            </a:endParaRPr>
          </a:p>
          <a:p>
            <a:pPr indent="-190500" lvl="0" marL="342900" rtl="0" algn="just">
              <a:lnSpc>
                <a:spcPct val="100000"/>
              </a:lnSpc>
              <a:spcBef>
                <a:spcPts val="0"/>
              </a:spcBef>
              <a:spcAft>
                <a:spcPts val="0"/>
              </a:spcAft>
              <a:buSzPts val="2595"/>
              <a:buNone/>
            </a:pPr>
            <a:r>
              <a:t/>
            </a:r>
            <a:endParaRPr b="1" sz="1700">
              <a:latin typeface="Cambria"/>
              <a:ea typeface="Cambria"/>
              <a:cs typeface="Cambria"/>
              <a:sym typeface="Cambria"/>
            </a:endParaRPr>
          </a:p>
          <a:p>
            <a:pPr indent="-190500" lvl="0" marL="342900" rtl="0" algn="just">
              <a:spcBef>
                <a:spcPts val="0"/>
              </a:spcBef>
              <a:spcAft>
                <a:spcPts val="0"/>
              </a:spcAft>
              <a:buClr>
                <a:schemeClr val="dk1"/>
              </a:buClr>
              <a:buSzPts val="2595"/>
              <a:buFont typeface="Arial"/>
              <a:buNone/>
            </a:pPr>
            <a:r>
              <a:rPr b="1" lang="en-US" sz="1700">
                <a:latin typeface="Cambria"/>
                <a:ea typeface="Cambria"/>
                <a:cs typeface="Cambria"/>
                <a:sym typeface="Cambria"/>
              </a:rPr>
              <a:t>Problem Description: </a:t>
            </a:r>
            <a:endParaRPr b="1" sz="1700">
              <a:latin typeface="Cambria"/>
              <a:ea typeface="Cambria"/>
              <a:cs typeface="Cambria"/>
              <a:sym typeface="Cambria"/>
            </a:endParaRPr>
          </a:p>
          <a:p>
            <a:pPr indent="-190500" lvl="0" marL="342900" rtl="0" algn="just">
              <a:spcBef>
                <a:spcPts val="0"/>
              </a:spcBef>
              <a:spcAft>
                <a:spcPts val="0"/>
              </a:spcAft>
              <a:buClr>
                <a:schemeClr val="dk1"/>
              </a:buClr>
              <a:buSzPts val="2595"/>
              <a:buFont typeface="Arial"/>
              <a:buNone/>
            </a:pPr>
            <a:r>
              <a:t/>
            </a:r>
            <a:endParaRPr b="1" sz="1700">
              <a:latin typeface="Cambria"/>
              <a:ea typeface="Cambria"/>
              <a:cs typeface="Cambria"/>
              <a:sym typeface="Cambria"/>
            </a:endParaRPr>
          </a:p>
          <a:p>
            <a:pPr indent="-190500" lvl="0" marL="342900" rtl="0" algn="just">
              <a:spcBef>
                <a:spcPts val="0"/>
              </a:spcBef>
              <a:spcAft>
                <a:spcPts val="0"/>
              </a:spcAft>
              <a:buClr>
                <a:schemeClr val="dk1"/>
              </a:buClr>
              <a:buSzPts val="2595"/>
              <a:buFont typeface="Arial"/>
              <a:buNone/>
            </a:pPr>
            <a:r>
              <a:rPr lang="en-US" sz="1700">
                <a:solidFill>
                  <a:srgbClr val="212529"/>
                </a:solidFill>
                <a:latin typeface="Cambria"/>
                <a:ea typeface="Cambria"/>
                <a:cs typeface="Cambria"/>
                <a:sym typeface="Cambria"/>
              </a:rPr>
              <a:t>   The draft document soliciting comments is made available for a specified period, during which any stakeholder may submit their observations either on the overall amendment or on specific provisions of the draft legislation. In instances where a substantial volume of comments is received on draft legislation, there exists a risk of certain observations being inadvertently overlooked or inadequately analysed. In order to review each individual submission, leveraging AI-assisted tools will help ensure that all remarks are duly considered and systematically analysed. Requirement is the development of an AI model aimed at predicting the sentiments of the suggestions provided by stakeholders in the eConsultation module. It should also generate a visual representation in the form of a word cloud, highlighting the keywords utilised by the stakeholders within their suggestions.</a:t>
            </a:r>
            <a:endParaRPr sz="1700">
              <a:latin typeface="Cambria"/>
              <a:ea typeface="Cambria"/>
              <a:cs typeface="Cambria"/>
              <a:sym typeface="Cambria"/>
            </a:endParaRPr>
          </a:p>
          <a:p>
            <a:pPr indent="-190500" lvl="0" marL="342900" rtl="0" algn="just">
              <a:lnSpc>
                <a:spcPct val="100000"/>
              </a:lnSpc>
              <a:spcBef>
                <a:spcPts val="0"/>
              </a:spcBef>
              <a:spcAft>
                <a:spcPts val="0"/>
              </a:spcAft>
              <a:buSzPts val="2595"/>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04" name="Google Shape;104;p15"/>
          <p:cNvSpPr txBox="1"/>
          <p:nvPr>
            <p:ph idx="1" type="body"/>
          </p:nvPr>
        </p:nvSpPr>
        <p:spPr>
          <a:xfrm>
            <a:off x="812800" y="889000"/>
            <a:ext cx="11113135" cy="5447030"/>
          </a:xfrm>
          <a:prstGeom prst="rect">
            <a:avLst/>
          </a:prstGeom>
          <a:noFill/>
          <a:ln>
            <a:noFill/>
          </a:ln>
        </p:spPr>
        <p:txBody>
          <a:bodyPr anchorCtr="0" anchor="t" bIns="45700" lIns="91425" spcFirstLastPara="1" rIns="91425" wrap="square" tIns="45700">
            <a:normAutofit/>
          </a:bodyPr>
          <a:lstStyle/>
          <a:p>
            <a:pPr indent="-395816" lvl="0" marL="495300" rtl="0" algn="just">
              <a:lnSpc>
                <a:spcPct val="105000"/>
              </a:lnSpc>
              <a:spcBef>
                <a:spcPts val="0"/>
              </a:spcBef>
              <a:spcAft>
                <a:spcPts val="0"/>
              </a:spcAft>
              <a:buSzPts val="3233"/>
              <a:buFont typeface="Arial"/>
              <a:buChar char="•"/>
            </a:pPr>
            <a:r>
              <a:rPr b="1" lang="en-US" sz="2150">
                <a:latin typeface="Cambria"/>
                <a:ea typeface="Cambria"/>
                <a:cs typeface="Cambria"/>
                <a:sym typeface="Cambria"/>
              </a:rPr>
              <a:t>Problem Statement</a:t>
            </a:r>
            <a:endParaRPr b="1" sz="2150">
              <a:latin typeface="Cambria"/>
              <a:ea typeface="Cambria"/>
              <a:cs typeface="Cambria"/>
              <a:sym typeface="Cambria"/>
            </a:endParaRPr>
          </a:p>
          <a:p>
            <a:pPr indent="-395816" lvl="0" marL="495300" rtl="0" algn="just">
              <a:lnSpc>
                <a:spcPct val="105000"/>
              </a:lnSpc>
              <a:spcBef>
                <a:spcPts val="0"/>
              </a:spcBef>
              <a:spcAft>
                <a:spcPts val="0"/>
              </a:spcAft>
              <a:buSzPts val="3233"/>
              <a:buFont typeface="Arial"/>
              <a:buChar char="•"/>
            </a:pPr>
            <a:r>
              <a:rPr b="1" lang="en-US" sz="2150">
                <a:latin typeface="Cambria"/>
                <a:ea typeface="Cambria"/>
                <a:cs typeface="Cambria"/>
                <a:sym typeface="Cambria"/>
              </a:rPr>
              <a:t>Objectives</a:t>
            </a:r>
            <a:endParaRPr b="1" sz="2150">
              <a:latin typeface="Cambria"/>
              <a:ea typeface="Cambria"/>
              <a:cs typeface="Cambria"/>
              <a:sym typeface="Cambria"/>
            </a:endParaRPr>
          </a:p>
          <a:p>
            <a:pPr indent="-395816" lvl="0" marL="495300" rtl="0" algn="just">
              <a:lnSpc>
                <a:spcPct val="105000"/>
              </a:lnSpc>
              <a:spcBef>
                <a:spcPts val="0"/>
              </a:spcBef>
              <a:spcAft>
                <a:spcPts val="0"/>
              </a:spcAft>
              <a:buSzPts val="3233"/>
              <a:buFont typeface="Arial"/>
              <a:buChar char="•"/>
            </a:pPr>
            <a:r>
              <a:rPr b="1" lang="en-US" sz="2150">
                <a:latin typeface="Cambria"/>
                <a:ea typeface="Cambria"/>
                <a:cs typeface="Cambria"/>
                <a:sym typeface="Cambria"/>
              </a:rPr>
              <a:t>Background and Related Work</a:t>
            </a:r>
            <a:endParaRPr b="1" sz="2150">
              <a:latin typeface="Cambria"/>
              <a:ea typeface="Cambria"/>
              <a:cs typeface="Cambria"/>
              <a:sym typeface="Cambria"/>
            </a:endParaRPr>
          </a:p>
          <a:p>
            <a:pPr indent="-395816" lvl="0" marL="495300" rtl="0" algn="just">
              <a:lnSpc>
                <a:spcPct val="105000"/>
              </a:lnSpc>
              <a:spcBef>
                <a:spcPts val="0"/>
              </a:spcBef>
              <a:spcAft>
                <a:spcPts val="0"/>
              </a:spcAft>
              <a:buSzPts val="3233"/>
              <a:buFont typeface="Arial"/>
              <a:buChar char="•"/>
            </a:pPr>
            <a:r>
              <a:rPr b="1" lang="en-US" sz="2150">
                <a:latin typeface="Cambria"/>
                <a:ea typeface="Cambria"/>
                <a:cs typeface="Cambria"/>
                <a:sym typeface="Cambria"/>
              </a:rPr>
              <a:t>Analysis of Problem Statement</a:t>
            </a:r>
            <a:endParaRPr b="1" sz="2150">
              <a:latin typeface="Cambria"/>
              <a:ea typeface="Cambria"/>
              <a:cs typeface="Cambria"/>
              <a:sym typeface="Cambria"/>
            </a:endParaRPr>
          </a:p>
          <a:p>
            <a:pPr indent="-395816" lvl="0" marL="495300" rtl="0" algn="just">
              <a:lnSpc>
                <a:spcPct val="105000"/>
              </a:lnSpc>
              <a:spcBef>
                <a:spcPts val="0"/>
              </a:spcBef>
              <a:spcAft>
                <a:spcPts val="0"/>
              </a:spcAft>
              <a:buSzPts val="3233"/>
              <a:buFont typeface="Arial"/>
              <a:buChar char="•"/>
            </a:pPr>
            <a:r>
              <a:rPr b="1" lang="en-US" sz="2150">
                <a:latin typeface="Cambria"/>
                <a:ea typeface="Cambria"/>
                <a:cs typeface="Cambria"/>
                <a:sym typeface="Cambria"/>
              </a:rPr>
              <a:t>Proposed Datasets</a:t>
            </a:r>
            <a:endParaRPr b="1" sz="2150">
              <a:latin typeface="Cambria"/>
              <a:ea typeface="Cambria"/>
              <a:cs typeface="Cambria"/>
              <a:sym typeface="Cambria"/>
            </a:endParaRPr>
          </a:p>
          <a:p>
            <a:pPr indent="-395816" lvl="0" marL="495300" rtl="0" algn="just">
              <a:lnSpc>
                <a:spcPct val="105000"/>
              </a:lnSpc>
              <a:spcBef>
                <a:spcPts val="0"/>
              </a:spcBef>
              <a:spcAft>
                <a:spcPts val="0"/>
              </a:spcAft>
              <a:buSzPts val="3233"/>
              <a:buFont typeface="Arial"/>
              <a:buChar char="•"/>
            </a:pPr>
            <a:r>
              <a:rPr b="1" lang="en-US" sz="2150">
                <a:latin typeface="Cambria"/>
                <a:ea typeface="Cambria"/>
                <a:cs typeface="Cambria"/>
                <a:sym typeface="Cambria"/>
              </a:rPr>
              <a:t>Innovation or Novel Contributions</a:t>
            </a:r>
            <a:endParaRPr b="1" sz="2150">
              <a:latin typeface="Cambria"/>
              <a:ea typeface="Cambria"/>
              <a:cs typeface="Cambria"/>
              <a:sym typeface="Cambria"/>
            </a:endParaRPr>
          </a:p>
          <a:p>
            <a:pPr indent="-395816" lvl="0" marL="495300" rtl="0" algn="just">
              <a:lnSpc>
                <a:spcPct val="105000"/>
              </a:lnSpc>
              <a:spcBef>
                <a:spcPts val="0"/>
              </a:spcBef>
              <a:spcAft>
                <a:spcPts val="0"/>
              </a:spcAft>
              <a:buSzPts val="3233"/>
              <a:buFont typeface="Arial"/>
              <a:buChar char="•"/>
            </a:pPr>
            <a:r>
              <a:rPr b="1" lang="en-US" sz="2150">
                <a:latin typeface="Cambria"/>
                <a:ea typeface="Cambria"/>
                <a:cs typeface="Cambria"/>
                <a:sym typeface="Cambria"/>
              </a:rPr>
              <a:t>Technology Stack &amp; Requirements</a:t>
            </a:r>
            <a:endParaRPr b="1" sz="2150">
              <a:latin typeface="Cambria"/>
              <a:ea typeface="Cambria"/>
              <a:cs typeface="Cambria"/>
              <a:sym typeface="Cambria"/>
            </a:endParaRPr>
          </a:p>
          <a:p>
            <a:pPr indent="-395816" lvl="0" marL="495300" rtl="0" algn="just">
              <a:lnSpc>
                <a:spcPct val="105000"/>
              </a:lnSpc>
              <a:spcBef>
                <a:spcPts val="0"/>
              </a:spcBef>
              <a:spcAft>
                <a:spcPts val="0"/>
              </a:spcAft>
              <a:buSzPts val="3233"/>
              <a:buFont typeface="Arial"/>
              <a:buChar char="•"/>
            </a:pPr>
            <a:r>
              <a:rPr b="1" lang="en-US" sz="2150">
                <a:latin typeface="Cambria"/>
                <a:ea typeface="Cambria"/>
                <a:cs typeface="Cambria"/>
                <a:sym typeface="Cambria"/>
              </a:rPr>
              <a:t>Timeline of the Project</a:t>
            </a:r>
            <a:endParaRPr b="1" sz="2150">
              <a:latin typeface="Cambria"/>
              <a:ea typeface="Cambria"/>
              <a:cs typeface="Cambria"/>
              <a:sym typeface="Cambria"/>
            </a:endParaRPr>
          </a:p>
          <a:p>
            <a:pPr indent="-395816" lvl="0" marL="495300" rtl="0" algn="just">
              <a:lnSpc>
                <a:spcPct val="105000"/>
              </a:lnSpc>
              <a:spcBef>
                <a:spcPts val="0"/>
              </a:spcBef>
              <a:spcAft>
                <a:spcPts val="0"/>
              </a:spcAft>
              <a:buSzPts val="3233"/>
              <a:buFont typeface="Arial"/>
              <a:buChar char="•"/>
            </a:pPr>
            <a:r>
              <a:rPr b="1" lang="en-US" sz="2150">
                <a:latin typeface="Cambria"/>
                <a:ea typeface="Cambria"/>
                <a:cs typeface="Cambria"/>
                <a:sym typeface="Cambria"/>
              </a:rPr>
              <a:t>GitHub Link</a:t>
            </a:r>
            <a:endParaRPr b="1" sz="2150">
              <a:latin typeface="Cambria"/>
              <a:ea typeface="Cambria"/>
              <a:cs typeface="Cambria"/>
              <a:sym typeface="Cambria"/>
            </a:endParaRPr>
          </a:p>
          <a:p>
            <a:pPr indent="-395816" lvl="0" marL="495300" rtl="0" algn="just">
              <a:lnSpc>
                <a:spcPct val="105000"/>
              </a:lnSpc>
              <a:spcBef>
                <a:spcPts val="0"/>
              </a:spcBef>
              <a:spcAft>
                <a:spcPts val="0"/>
              </a:spcAft>
              <a:buSzPts val="3233"/>
              <a:buFont typeface="Arial"/>
              <a:buChar char="•"/>
            </a:pPr>
            <a:r>
              <a:rPr b="1" lang="en-US" sz="2150">
                <a:latin typeface="Cambria"/>
                <a:ea typeface="Cambria"/>
                <a:cs typeface="Cambria"/>
                <a:sym typeface="Cambria"/>
              </a:rPr>
              <a:t>References</a:t>
            </a:r>
            <a:endParaRPr b="1" sz="2150">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Problem Statement</a:t>
            </a:r>
            <a:endParaRPr/>
          </a:p>
        </p:txBody>
      </p:sp>
      <p:sp>
        <p:nvSpPr>
          <p:cNvPr id="110" name="Google Shape;110;p16"/>
          <p:cNvSpPr txBox="1"/>
          <p:nvPr>
            <p:ph idx="1" type="body"/>
          </p:nvPr>
        </p:nvSpPr>
        <p:spPr>
          <a:xfrm>
            <a:off x="812800" y="1113751"/>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700">
                <a:latin typeface="Cambria"/>
                <a:ea typeface="Cambria"/>
                <a:cs typeface="Cambria"/>
                <a:sym typeface="Cambria"/>
              </a:rPr>
              <a:t>Public policy e-consultations generate </a:t>
            </a:r>
            <a:r>
              <a:rPr b="1" lang="en-US" sz="1700">
                <a:latin typeface="Cambria"/>
                <a:ea typeface="Cambria"/>
                <a:cs typeface="Cambria"/>
                <a:sym typeface="Cambria"/>
              </a:rPr>
              <a:t>large volumes of unstructured feedback</a:t>
            </a:r>
            <a:r>
              <a:rPr lang="en-US" sz="1700">
                <a:latin typeface="Cambria"/>
                <a:ea typeface="Cambria"/>
                <a:cs typeface="Cambria"/>
                <a:sym typeface="Cambria"/>
              </a:rPr>
              <a:t> that are infeasible to review manually. For example, the Ministry of Corporate Affairs (MCA) reported ~20,000 submitted comments (many duplicate), which took over a month to process by hand. Manual methods struggle to extract insights from thousands or millions of comments, risking missed issues or biases. Automating sentiment analysis is needed to scale review and highlight critical opinions. The U.S. Chief Data Officers Council notes that NLP tools are now required to help agencies sift through </a:t>
            </a:r>
            <a:r>
              <a:rPr i="1" lang="en-US" sz="1700">
                <a:latin typeface="Cambria"/>
                <a:ea typeface="Cambria"/>
                <a:cs typeface="Cambria"/>
                <a:sym typeface="Cambria"/>
              </a:rPr>
              <a:t>millions of public comments</a:t>
            </a:r>
            <a:r>
              <a:rPr lang="en-US" sz="1700">
                <a:latin typeface="Cambria"/>
                <a:ea typeface="Cambria"/>
                <a:cs typeface="Cambria"/>
                <a:sym typeface="Cambria"/>
              </a:rPr>
              <a:t> each year.</a:t>
            </a:r>
            <a:endParaRPr sz="1700">
              <a:latin typeface="Cambria"/>
              <a:ea typeface="Cambria"/>
              <a:cs typeface="Cambria"/>
              <a:sym typeface="Cambria"/>
            </a:endParaRPr>
          </a:p>
          <a:p>
            <a:pPr indent="-336550" lvl="0" marL="457200" rtl="0" algn="l">
              <a:lnSpc>
                <a:spcPct val="115000"/>
              </a:lnSpc>
              <a:spcBef>
                <a:spcPts val="1200"/>
              </a:spcBef>
              <a:spcAft>
                <a:spcPts val="0"/>
              </a:spcAft>
              <a:buSzPts val="1700"/>
              <a:buChar char="●"/>
            </a:pPr>
            <a:r>
              <a:rPr b="1" lang="en-US" sz="1700">
                <a:latin typeface="Cambria"/>
                <a:ea typeface="Cambria"/>
                <a:cs typeface="Cambria"/>
                <a:sym typeface="Cambria"/>
              </a:rPr>
              <a:t>Volume:</a:t>
            </a:r>
            <a:r>
              <a:rPr lang="en-US" sz="1700">
                <a:latin typeface="Cambria"/>
                <a:ea typeface="Cambria"/>
                <a:cs typeface="Cambria"/>
                <a:sym typeface="Cambria"/>
              </a:rPr>
              <a:t> E-consultation portals can yield tens of thousands of comments per draft.</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Manual Bottleneck:</a:t>
            </a:r>
            <a:r>
              <a:rPr lang="en-US" sz="1700">
                <a:latin typeface="Cambria"/>
                <a:ea typeface="Cambria"/>
                <a:cs typeface="Cambria"/>
                <a:sym typeface="Cambria"/>
              </a:rPr>
              <a:t> Human review is slow (e.g. 20K comments took ≈1 month, versus days with AI).</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Insight Loss:</a:t>
            </a:r>
            <a:r>
              <a:rPr lang="en-US" sz="1700">
                <a:latin typeface="Cambria"/>
                <a:ea typeface="Cambria"/>
                <a:cs typeface="Cambria"/>
                <a:sym typeface="Cambria"/>
              </a:rPr>
              <a:t> Key concerns and emerging issues often get buried in the noise.</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Duplicate/Spam:</a:t>
            </a:r>
            <a:r>
              <a:rPr lang="en-US" sz="1700">
                <a:latin typeface="Cambria"/>
                <a:ea typeface="Cambria"/>
                <a:cs typeface="Cambria"/>
                <a:sym typeface="Cambria"/>
              </a:rPr>
              <a:t> Identical “copy-paste” comments can flood the dataset (MCA faced 20,000 duplicates).</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Need for Timeliness:</a:t>
            </a:r>
            <a:r>
              <a:rPr lang="en-US" sz="1700">
                <a:latin typeface="Cambria"/>
                <a:ea typeface="Cambria"/>
                <a:cs typeface="Cambria"/>
                <a:sym typeface="Cambria"/>
              </a:rPr>
              <a:t> Policymakers require rapid turnaround (days instead of months) to incorporate feedback.</a:t>
            </a:r>
            <a:endParaRPr sz="1700">
              <a:latin typeface="Cambria"/>
              <a:ea typeface="Cambria"/>
              <a:cs typeface="Cambria"/>
              <a:sym typeface="Cambria"/>
            </a:endParaRPr>
          </a:p>
          <a:p>
            <a:pPr indent="0" lvl="0" marL="76200" rtl="0" algn="l">
              <a:lnSpc>
                <a:spcPct val="100000"/>
              </a:lnSpc>
              <a:spcBef>
                <a:spcPts val="1200"/>
              </a:spcBef>
              <a:spcAft>
                <a:spcPts val="0"/>
              </a:spcAft>
              <a:buSzPts val="2400"/>
              <a:buNone/>
            </a:pPr>
            <a:r>
              <a:t/>
            </a:r>
            <a:endParaRPr sz="17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Objectives</a:t>
            </a:r>
            <a:endParaRPr/>
          </a:p>
        </p:txBody>
      </p:sp>
      <p:sp>
        <p:nvSpPr>
          <p:cNvPr id="116" name="Google Shape;116;p17"/>
          <p:cNvSpPr txBox="1"/>
          <p:nvPr>
            <p:ph idx="1" type="body"/>
          </p:nvPr>
        </p:nvSpPr>
        <p:spPr>
          <a:xfrm>
            <a:off x="812800" y="691675"/>
            <a:ext cx="10668000" cy="4981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t/>
            </a:r>
            <a:endParaRPr b="1" sz="1700">
              <a:latin typeface="Calibri"/>
              <a:ea typeface="Calibri"/>
              <a:cs typeface="Calibri"/>
              <a:sym typeface="Calibri"/>
            </a:endParaRPr>
          </a:p>
          <a:p>
            <a:pPr indent="-330200" lvl="0" marL="457200" rtl="0" algn="l">
              <a:lnSpc>
                <a:spcPct val="115000"/>
              </a:lnSpc>
              <a:spcBef>
                <a:spcPts val="1200"/>
              </a:spcBef>
              <a:spcAft>
                <a:spcPts val="0"/>
              </a:spcAft>
              <a:buSzPts val="1600"/>
              <a:buChar char="●"/>
            </a:pPr>
            <a:r>
              <a:rPr b="1" lang="en-US" sz="1600">
                <a:latin typeface="Cambria"/>
                <a:ea typeface="Cambria"/>
                <a:cs typeface="Cambria"/>
                <a:sym typeface="Cambria"/>
              </a:rPr>
              <a:t>Automated Sentiment Classification:</a:t>
            </a:r>
            <a:r>
              <a:rPr lang="en-US" sz="1600">
                <a:latin typeface="Cambria"/>
                <a:ea typeface="Cambria"/>
                <a:cs typeface="Cambria"/>
                <a:sym typeface="Cambria"/>
              </a:rPr>
              <a:t> Categorize each comment’s tone (positive/negative/neutral) to gauge public reaction.</a:t>
            </a:r>
            <a:br>
              <a:rPr lang="en-US" sz="1600">
                <a:latin typeface="Cambria"/>
                <a:ea typeface="Cambria"/>
                <a:cs typeface="Cambria"/>
                <a:sym typeface="Cambria"/>
              </a:rPr>
            </a:br>
            <a:endParaRPr sz="1600">
              <a:latin typeface="Cambria"/>
              <a:ea typeface="Cambria"/>
              <a:cs typeface="Cambria"/>
              <a:sym typeface="Cambria"/>
            </a:endParaRPr>
          </a:p>
          <a:p>
            <a:pPr indent="-330200" lvl="0" marL="457200" rtl="0" algn="l">
              <a:lnSpc>
                <a:spcPct val="115000"/>
              </a:lnSpc>
              <a:spcBef>
                <a:spcPts val="0"/>
              </a:spcBef>
              <a:spcAft>
                <a:spcPts val="0"/>
              </a:spcAft>
              <a:buSzPts val="1600"/>
              <a:buChar char="●"/>
            </a:pPr>
            <a:r>
              <a:rPr b="1" lang="en-US" sz="1600">
                <a:latin typeface="Cambria"/>
                <a:ea typeface="Cambria"/>
                <a:cs typeface="Cambria"/>
                <a:sym typeface="Cambria"/>
              </a:rPr>
              <a:t>Theme Extraction:</a:t>
            </a:r>
            <a:r>
              <a:rPr lang="en-US" sz="1600">
                <a:latin typeface="Cambria"/>
                <a:ea typeface="Cambria"/>
                <a:cs typeface="Cambria"/>
                <a:sym typeface="Cambria"/>
              </a:rPr>
              <a:t> Identify frequently discussed topics and keywords (via topic modeling or keyword extraction).</a:t>
            </a:r>
            <a:br>
              <a:rPr lang="en-US" sz="1600">
                <a:latin typeface="Cambria"/>
                <a:ea typeface="Cambria"/>
                <a:cs typeface="Cambria"/>
                <a:sym typeface="Cambria"/>
              </a:rPr>
            </a:br>
            <a:endParaRPr sz="1600">
              <a:latin typeface="Cambria"/>
              <a:ea typeface="Cambria"/>
              <a:cs typeface="Cambria"/>
              <a:sym typeface="Cambria"/>
            </a:endParaRPr>
          </a:p>
          <a:p>
            <a:pPr indent="-330200" lvl="0" marL="457200" rtl="0" algn="l">
              <a:lnSpc>
                <a:spcPct val="115000"/>
              </a:lnSpc>
              <a:spcBef>
                <a:spcPts val="0"/>
              </a:spcBef>
              <a:spcAft>
                <a:spcPts val="0"/>
              </a:spcAft>
              <a:buSzPts val="1600"/>
              <a:buChar char="●"/>
            </a:pPr>
            <a:r>
              <a:rPr b="1" lang="en-US" sz="1600">
                <a:latin typeface="Cambria"/>
                <a:ea typeface="Cambria"/>
                <a:cs typeface="Cambria"/>
                <a:sym typeface="Cambria"/>
              </a:rPr>
              <a:t>Summarization:</a:t>
            </a:r>
            <a:r>
              <a:rPr lang="en-US" sz="1600">
                <a:latin typeface="Cambria"/>
                <a:ea typeface="Cambria"/>
                <a:cs typeface="Cambria"/>
                <a:sym typeface="Cambria"/>
              </a:rPr>
              <a:t> Generate concise summaries of the feedback to highlight main concerns and suggestions.</a:t>
            </a:r>
            <a:br>
              <a:rPr lang="en-US" sz="1600">
                <a:latin typeface="Cambria"/>
                <a:ea typeface="Cambria"/>
                <a:cs typeface="Cambria"/>
                <a:sym typeface="Cambria"/>
              </a:rPr>
            </a:br>
            <a:endParaRPr sz="1600">
              <a:latin typeface="Cambria"/>
              <a:ea typeface="Cambria"/>
              <a:cs typeface="Cambria"/>
              <a:sym typeface="Cambria"/>
            </a:endParaRPr>
          </a:p>
          <a:p>
            <a:pPr indent="-330200" lvl="0" marL="457200" rtl="0" algn="l">
              <a:lnSpc>
                <a:spcPct val="115000"/>
              </a:lnSpc>
              <a:spcBef>
                <a:spcPts val="0"/>
              </a:spcBef>
              <a:spcAft>
                <a:spcPts val="0"/>
              </a:spcAft>
              <a:buSzPts val="1600"/>
              <a:buChar char="●"/>
            </a:pPr>
            <a:r>
              <a:rPr b="1" lang="en-US" sz="1600">
                <a:latin typeface="Cambria"/>
                <a:ea typeface="Cambria"/>
                <a:cs typeface="Cambria"/>
                <a:sym typeface="Cambria"/>
              </a:rPr>
              <a:t>Duplication Detection:</a:t>
            </a:r>
            <a:r>
              <a:rPr lang="en-US" sz="1600">
                <a:latin typeface="Cambria"/>
                <a:ea typeface="Cambria"/>
                <a:cs typeface="Cambria"/>
                <a:sym typeface="Cambria"/>
              </a:rPr>
              <a:t> Find and cluster similar/identical comments to avoid redundant analysis.</a:t>
            </a:r>
            <a:br>
              <a:rPr lang="en-US" sz="1600">
                <a:latin typeface="Cambria"/>
                <a:ea typeface="Cambria"/>
                <a:cs typeface="Cambria"/>
                <a:sym typeface="Cambria"/>
              </a:rPr>
            </a:br>
            <a:endParaRPr sz="1600">
              <a:latin typeface="Cambria"/>
              <a:ea typeface="Cambria"/>
              <a:cs typeface="Cambria"/>
              <a:sym typeface="Cambria"/>
            </a:endParaRPr>
          </a:p>
          <a:p>
            <a:pPr indent="-330200" lvl="0" marL="457200" rtl="0" algn="l">
              <a:lnSpc>
                <a:spcPct val="115000"/>
              </a:lnSpc>
              <a:spcBef>
                <a:spcPts val="0"/>
              </a:spcBef>
              <a:spcAft>
                <a:spcPts val="0"/>
              </a:spcAft>
              <a:buSzPts val="1600"/>
              <a:buChar char="●"/>
            </a:pPr>
            <a:r>
              <a:rPr b="1" lang="en-US" sz="1600">
                <a:latin typeface="Cambria"/>
                <a:ea typeface="Cambria"/>
                <a:cs typeface="Cambria"/>
                <a:sym typeface="Cambria"/>
              </a:rPr>
              <a:t>Visualization:</a:t>
            </a:r>
            <a:r>
              <a:rPr lang="en-US" sz="1600">
                <a:latin typeface="Cambria"/>
                <a:ea typeface="Cambria"/>
                <a:cs typeface="Cambria"/>
                <a:sym typeface="Cambria"/>
              </a:rPr>
              <a:t> Present results through intuitive charts and word clouds (e.g. word clouds for positive/negative terms).</a:t>
            </a:r>
            <a:br>
              <a:rPr lang="en-US" sz="1600">
                <a:latin typeface="Cambria"/>
                <a:ea typeface="Cambria"/>
                <a:cs typeface="Cambria"/>
                <a:sym typeface="Cambria"/>
              </a:rPr>
            </a:br>
            <a:endParaRPr sz="1600">
              <a:latin typeface="Cambria"/>
              <a:ea typeface="Cambria"/>
              <a:cs typeface="Cambria"/>
              <a:sym typeface="Cambria"/>
            </a:endParaRPr>
          </a:p>
          <a:p>
            <a:pPr indent="-330200" lvl="0" marL="457200" rtl="0" algn="l">
              <a:lnSpc>
                <a:spcPct val="115000"/>
              </a:lnSpc>
              <a:spcBef>
                <a:spcPts val="0"/>
              </a:spcBef>
              <a:spcAft>
                <a:spcPts val="0"/>
              </a:spcAft>
              <a:buSzPts val="1600"/>
              <a:buChar char="●"/>
            </a:pPr>
            <a:r>
              <a:rPr b="1" lang="en-US" sz="1600">
                <a:latin typeface="Cambria"/>
                <a:ea typeface="Cambria"/>
                <a:cs typeface="Cambria"/>
                <a:sym typeface="Cambria"/>
              </a:rPr>
              <a:t>Dashboard Reporting:</a:t>
            </a:r>
            <a:r>
              <a:rPr lang="en-US" sz="1600">
                <a:latin typeface="Cambria"/>
                <a:ea typeface="Cambria"/>
                <a:cs typeface="Cambria"/>
                <a:sym typeface="Cambria"/>
              </a:rPr>
              <a:t> Deliver an interactive dashboard with sentiment distributions and drill-downs (per policy section or stakeholder group).</a:t>
            </a:r>
            <a:br>
              <a:rPr lang="en-US" sz="1600">
                <a:latin typeface="Cambria"/>
                <a:ea typeface="Cambria"/>
                <a:cs typeface="Cambria"/>
                <a:sym typeface="Cambria"/>
              </a:rPr>
            </a:br>
            <a:endParaRPr sz="1600">
              <a:latin typeface="Cambria"/>
              <a:ea typeface="Cambria"/>
              <a:cs typeface="Cambria"/>
              <a:sym typeface="Cambria"/>
            </a:endParaRPr>
          </a:p>
          <a:p>
            <a:pPr indent="0" lvl="0" marL="76200" rtl="0" algn="l">
              <a:lnSpc>
                <a:spcPct val="100000"/>
              </a:lnSpc>
              <a:spcBef>
                <a:spcPts val="1200"/>
              </a:spcBef>
              <a:spcAft>
                <a:spcPts val="0"/>
              </a:spcAft>
              <a:buSzPts val="2400"/>
              <a:buNone/>
            </a:pPr>
            <a:r>
              <a:t/>
            </a:r>
            <a:endParaRPr sz="17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Background &amp; Related Work</a:t>
            </a:r>
            <a:endParaRPr/>
          </a:p>
        </p:txBody>
      </p:sp>
      <p:sp>
        <p:nvSpPr>
          <p:cNvPr id="122" name="Google Shape;122;p18"/>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700">
                <a:latin typeface="Cambria"/>
                <a:ea typeface="Cambria"/>
                <a:cs typeface="Cambria"/>
                <a:sym typeface="Cambria"/>
              </a:rPr>
              <a:t>Government e-consultation platforms allow citizens and stakeholders to submit feedback on draft policies and legislations. While this improves transparency and participation, it also results in </a:t>
            </a:r>
            <a:r>
              <a:rPr b="1" lang="en-US" sz="1700">
                <a:latin typeface="Cambria"/>
                <a:ea typeface="Cambria"/>
                <a:cs typeface="Cambria"/>
                <a:sym typeface="Cambria"/>
              </a:rPr>
              <a:t>large volumes of unstructured textual data</a:t>
            </a:r>
            <a:r>
              <a:rPr lang="en-US" sz="1700">
                <a:latin typeface="Cambria"/>
                <a:ea typeface="Cambria"/>
                <a:cs typeface="Cambria"/>
                <a:sym typeface="Cambria"/>
              </a:rPr>
              <a:t>, making manual analysis time-consuming and error-prone.</a:t>
            </a:r>
            <a:endParaRPr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lang="en-US" sz="1700">
                <a:latin typeface="Cambria"/>
                <a:ea typeface="Cambria"/>
                <a:cs typeface="Cambria"/>
                <a:sym typeface="Cambria"/>
              </a:rPr>
              <a:t>Globally, governments have started adopting </a:t>
            </a:r>
            <a:r>
              <a:rPr b="1" lang="en-US" sz="1700">
                <a:latin typeface="Cambria"/>
                <a:ea typeface="Cambria"/>
                <a:cs typeface="Cambria"/>
                <a:sym typeface="Cambria"/>
              </a:rPr>
              <a:t>Natural Language Processing (NLP)</a:t>
            </a:r>
            <a:r>
              <a:rPr lang="en-US" sz="1700">
                <a:latin typeface="Cambria"/>
                <a:ea typeface="Cambria"/>
                <a:cs typeface="Cambria"/>
                <a:sym typeface="Cambria"/>
              </a:rPr>
              <a:t> techniques to analyze public feedback. NLP has been used for sentiment classification, topic extraction, and summarization to assist policymakers in understanding public opinion efficiently. Prior studies and implementations show that automated sentiment analysis significantly reduces analysis time while improving consistency and coverage.</a:t>
            </a:r>
            <a:endParaRPr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lang="en-US" sz="1700">
                <a:latin typeface="Cambria"/>
                <a:ea typeface="Cambria"/>
                <a:cs typeface="Cambria"/>
                <a:sym typeface="Cambria"/>
              </a:rPr>
              <a:t>However, most existing solutions focus on </a:t>
            </a:r>
            <a:r>
              <a:rPr b="1" lang="en-US" sz="1700">
                <a:latin typeface="Cambria"/>
                <a:ea typeface="Cambria"/>
                <a:cs typeface="Cambria"/>
                <a:sym typeface="Cambria"/>
              </a:rPr>
              <a:t>only sentiment classification</a:t>
            </a:r>
            <a:r>
              <a:rPr lang="en-US" sz="1700">
                <a:latin typeface="Cambria"/>
                <a:ea typeface="Cambria"/>
                <a:cs typeface="Cambria"/>
                <a:sym typeface="Cambria"/>
              </a:rPr>
              <a:t> and lack an integrated approach that combines </a:t>
            </a:r>
            <a:r>
              <a:rPr b="1" lang="en-US" sz="1700">
                <a:latin typeface="Cambria"/>
                <a:ea typeface="Cambria"/>
                <a:cs typeface="Cambria"/>
                <a:sym typeface="Cambria"/>
              </a:rPr>
              <a:t>sentiment analysis, summarization, and visual insights</a:t>
            </a:r>
            <a:r>
              <a:rPr lang="en-US" sz="1700">
                <a:latin typeface="Cambria"/>
                <a:ea typeface="Cambria"/>
                <a:cs typeface="Cambria"/>
                <a:sym typeface="Cambria"/>
              </a:rPr>
              <a:t> in a single system. This creates an opportunity for a more comprehensive AI-assisted solution.</a:t>
            </a:r>
            <a:endParaRPr sz="1700">
              <a:latin typeface="Cambria"/>
              <a:ea typeface="Cambria"/>
              <a:cs typeface="Cambria"/>
              <a:sym typeface="Cambria"/>
            </a:endParaRPr>
          </a:p>
          <a:p>
            <a:pPr indent="0" lvl="0" marL="76200" rtl="0" algn="l">
              <a:lnSpc>
                <a:spcPct val="100000"/>
              </a:lnSpc>
              <a:spcBef>
                <a:spcPts val="1200"/>
              </a:spcBef>
              <a:spcAft>
                <a:spcPts val="0"/>
              </a:spcAft>
              <a:buSzPts val="2400"/>
              <a:buNone/>
            </a:pPr>
            <a:r>
              <a:t/>
            </a:r>
            <a:endParaRPr sz="17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Analysis of Problem Statement</a:t>
            </a:r>
            <a:endParaRPr/>
          </a:p>
        </p:txBody>
      </p:sp>
      <p:sp>
        <p:nvSpPr>
          <p:cNvPr id="128" name="Google Shape;128;p19"/>
          <p:cNvSpPr txBox="1"/>
          <p:nvPr>
            <p:ph idx="1" type="body"/>
          </p:nvPr>
        </p:nvSpPr>
        <p:spPr>
          <a:xfrm>
            <a:off x="812800" y="952501"/>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Cambria"/>
                <a:ea typeface="Cambria"/>
                <a:cs typeface="Cambria"/>
                <a:sym typeface="Cambria"/>
              </a:rPr>
              <a:t>Analysis of Problem Statement</a:t>
            </a:r>
            <a:endParaRPr b="1" sz="1700">
              <a:latin typeface="Cambria"/>
              <a:ea typeface="Cambria"/>
              <a:cs typeface="Cambria"/>
              <a:sym typeface="Cambria"/>
            </a:endParaRPr>
          </a:p>
          <a:p>
            <a:pPr indent="-336550" lvl="0" marL="457200" rtl="0" algn="l">
              <a:lnSpc>
                <a:spcPct val="115000"/>
              </a:lnSpc>
              <a:spcBef>
                <a:spcPts val="1200"/>
              </a:spcBef>
              <a:spcAft>
                <a:spcPts val="0"/>
              </a:spcAft>
              <a:buSzPts val="1700"/>
              <a:buChar char="●"/>
            </a:pPr>
            <a:r>
              <a:rPr b="1" lang="en-US" sz="1700">
                <a:latin typeface="Cambria"/>
                <a:ea typeface="Cambria"/>
                <a:cs typeface="Cambria"/>
                <a:sym typeface="Cambria"/>
              </a:rPr>
              <a:t>Scale:</a:t>
            </a:r>
            <a:r>
              <a:rPr lang="en-US" sz="1700">
                <a:latin typeface="Cambria"/>
                <a:ea typeface="Cambria"/>
                <a:cs typeface="Cambria"/>
                <a:sym typeface="Cambria"/>
              </a:rPr>
              <a:t> The number of comments can range from hundreds (small consultations) to tens of thousands or more (nationwide policy). Processing such volume manually is impractical.</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Granularity Needed:</a:t>
            </a:r>
            <a:r>
              <a:rPr lang="en-US" sz="1700">
                <a:latin typeface="Cambria"/>
                <a:ea typeface="Cambria"/>
                <a:cs typeface="Cambria"/>
                <a:sym typeface="Cambria"/>
              </a:rPr>
              <a:t> Stakeholder feedback often spans multiple topics. For example, citizens might comment on distinct sections of a draft law; thus analysis must operate at multiple levels (overall sentiment </a:t>
            </a:r>
            <a:r>
              <a:rPr i="1" lang="en-US" sz="1700">
                <a:latin typeface="Cambria"/>
                <a:ea typeface="Cambria"/>
                <a:cs typeface="Cambria"/>
                <a:sym typeface="Cambria"/>
              </a:rPr>
              <a:t>and</a:t>
            </a:r>
            <a:r>
              <a:rPr lang="en-US" sz="1700">
                <a:latin typeface="Cambria"/>
                <a:ea typeface="Cambria"/>
                <a:cs typeface="Cambria"/>
                <a:sym typeface="Cambria"/>
              </a:rPr>
              <a:t> per-section/topic).</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Text Variability:</a:t>
            </a:r>
            <a:r>
              <a:rPr lang="en-US" sz="1700">
                <a:latin typeface="Cambria"/>
                <a:ea typeface="Cambria"/>
                <a:cs typeface="Cambria"/>
                <a:sym typeface="Cambria"/>
              </a:rPr>
              <a:t> Comments are free-form, vary in length/style, and may include technical or legal language. NLP preprocessing (tokenization, removing stopwords, handling misspellings) is crucial.</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Noise and Duplicates:</a:t>
            </a:r>
            <a:r>
              <a:rPr lang="en-US" sz="1700">
                <a:latin typeface="Cambria"/>
                <a:ea typeface="Cambria"/>
                <a:cs typeface="Cambria"/>
                <a:sym typeface="Cambria"/>
              </a:rPr>
              <a:t> Copy-pasted comments or bots can skew sentiment. The system must identify and deduplicate these (MCA faced 20K identical comments).</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Timeliness:</a:t>
            </a:r>
            <a:r>
              <a:rPr lang="en-US" sz="1700">
                <a:latin typeface="Cambria"/>
                <a:ea typeface="Cambria"/>
                <a:cs typeface="Cambria"/>
                <a:sym typeface="Cambria"/>
              </a:rPr>
              <a:t> Outputs must be delivered rapidly. Automated pipelines (versus manual review) can reduce turnaround from weeks to days.</a:t>
            </a:r>
            <a:endParaRPr sz="1700">
              <a:latin typeface="Cambria"/>
              <a:ea typeface="Cambria"/>
              <a:cs typeface="Cambria"/>
              <a:sym typeface="Cambria"/>
            </a:endParaRPr>
          </a:p>
          <a:p>
            <a:pPr indent="0" lvl="0" marL="76200" rtl="0" algn="l">
              <a:lnSpc>
                <a:spcPct val="100000"/>
              </a:lnSpc>
              <a:spcBef>
                <a:spcPts val="1200"/>
              </a:spcBef>
              <a:spcAft>
                <a:spcPts val="0"/>
              </a:spcAft>
              <a:buSzPts val="2400"/>
              <a:buNone/>
            </a:pPr>
            <a:r>
              <a:t/>
            </a:r>
            <a:endParaRPr sz="17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Proposed Datasets</a:t>
            </a:r>
            <a:endParaRPr/>
          </a:p>
        </p:txBody>
      </p:sp>
      <p:sp>
        <p:nvSpPr>
          <p:cNvPr id="134" name="Google Shape;134;p20"/>
          <p:cNvSpPr txBox="1"/>
          <p:nvPr>
            <p:ph idx="1" type="body"/>
          </p:nvPr>
        </p:nvSpPr>
        <p:spPr>
          <a:xfrm>
            <a:off x="812800" y="1019175"/>
            <a:ext cx="10668000" cy="4689475"/>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sz="1700">
                <a:latin typeface="Cambria"/>
                <a:ea typeface="Cambria"/>
                <a:cs typeface="Cambria"/>
                <a:sym typeface="Cambria"/>
              </a:rPr>
              <a:t>Since real e-Consultation data is not publicly available, the model will be developed and tested using </a:t>
            </a:r>
            <a:r>
              <a:rPr b="1" lang="en-US" sz="1700">
                <a:latin typeface="Cambria"/>
                <a:ea typeface="Cambria"/>
                <a:cs typeface="Cambria"/>
                <a:sym typeface="Cambria"/>
              </a:rPr>
              <a:t>publicly available datasets that closely resemble policy feedback</a:t>
            </a:r>
            <a:r>
              <a:rPr lang="en-US" sz="1700">
                <a:latin typeface="Cambria"/>
                <a:ea typeface="Cambria"/>
                <a:cs typeface="Cambria"/>
                <a:sym typeface="Cambria"/>
              </a:rPr>
              <a:t>, such as:</a:t>
            </a:r>
            <a:endParaRPr sz="1700">
              <a:latin typeface="Cambria"/>
              <a:ea typeface="Cambria"/>
              <a:cs typeface="Cambria"/>
              <a:sym typeface="Cambria"/>
            </a:endParaRPr>
          </a:p>
          <a:p>
            <a:pPr indent="-336550" lvl="0" marL="457200" rtl="0" algn="l">
              <a:lnSpc>
                <a:spcPct val="115000"/>
              </a:lnSpc>
              <a:spcBef>
                <a:spcPts val="1200"/>
              </a:spcBef>
              <a:spcAft>
                <a:spcPts val="0"/>
              </a:spcAft>
              <a:buSzPts val="1700"/>
              <a:buChar char="●"/>
            </a:pPr>
            <a:r>
              <a:rPr b="1" lang="en-US" sz="1700">
                <a:latin typeface="Cambria"/>
                <a:ea typeface="Cambria"/>
                <a:cs typeface="Cambria"/>
                <a:sym typeface="Cambria"/>
              </a:rPr>
              <a:t>Government public consultation datasets</a:t>
            </a:r>
            <a:r>
              <a:rPr lang="en-US" sz="1700">
                <a:latin typeface="Cambria"/>
                <a:ea typeface="Cambria"/>
                <a:cs typeface="Cambria"/>
                <a:sym typeface="Cambria"/>
              </a:rPr>
              <a:t> (e.g., regulatory or policy feedback from open data portals)</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Regulations and policy comment datasets</a:t>
            </a:r>
            <a:r>
              <a:rPr lang="en-US" sz="1700">
                <a:latin typeface="Cambria"/>
                <a:ea typeface="Cambria"/>
                <a:cs typeface="Cambria"/>
                <a:sym typeface="Cambria"/>
              </a:rPr>
              <a:t> available on platforms like Hugging Face and Zenodo</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Public opinion and feedback datasets</a:t>
            </a:r>
            <a:r>
              <a:rPr lang="en-US" sz="1700">
                <a:latin typeface="Cambria"/>
                <a:ea typeface="Cambria"/>
                <a:cs typeface="Cambria"/>
                <a:sym typeface="Cambria"/>
              </a:rPr>
              <a:t> containing long-form textual responses</a:t>
            </a:r>
            <a:br>
              <a:rPr lang="en-US" sz="1700">
                <a:latin typeface="Cambria"/>
                <a:ea typeface="Cambria"/>
                <a:cs typeface="Cambria"/>
                <a:sym typeface="Cambria"/>
              </a:rPr>
            </a:br>
            <a:endParaRPr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lang="en-US" sz="1700">
                <a:latin typeface="Cambria"/>
                <a:ea typeface="Cambria"/>
                <a:cs typeface="Cambria"/>
                <a:sym typeface="Cambria"/>
              </a:rPr>
              <a:t>These datasets provide realistic stakeholder feedback patterns and are suitable for training and evaluating sentiment analysis, summarization, and keyword extraction models.</a:t>
            </a:r>
            <a:endParaRPr sz="1700">
              <a:latin typeface="Cambria"/>
              <a:ea typeface="Cambria"/>
              <a:cs typeface="Cambria"/>
              <a:sym typeface="Cambria"/>
            </a:endParaRPr>
          </a:p>
          <a:p>
            <a:pPr indent="0" lvl="0" marL="76200" rtl="0" algn="l">
              <a:lnSpc>
                <a:spcPct val="100000"/>
              </a:lnSpc>
              <a:spcBef>
                <a:spcPts val="1200"/>
              </a:spcBef>
              <a:spcAft>
                <a:spcPts val="0"/>
              </a:spcAft>
              <a:buSzPts val="3429"/>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Innovation / Novel Contribution</a:t>
            </a:r>
            <a:endParaRPr/>
          </a:p>
        </p:txBody>
      </p:sp>
      <p:sp>
        <p:nvSpPr>
          <p:cNvPr id="140" name="Google Shape;140;p2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Cambria"/>
                <a:ea typeface="Cambria"/>
                <a:cs typeface="Cambria"/>
                <a:sym typeface="Cambria"/>
              </a:rPr>
              <a:t>Innovation / Novel Contributions </a:t>
            </a:r>
            <a:endParaRPr b="1" sz="1700">
              <a:latin typeface="Cambria"/>
              <a:ea typeface="Cambria"/>
              <a:cs typeface="Cambria"/>
              <a:sym typeface="Cambria"/>
            </a:endParaRPr>
          </a:p>
          <a:p>
            <a:pPr indent="-336550" lvl="0" marL="457200" rtl="0" algn="l">
              <a:lnSpc>
                <a:spcPct val="115000"/>
              </a:lnSpc>
              <a:spcBef>
                <a:spcPts val="1200"/>
              </a:spcBef>
              <a:spcAft>
                <a:spcPts val="0"/>
              </a:spcAft>
              <a:buSzPts val="1700"/>
              <a:buChar char="●"/>
            </a:pPr>
            <a:r>
              <a:rPr b="1" lang="en-US" sz="1700">
                <a:latin typeface="Cambria"/>
                <a:ea typeface="Cambria"/>
                <a:cs typeface="Cambria"/>
                <a:sym typeface="Cambria"/>
              </a:rPr>
              <a:t>Integrated Analysis Pipeline:</a:t>
            </a:r>
            <a:r>
              <a:rPr lang="en-US" sz="1700">
                <a:latin typeface="Cambria"/>
                <a:ea typeface="Cambria"/>
                <a:cs typeface="Cambria"/>
                <a:sym typeface="Cambria"/>
              </a:rPr>
              <a:t> Combines sentiment analysis, summary generation, and word cloud visualization in one unified system.</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Dashboard: </a:t>
            </a:r>
            <a:r>
              <a:rPr lang="en-US" sz="1700">
                <a:latin typeface="Cambria"/>
                <a:ea typeface="Cambria"/>
                <a:cs typeface="Cambria"/>
                <a:sym typeface="Cambria"/>
              </a:rPr>
              <a:t> with complete Insight , and grasping KPI’S and visuals</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Multi-level Insight:</a:t>
            </a:r>
            <a:r>
              <a:rPr lang="en-US" sz="1700">
                <a:latin typeface="Cambria"/>
                <a:ea typeface="Cambria"/>
                <a:cs typeface="Cambria"/>
                <a:sym typeface="Cambria"/>
              </a:rPr>
              <a:t> Provides sentiment analysis at both individual comment level and overall consultation level.</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Automated Summarization:</a:t>
            </a:r>
            <a:r>
              <a:rPr lang="en-US" sz="1700">
                <a:latin typeface="Cambria"/>
                <a:ea typeface="Cambria"/>
                <a:cs typeface="Cambria"/>
                <a:sym typeface="Cambria"/>
              </a:rPr>
              <a:t> Generates concise summaries that preserve the intent of stakeholder feedback.</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Visual Decision Support:</a:t>
            </a:r>
            <a:r>
              <a:rPr lang="en-US" sz="1700">
                <a:latin typeface="Cambria"/>
                <a:ea typeface="Cambria"/>
                <a:cs typeface="Cambria"/>
                <a:sym typeface="Cambria"/>
              </a:rPr>
              <a:t> Uses word clouds to quickly identify dominant themes and frequently discussed terms.</a:t>
            </a:r>
            <a:br>
              <a:rPr lang="en-US"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US" sz="1700">
                <a:latin typeface="Cambria"/>
                <a:ea typeface="Cambria"/>
                <a:cs typeface="Cambria"/>
                <a:sym typeface="Cambria"/>
              </a:rPr>
              <a:t>Policy-centric Design:</a:t>
            </a:r>
            <a:r>
              <a:rPr lang="en-US" sz="1700">
                <a:latin typeface="Cambria"/>
                <a:ea typeface="Cambria"/>
                <a:cs typeface="Cambria"/>
                <a:sym typeface="Cambria"/>
              </a:rPr>
              <a:t> Tailored specifically for analyzing public consultation and regulatory feedback rather than generic social media text.</a:t>
            </a:r>
            <a:endParaRPr sz="1700">
              <a:latin typeface="Cambria"/>
              <a:ea typeface="Cambria"/>
              <a:cs typeface="Cambria"/>
              <a:sym typeface="Cambria"/>
            </a:endParaRPr>
          </a:p>
          <a:p>
            <a:pPr indent="0" lvl="0" marL="0" rtl="0" algn="l">
              <a:spcBef>
                <a:spcPts val="1200"/>
              </a:spcBef>
              <a:spcAft>
                <a:spcPts val="0"/>
              </a:spcAft>
              <a:buNone/>
            </a:pPr>
            <a:r>
              <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Technology Stack</a:t>
            </a:r>
            <a:endParaRPr/>
          </a:p>
        </p:txBody>
      </p:sp>
      <p:sp>
        <p:nvSpPr>
          <p:cNvPr id="146" name="Google Shape;146;p22"/>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368300" lvl="0" marL="457200" rtl="0" algn="l">
              <a:spcBef>
                <a:spcPts val="480"/>
              </a:spcBef>
              <a:spcAft>
                <a:spcPts val="0"/>
              </a:spcAft>
              <a:buSzPts val="2200"/>
              <a:buChar char="•"/>
            </a:pPr>
            <a:r>
              <a:rPr b="1" lang="en-US" sz="1600">
                <a:latin typeface="Cambria"/>
                <a:ea typeface="Cambria"/>
                <a:cs typeface="Cambria"/>
                <a:sym typeface="Cambria"/>
              </a:rPr>
              <a:t>Python</a:t>
            </a:r>
            <a:r>
              <a:rPr lang="en-US" sz="1600">
                <a:latin typeface="Cambria"/>
                <a:ea typeface="Cambria"/>
                <a:cs typeface="Cambria"/>
                <a:sym typeface="Cambria"/>
              </a:rPr>
              <a:t> – Primary language for implementing NLP and ML models</a:t>
            </a:r>
            <a:br>
              <a:rPr lang="en-US" sz="1600">
                <a:latin typeface="Cambria"/>
                <a:ea typeface="Cambria"/>
                <a:cs typeface="Cambria"/>
                <a:sym typeface="Cambria"/>
              </a:rPr>
            </a:br>
            <a:endParaRPr sz="1600">
              <a:latin typeface="Cambria"/>
              <a:ea typeface="Cambria"/>
              <a:cs typeface="Cambria"/>
              <a:sym typeface="Cambria"/>
            </a:endParaRPr>
          </a:p>
          <a:p>
            <a:pPr indent="-368300" lvl="0" marL="457200" rtl="0" algn="l">
              <a:spcBef>
                <a:spcPts val="480"/>
              </a:spcBef>
              <a:spcAft>
                <a:spcPts val="0"/>
              </a:spcAft>
              <a:buSzPts val="2200"/>
              <a:buChar char="•"/>
            </a:pPr>
            <a:r>
              <a:rPr b="1" lang="en-US" sz="1600">
                <a:latin typeface="Cambria"/>
                <a:ea typeface="Cambria"/>
                <a:cs typeface="Cambria"/>
                <a:sym typeface="Cambria"/>
              </a:rPr>
              <a:t>Pandas, NumPy</a:t>
            </a:r>
            <a:r>
              <a:rPr lang="en-US" sz="1600">
                <a:latin typeface="Cambria"/>
                <a:ea typeface="Cambria"/>
                <a:cs typeface="Cambria"/>
                <a:sym typeface="Cambria"/>
              </a:rPr>
              <a:t> – Data cleaning, preprocessing, and analysis</a:t>
            </a:r>
            <a:br>
              <a:rPr lang="en-US" sz="1600">
                <a:latin typeface="Cambria"/>
                <a:ea typeface="Cambria"/>
                <a:cs typeface="Cambria"/>
                <a:sym typeface="Cambria"/>
              </a:rPr>
            </a:br>
            <a:endParaRPr sz="1600">
              <a:latin typeface="Cambria"/>
              <a:ea typeface="Cambria"/>
              <a:cs typeface="Cambria"/>
              <a:sym typeface="Cambria"/>
            </a:endParaRPr>
          </a:p>
          <a:p>
            <a:pPr indent="-368300" lvl="0" marL="457200" rtl="0" algn="l">
              <a:spcBef>
                <a:spcPts val="480"/>
              </a:spcBef>
              <a:spcAft>
                <a:spcPts val="0"/>
              </a:spcAft>
              <a:buSzPts val="2200"/>
              <a:buChar char="•"/>
            </a:pPr>
            <a:r>
              <a:rPr b="1" lang="en-US" sz="1600">
                <a:latin typeface="Cambria"/>
                <a:ea typeface="Cambria"/>
                <a:cs typeface="Cambria"/>
                <a:sym typeface="Cambria"/>
              </a:rPr>
              <a:t>NLTK / spaCy</a:t>
            </a:r>
            <a:r>
              <a:rPr lang="en-US" sz="1600">
                <a:latin typeface="Cambria"/>
                <a:ea typeface="Cambria"/>
                <a:cs typeface="Cambria"/>
                <a:sym typeface="Cambria"/>
              </a:rPr>
              <a:t> – Text preprocessing such as tokenization and stopword removal</a:t>
            </a:r>
            <a:br>
              <a:rPr lang="en-US" sz="1600">
                <a:latin typeface="Cambria"/>
                <a:ea typeface="Cambria"/>
                <a:cs typeface="Cambria"/>
                <a:sym typeface="Cambria"/>
              </a:rPr>
            </a:br>
            <a:endParaRPr sz="1600">
              <a:latin typeface="Cambria"/>
              <a:ea typeface="Cambria"/>
              <a:cs typeface="Cambria"/>
              <a:sym typeface="Cambria"/>
            </a:endParaRPr>
          </a:p>
          <a:p>
            <a:pPr indent="-368300" lvl="0" marL="457200" rtl="0" algn="l">
              <a:spcBef>
                <a:spcPts val="480"/>
              </a:spcBef>
              <a:spcAft>
                <a:spcPts val="0"/>
              </a:spcAft>
              <a:buSzPts val="2200"/>
              <a:buChar char="•"/>
            </a:pPr>
            <a:r>
              <a:rPr b="1" lang="en-US" sz="1600">
                <a:latin typeface="Cambria"/>
                <a:ea typeface="Cambria"/>
                <a:cs typeface="Cambria"/>
                <a:sym typeface="Cambria"/>
              </a:rPr>
              <a:t>VADER &amp; BERT</a:t>
            </a:r>
            <a:r>
              <a:rPr lang="en-US" sz="1600">
                <a:latin typeface="Cambria"/>
                <a:ea typeface="Cambria"/>
                <a:cs typeface="Cambria"/>
                <a:sym typeface="Cambria"/>
              </a:rPr>
              <a:t> – Sentiment analysis (rule-based + transformer-based approach)</a:t>
            </a:r>
            <a:br>
              <a:rPr lang="en-US" sz="1600">
                <a:latin typeface="Cambria"/>
                <a:ea typeface="Cambria"/>
                <a:cs typeface="Cambria"/>
                <a:sym typeface="Cambria"/>
              </a:rPr>
            </a:br>
            <a:endParaRPr sz="1600">
              <a:latin typeface="Cambria"/>
              <a:ea typeface="Cambria"/>
              <a:cs typeface="Cambria"/>
              <a:sym typeface="Cambria"/>
            </a:endParaRPr>
          </a:p>
          <a:p>
            <a:pPr indent="-368300" lvl="0" marL="457200" rtl="0" algn="l">
              <a:spcBef>
                <a:spcPts val="480"/>
              </a:spcBef>
              <a:spcAft>
                <a:spcPts val="0"/>
              </a:spcAft>
              <a:buSzPts val="2200"/>
              <a:buChar char="•"/>
            </a:pPr>
            <a:r>
              <a:rPr b="1" lang="en-US" sz="1600">
                <a:latin typeface="Cambria"/>
                <a:ea typeface="Cambria"/>
                <a:cs typeface="Cambria"/>
                <a:sym typeface="Cambria"/>
              </a:rPr>
              <a:t>BART / T5</a:t>
            </a:r>
            <a:r>
              <a:rPr lang="en-US" sz="1600">
                <a:latin typeface="Cambria"/>
                <a:ea typeface="Cambria"/>
                <a:cs typeface="Cambria"/>
                <a:sym typeface="Cambria"/>
              </a:rPr>
              <a:t> – Automatic summary generation of stakeholder comments or API’S using api’s we can generate summary.</a:t>
            </a:r>
            <a:br>
              <a:rPr lang="en-US" sz="1600">
                <a:latin typeface="Cambria"/>
                <a:ea typeface="Cambria"/>
                <a:cs typeface="Cambria"/>
                <a:sym typeface="Cambria"/>
              </a:rPr>
            </a:br>
            <a:endParaRPr sz="1600">
              <a:latin typeface="Cambria"/>
              <a:ea typeface="Cambria"/>
              <a:cs typeface="Cambria"/>
              <a:sym typeface="Cambria"/>
            </a:endParaRPr>
          </a:p>
          <a:p>
            <a:pPr indent="-368300" lvl="0" marL="457200" rtl="0" algn="l">
              <a:spcBef>
                <a:spcPts val="480"/>
              </a:spcBef>
              <a:spcAft>
                <a:spcPts val="0"/>
              </a:spcAft>
              <a:buSzPts val="2200"/>
              <a:buChar char="•"/>
            </a:pPr>
            <a:r>
              <a:rPr b="1" lang="en-US" sz="1600">
                <a:latin typeface="Cambria"/>
                <a:ea typeface="Cambria"/>
                <a:cs typeface="Cambria"/>
                <a:sym typeface="Cambria"/>
              </a:rPr>
              <a:t>WordCloud, Matplotlib</a:t>
            </a:r>
            <a:r>
              <a:rPr lang="en-US" sz="1600">
                <a:latin typeface="Cambria"/>
                <a:ea typeface="Cambria"/>
                <a:cs typeface="Cambria"/>
                <a:sym typeface="Cambria"/>
              </a:rPr>
              <a:t> – Visualization of keyword frequency and sentiment trends</a:t>
            </a:r>
            <a:br>
              <a:rPr lang="en-US" sz="1600">
                <a:latin typeface="Cambria"/>
                <a:ea typeface="Cambria"/>
                <a:cs typeface="Cambria"/>
                <a:sym typeface="Cambria"/>
              </a:rPr>
            </a:br>
            <a:endParaRPr sz="1600">
              <a:latin typeface="Cambria"/>
              <a:ea typeface="Cambria"/>
              <a:cs typeface="Cambria"/>
              <a:sym typeface="Cambria"/>
            </a:endParaRPr>
          </a:p>
          <a:p>
            <a:pPr indent="-368300" lvl="0" marL="457200" rtl="0" algn="l">
              <a:spcBef>
                <a:spcPts val="480"/>
              </a:spcBef>
              <a:spcAft>
                <a:spcPts val="0"/>
              </a:spcAft>
              <a:buSzPts val="2200"/>
              <a:buChar char="•"/>
            </a:pPr>
            <a:r>
              <a:rPr b="1" lang="en-US" sz="1600">
                <a:latin typeface="Cambria"/>
                <a:ea typeface="Cambria"/>
                <a:cs typeface="Cambria"/>
                <a:sym typeface="Cambria"/>
              </a:rPr>
              <a:t>Jupyter Notebook</a:t>
            </a:r>
            <a:r>
              <a:rPr lang="en-US" sz="1600">
                <a:latin typeface="Cambria"/>
                <a:ea typeface="Cambria"/>
                <a:cs typeface="Cambria"/>
                <a:sym typeface="Cambria"/>
              </a:rPr>
              <a:t> – Development and experimentation</a:t>
            </a:r>
            <a:br>
              <a:rPr lang="en-US" sz="1600">
                <a:latin typeface="Cambria"/>
                <a:ea typeface="Cambria"/>
                <a:cs typeface="Cambria"/>
                <a:sym typeface="Cambria"/>
              </a:rPr>
            </a:br>
            <a:endParaRPr sz="1600">
              <a:latin typeface="Cambria"/>
              <a:ea typeface="Cambria"/>
              <a:cs typeface="Cambria"/>
              <a:sym typeface="Cambria"/>
            </a:endParaRPr>
          </a:p>
          <a:p>
            <a:pPr indent="-368300" lvl="0" marL="457200" rtl="0" algn="l">
              <a:spcBef>
                <a:spcPts val="480"/>
              </a:spcBef>
              <a:spcAft>
                <a:spcPts val="0"/>
              </a:spcAft>
              <a:buSzPts val="2200"/>
              <a:buChar char="•"/>
            </a:pPr>
            <a:r>
              <a:rPr b="1" lang="en-US" sz="1600">
                <a:latin typeface="Cambria"/>
                <a:ea typeface="Cambria"/>
                <a:cs typeface="Cambria"/>
                <a:sym typeface="Cambria"/>
              </a:rPr>
              <a:t>Git &amp; GitHub</a:t>
            </a:r>
            <a:r>
              <a:rPr lang="en-US" sz="1600">
                <a:latin typeface="Cambria"/>
                <a:ea typeface="Cambria"/>
                <a:cs typeface="Cambria"/>
                <a:sym typeface="Cambria"/>
              </a:rPr>
              <a:t> – Source code management and collaboration</a:t>
            </a:r>
            <a:endParaRPr sz="1600">
              <a:latin typeface="Cambria"/>
              <a:ea typeface="Cambria"/>
              <a:cs typeface="Cambria"/>
              <a:sym typeface="Cambria"/>
            </a:endParaRPr>
          </a:p>
          <a:p>
            <a:pPr indent="0" lvl="0" marL="0" rtl="0" algn="l">
              <a:lnSpc>
                <a:spcPct val="100000"/>
              </a:lnSpc>
              <a:spcBef>
                <a:spcPts val="480"/>
              </a:spcBef>
              <a:spcAft>
                <a:spcPts val="0"/>
              </a:spcAft>
              <a:buNone/>
            </a:pPr>
            <a:r>
              <a:t/>
            </a:r>
            <a:endParaRPr b="1" sz="11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nvSpPr>
        <p:spPr>
          <a:xfrm>
            <a:off x="748665" y="240665"/>
            <a:ext cx="6174740" cy="645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0000"/>
                </a:solidFill>
                <a:latin typeface="Verdana"/>
                <a:ea typeface="Verdana"/>
                <a:cs typeface="Verdana"/>
                <a:sym typeface="Verdana"/>
              </a:rPr>
              <a:t>Timeline of the Project</a:t>
            </a:r>
            <a:endParaRPr b="1" i="0" sz="3600" u="none" cap="none" strike="noStrike">
              <a:solidFill>
                <a:srgbClr val="000000"/>
              </a:solidFill>
              <a:latin typeface="Verdana"/>
              <a:ea typeface="Verdana"/>
              <a:cs typeface="Verdana"/>
              <a:sym typeface="Verdana"/>
            </a:endParaRPr>
          </a:p>
        </p:txBody>
      </p:sp>
      <p:graphicFrame>
        <p:nvGraphicFramePr>
          <p:cNvPr id="152" name="Google Shape;152;p23"/>
          <p:cNvGraphicFramePr/>
          <p:nvPr/>
        </p:nvGraphicFramePr>
        <p:xfrm>
          <a:off x="1181725" y="1125575"/>
          <a:ext cx="3000000" cy="3000000"/>
        </p:xfrm>
        <a:graphic>
          <a:graphicData uri="http://schemas.openxmlformats.org/drawingml/2006/table">
            <a:tbl>
              <a:tblPr>
                <a:noFill/>
                <a:tableStyleId>{3860C78C-165E-429C-BBCA-56A9A168E9F6}</a:tableStyleId>
              </a:tblPr>
              <a:tblGrid>
                <a:gridCol w="2704675"/>
                <a:gridCol w="2704675"/>
                <a:gridCol w="2704675"/>
                <a:gridCol w="2704675"/>
              </a:tblGrid>
              <a:tr h="317075">
                <a:tc>
                  <a:txBody>
                    <a:bodyPr/>
                    <a:lstStyle/>
                    <a:p>
                      <a:pPr indent="0" lvl="0" marL="0" rtl="0" algn="ctr">
                        <a:lnSpc>
                          <a:spcPct val="115000"/>
                        </a:lnSpc>
                        <a:spcBef>
                          <a:spcPts val="0"/>
                        </a:spcBef>
                        <a:spcAft>
                          <a:spcPts val="0"/>
                        </a:spcAft>
                        <a:buNone/>
                      </a:pPr>
                      <a:r>
                        <a:rPr b="1" lang="en-US" sz="1100"/>
                        <a:t>Month</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Phase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Key Activities</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Deliverables</a:t>
                      </a:r>
                      <a:endParaRPr b="1" sz="1100"/>
                    </a:p>
                  </a:txBody>
                  <a:tcPr marT="91425" marB="91425" marR="91425" marL="91425"/>
                </a:tc>
              </a:tr>
              <a:tr h="1816975">
                <a:tc>
                  <a:txBody>
                    <a:bodyPr/>
                    <a:lstStyle/>
                    <a:p>
                      <a:pPr indent="0" lvl="0" marL="0" rtl="0" algn="l">
                        <a:spcBef>
                          <a:spcPts val="0"/>
                        </a:spcBef>
                        <a:spcAft>
                          <a:spcPts val="0"/>
                        </a:spcAft>
                        <a:buNone/>
                      </a:pPr>
                      <a:r>
                        <a:rPr b="1" lang="en-US" sz="1100">
                          <a:latin typeface="Cambria"/>
                          <a:ea typeface="Cambria"/>
                          <a:cs typeface="Cambria"/>
                          <a:sym typeface="Cambria"/>
                        </a:rPr>
                        <a:t>Month 1</a:t>
                      </a:r>
                      <a:endParaRPr b="1" sz="11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200">
                          <a:latin typeface="Cambria"/>
                          <a:ea typeface="Cambria"/>
                          <a:cs typeface="Cambria"/>
                          <a:sym typeface="Cambria"/>
                        </a:rPr>
                        <a:t>Data Collection &amp; Setup</a:t>
                      </a:r>
                      <a:endParaRPr sz="12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200">
                          <a:latin typeface="Cambria"/>
                          <a:ea typeface="Cambria"/>
                          <a:cs typeface="Cambria"/>
                          <a:sym typeface="Cambria"/>
                        </a:rPr>
                        <a:t>• Collect e-consultation comments and similar public datasets • Data cleaning and preprocessing (tokenization, stopword removal, deduplication) • Exploratory data analysis (word frequency, comment length) • Build baseline sentiment model</a:t>
                      </a:r>
                      <a:endParaRPr sz="12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200">
                          <a:latin typeface="Cambria"/>
                          <a:ea typeface="Cambria"/>
                          <a:cs typeface="Cambria"/>
                          <a:sym typeface="Cambria"/>
                        </a:rPr>
                        <a:t>• Cleaned dataset • EDA report </a:t>
                      </a:r>
                      <a:endParaRPr sz="1200">
                        <a:latin typeface="Cambria"/>
                        <a:ea typeface="Cambria"/>
                        <a:cs typeface="Cambria"/>
                        <a:sym typeface="Cambria"/>
                      </a:endParaRPr>
                    </a:p>
                    <a:p>
                      <a:pPr indent="0" lvl="0" marL="0" rtl="0" algn="l">
                        <a:spcBef>
                          <a:spcPts val="0"/>
                        </a:spcBef>
                        <a:spcAft>
                          <a:spcPts val="0"/>
                        </a:spcAft>
                        <a:buNone/>
                      </a:pPr>
                      <a:r>
                        <a:rPr lang="en-US" sz="1200">
                          <a:latin typeface="Cambria"/>
                          <a:ea typeface="Cambria"/>
                          <a:cs typeface="Cambria"/>
                          <a:sym typeface="Cambria"/>
                        </a:rPr>
                        <a:t>• Baseline sentiment classifier</a:t>
                      </a:r>
                      <a:endParaRPr sz="1200">
                        <a:latin typeface="Cambria"/>
                        <a:ea typeface="Cambria"/>
                        <a:cs typeface="Cambria"/>
                        <a:sym typeface="Cambria"/>
                      </a:endParaRPr>
                    </a:p>
                  </a:txBody>
                  <a:tcPr marT="91425" marB="91425" marR="91425" marL="91425"/>
                </a:tc>
              </a:tr>
              <a:tr h="1321425">
                <a:tc>
                  <a:txBody>
                    <a:bodyPr/>
                    <a:lstStyle/>
                    <a:p>
                      <a:pPr indent="0" lvl="0" marL="0" rtl="0" algn="l">
                        <a:spcBef>
                          <a:spcPts val="0"/>
                        </a:spcBef>
                        <a:spcAft>
                          <a:spcPts val="0"/>
                        </a:spcAft>
                        <a:buNone/>
                      </a:pPr>
                      <a:r>
                        <a:rPr b="1" lang="en-US" sz="1100">
                          <a:latin typeface="Cambria"/>
                          <a:ea typeface="Cambria"/>
                          <a:cs typeface="Cambria"/>
                          <a:sym typeface="Cambria"/>
                        </a:rPr>
                        <a:t>Month 2</a:t>
                      </a:r>
                      <a:endParaRPr b="1" sz="11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200">
                          <a:latin typeface="Cambria"/>
                          <a:ea typeface="Cambria"/>
                          <a:cs typeface="Cambria"/>
                          <a:sym typeface="Cambria"/>
                        </a:rPr>
                        <a:t>Model Development</a:t>
                      </a:r>
                      <a:endParaRPr sz="12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200">
                          <a:latin typeface="Cambria"/>
                          <a:ea typeface="Cambria"/>
                          <a:cs typeface="Cambria"/>
                          <a:sym typeface="Cambria"/>
                        </a:rPr>
                        <a:t>• Fine-tune sentiment models (BERT / RoBERTa) • Evaluate model performance against baseline methods • Develop initial text summarization prototype</a:t>
                      </a:r>
                      <a:endParaRPr sz="12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200">
                          <a:latin typeface="Cambria"/>
                          <a:ea typeface="Cambria"/>
                          <a:cs typeface="Cambria"/>
                          <a:sym typeface="Cambria"/>
                        </a:rPr>
                        <a:t>• Trained sentiment model </a:t>
                      </a:r>
                      <a:endParaRPr sz="1200">
                        <a:latin typeface="Cambria"/>
                        <a:ea typeface="Cambria"/>
                        <a:cs typeface="Cambria"/>
                        <a:sym typeface="Cambria"/>
                      </a:endParaRPr>
                    </a:p>
                    <a:p>
                      <a:pPr indent="0" lvl="0" marL="0" rtl="0" algn="l">
                        <a:spcBef>
                          <a:spcPts val="0"/>
                        </a:spcBef>
                        <a:spcAft>
                          <a:spcPts val="0"/>
                        </a:spcAft>
                        <a:buNone/>
                      </a:pPr>
                      <a:r>
                        <a:rPr lang="en-US" sz="1200">
                          <a:latin typeface="Cambria"/>
                          <a:ea typeface="Cambria"/>
                          <a:cs typeface="Cambria"/>
                          <a:sym typeface="Cambria"/>
                        </a:rPr>
                        <a:t>• Evaluation metrics • Summary generation prototype</a:t>
                      </a:r>
                      <a:endParaRPr sz="1200">
                        <a:latin typeface="Cambria"/>
                        <a:ea typeface="Cambria"/>
                        <a:cs typeface="Cambria"/>
                        <a:sym typeface="Cambria"/>
                      </a:endParaRPr>
                    </a:p>
                  </a:txBody>
                  <a:tcPr marT="91425" marB="91425" marR="91425" marL="91425"/>
                </a:tc>
              </a:tr>
              <a:tr h="1158100">
                <a:tc>
                  <a:txBody>
                    <a:bodyPr/>
                    <a:lstStyle/>
                    <a:p>
                      <a:pPr indent="0" lvl="0" marL="0" rtl="0" algn="l">
                        <a:spcBef>
                          <a:spcPts val="0"/>
                        </a:spcBef>
                        <a:spcAft>
                          <a:spcPts val="0"/>
                        </a:spcAft>
                        <a:buNone/>
                      </a:pPr>
                      <a:r>
                        <a:rPr b="1" lang="en-US" sz="1100">
                          <a:latin typeface="Cambria"/>
                          <a:ea typeface="Cambria"/>
                          <a:cs typeface="Cambria"/>
                          <a:sym typeface="Cambria"/>
                        </a:rPr>
                        <a:t>Month 3</a:t>
                      </a:r>
                      <a:endParaRPr b="1" sz="11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200">
                          <a:latin typeface="Cambria"/>
                          <a:ea typeface="Cambria"/>
                          <a:cs typeface="Cambria"/>
                          <a:sym typeface="Cambria"/>
                        </a:rPr>
                        <a:t>Advanced Features</a:t>
                      </a:r>
                      <a:endParaRPr sz="12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200">
                          <a:latin typeface="Cambria"/>
                          <a:ea typeface="Cambria"/>
                          <a:cs typeface="Cambria"/>
                          <a:sym typeface="Cambria"/>
                        </a:rPr>
                        <a:t>• Aspect / topic extraction • Duplicate comment detection • Generate word clouds and sentiment visualizations • Integrate models with dashboard UI</a:t>
                      </a:r>
                      <a:endParaRPr sz="12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200">
                          <a:latin typeface="Cambria"/>
                          <a:ea typeface="Cambria"/>
                          <a:cs typeface="Cambria"/>
                          <a:sym typeface="Cambria"/>
                        </a:rPr>
                        <a:t>• Topic insights • Visual analytics </a:t>
                      </a:r>
                      <a:endParaRPr sz="1200">
                        <a:latin typeface="Cambria"/>
                        <a:ea typeface="Cambria"/>
                        <a:cs typeface="Cambria"/>
                        <a:sym typeface="Cambria"/>
                      </a:endParaRPr>
                    </a:p>
                    <a:p>
                      <a:pPr indent="0" lvl="0" marL="0" rtl="0" algn="l">
                        <a:spcBef>
                          <a:spcPts val="0"/>
                        </a:spcBef>
                        <a:spcAft>
                          <a:spcPts val="0"/>
                        </a:spcAft>
                        <a:buNone/>
                      </a:pPr>
                      <a:r>
                        <a:rPr lang="en-US" sz="1200">
                          <a:latin typeface="Cambria"/>
                          <a:ea typeface="Cambria"/>
                          <a:cs typeface="Cambria"/>
                          <a:sym typeface="Cambria"/>
                        </a:rPr>
                        <a:t>• Functional dashboard</a:t>
                      </a:r>
                      <a:endParaRPr sz="1200">
                        <a:latin typeface="Cambria"/>
                        <a:ea typeface="Cambria"/>
                        <a:cs typeface="Cambria"/>
                        <a:sym typeface="Cambria"/>
                      </a:endParaRPr>
                    </a:p>
                  </a:txBody>
                  <a:tcPr marT="91425" marB="91425" marR="91425" marL="91425"/>
                </a:tc>
              </a:tr>
              <a:tr h="1321425">
                <a:tc>
                  <a:txBody>
                    <a:bodyPr/>
                    <a:lstStyle/>
                    <a:p>
                      <a:pPr indent="0" lvl="0" marL="0" rtl="0" algn="l">
                        <a:spcBef>
                          <a:spcPts val="0"/>
                        </a:spcBef>
                        <a:spcAft>
                          <a:spcPts val="0"/>
                        </a:spcAft>
                        <a:buNone/>
                      </a:pPr>
                      <a:r>
                        <a:rPr b="1" lang="en-US" sz="1100">
                          <a:latin typeface="Cambria"/>
                          <a:ea typeface="Cambria"/>
                          <a:cs typeface="Cambria"/>
                          <a:sym typeface="Cambria"/>
                        </a:rPr>
                        <a:t>Month 4</a:t>
                      </a:r>
                      <a:endParaRPr b="1" sz="11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200">
                          <a:latin typeface="Cambria"/>
                          <a:ea typeface="Cambria"/>
                          <a:cs typeface="Cambria"/>
                          <a:sym typeface="Cambria"/>
                        </a:rPr>
                        <a:t>Testing &amp; Final Delivery</a:t>
                      </a:r>
                      <a:endParaRPr sz="12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200">
                          <a:latin typeface="Cambria"/>
                          <a:ea typeface="Cambria"/>
                          <a:cs typeface="Cambria"/>
                          <a:sym typeface="Cambria"/>
                        </a:rPr>
                        <a:t>• System testing and validation • Performance optimization • Final documentation and report preparation • GitHub code organization and submission</a:t>
                      </a:r>
                      <a:endParaRPr sz="12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200">
                          <a:latin typeface="Cambria"/>
                          <a:ea typeface="Cambria"/>
                          <a:cs typeface="Cambria"/>
                          <a:sym typeface="Cambria"/>
                        </a:rPr>
                        <a:t>• Final system • Project report </a:t>
                      </a:r>
                      <a:endParaRPr sz="1200">
                        <a:latin typeface="Cambria"/>
                        <a:ea typeface="Cambria"/>
                        <a:cs typeface="Cambria"/>
                        <a:sym typeface="Cambria"/>
                      </a:endParaRPr>
                    </a:p>
                    <a:p>
                      <a:pPr indent="0" lvl="0" marL="0" rtl="0" algn="l">
                        <a:spcBef>
                          <a:spcPts val="0"/>
                        </a:spcBef>
                        <a:spcAft>
                          <a:spcPts val="0"/>
                        </a:spcAft>
                        <a:buNone/>
                      </a:pPr>
                      <a:r>
                        <a:rPr lang="en-US" sz="1200">
                          <a:latin typeface="Cambria"/>
                          <a:ea typeface="Cambria"/>
                          <a:cs typeface="Cambria"/>
                          <a:sym typeface="Cambria"/>
                        </a:rPr>
                        <a:t>&amp; PPT • Public GitHub repository</a:t>
                      </a:r>
                      <a:endParaRPr sz="1200">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Github Link</a:t>
            </a:r>
            <a:endParaRPr>
              <a:latin typeface="Cambria"/>
              <a:ea typeface="Cambria"/>
              <a:cs typeface="Cambria"/>
              <a:sym typeface="Cambria"/>
            </a:endParaRPr>
          </a:p>
        </p:txBody>
      </p:sp>
      <p:sp>
        <p:nvSpPr>
          <p:cNvPr id="158" name="Google Shape;158;p24"/>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159" name="Google Shape;159;p24"/>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160" name="Google Shape;160;p24"/>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0" i="0" lang="en-US" sz="2200" u="none" cap="none" strike="noStrike">
                <a:solidFill>
                  <a:schemeClr val="dk1"/>
                </a:solidFill>
                <a:latin typeface="Cambria"/>
                <a:ea typeface="Cambria"/>
                <a:cs typeface="Cambria"/>
                <a:sym typeface="Cambria"/>
              </a:rPr>
              <a:t>A public GitHub repository will be maintained.</a:t>
            </a:r>
            <a:endParaRPr b="0" i="0" sz="22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rPr b="0" i="0" lang="en-US" sz="2200" u="none" cap="none" strike="noStrike">
                <a:solidFill>
                  <a:schemeClr val="dk1"/>
                </a:solidFill>
                <a:latin typeface="Cambria"/>
                <a:ea typeface="Cambria"/>
                <a:cs typeface="Cambria"/>
                <a:sym typeface="Cambria"/>
              </a:rPr>
              <a:t>Link: </a:t>
            </a:r>
            <a:r>
              <a:rPr lang="en-US" sz="2200" u="sng">
                <a:solidFill>
                  <a:schemeClr val="hlink"/>
                </a:solidFill>
                <a:latin typeface="Cambria"/>
                <a:ea typeface="Cambria"/>
                <a:cs typeface="Cambria"/>
                <a:sym typeface="Cambria"/>
                <a:hlinkClick r:id="rId3"/>
              </a:rPr>
              <a:t>GitHub Link</a:t>
            </a:r>
            <a:endParaRPr b="0" i="0" sz="2200" u="none" cap="none" strike="noStrike">
              <a:solidFill>
                <a:schemeClr val="dk1"/>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References (IEEE Format)</a:t>
            </a:r>
            <a:endParaRPr/>
          </a:p>
        </p:txBody>
      </p:sp>
      <p:sp>
        <p:nvSpPr>
          <p:cNvPr id="166" name="Google Shape;166;p25"/>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0" rtl="0" algn="l">
              <a:spcBef>
                <a:spcPts val="480"/>
              </a:spcBef>
              <a:spcAft>
                <a:spcPts val="0"/>
              </a:spcAft>
              <a:buClr>
                <a:schemeClr val="dk1"/>
              </a:buClr>
              <a:buSzPts val="1100"/>
              <a:buFont typeface="Arial"/>
              <a:buNone/>
            </a:pPr>
            <a:r>
              <a:rPr b="1" lang="en-US" sz="1600">
                <a:latin typeface="Cambria"/>
                <a:ea typeface="Cambria"/>
                <a:cs typeface="Cambria"/>
                <a:sym typeface="Cambria"/>
              </a:rPr>
              <a:t>Devlin, J. et al. </a:t>
            </a:r>
            <a:r>
              <a:rPr b="1" i="1" lang="en-US" sz="1600">
                <a:latin typeface="Cambria"/>
                <a:ea typeface="Cambria"/>
                <a:cs typeface="Cambria"/>
                <a:sym typeface="Cambria"/>
              </a:rPr>
              <a:t>BERT</a:t>
            </a:r>
            <a:r>
              <a:rPr i="1" lang="en-US" sz="1600">
                <a:latin typeface="Cambria"/>
                <a:ea typeface="Cambria"/>
                <a:cs typeface="Cambria"/>
                <a:sym typeface="Cambria"/>
              </a:rPr>
              <a:t>: Pre-training of Deep Bidirectional Transformers for Language Understanding</a:t>
            </a:r>
            <a:r>
              <a:rPr lang="en-US" sz="1600">
                <a:latin typeface="Cambria"/>
                <a:ea typeface="Cambria"/>
                <a:cs typeface="Cambria"/>
                <a:sym typeface="Cambria"/>
              </a:rPr>
              <a:t>, Google AI, 2018.</a:t>
            </a:r>
            <a:br>
              <a:rPr lang="en-US" sz="1600">
                <a:latin typeface="Cambria"/>
                <a:ea typeface="Cambria"/>
                <a:cs typeface="Cambria"/>
                <a:sym typeface="Cambria"/>
              </a:rPr>
            </a:br>
            <a:endParaRPr sz="1600">
              <a:latin typeface="Cambria"/>
              <a:ea typeface="Cambria"/>
              <a:cs typeface="Cambria"/>
              <a:sym typeface="Cambria"/>
            </a:endParaRPr>
          </a:p>
          <a:p>
            <a:pPr indent="0" lvl="0" marL="0" rtl="0" algn="l">
              <a:spcBef>
                <a:spcPts val="480"/>
              </a:spcBef>
              <a:spcAft>
                <a:spcPts val="0"/>
              </a:spcAft>
              <a:buClr>
                <a:schemeClr val="dk1"/>
              </a:buClr>
              <a:buSzPts val="1100"/>
              <a:buFont typeface="Arial"/>
              <a:buNone/>
            </a:pPr>
            <a:r>
              <a:rPr b="1" lang="en-US" sz="1600">
                <a:latin typeface="Cambria"/>
                <a:ea typeface="Cambria"/>
                <a:cs typeface="Cambria"/>
                <a:sym typeface="Cambria"/>
              </a:rPr>
              <a:t>Hutto, C. J., &amp; Gilbert, E. </a:t>
            </a:r>
            <a:r>
              <a:rPr b="1" i="1" lang="en-US" sz="1600">
                <a:latin typeface="Cambria"/>
                <a:ea typeface="Cambria"/>
                <a:cs typeface="Cambria"/>
                <a:sym typeface="Cambria"/>
              </a:rPr>
              <a:t>VADER</a:t>
            </a:r>
            <a:r>
              <a:rPr i="1" lang="en-US" sz="1600">
                <a:latin typeface="Cambria"/>
                <a:ea typeface="Cambria"/>
                <a:cs typeface="Cambria"/>
                <a:sym typeface="Cambria"/>
              </a:rPr>
              <a:t>: A Parsimonious Rule-based Model for Sentiment Analysis of Social Media Text</a:t>
            </a:r>
            <a:r>
              <a:rPr lang="en-US" sz="1600">
                <a:latin typeface="Cambria"/>
                <a:ea typeface="Cambria"/>
                <a:cs typeface="Cambria"/>
                <a:sym typeface="Cambria"/>
              </a:rPr>
              <a:t>, ICWSM, 2014.</a:t>
            </a:r>
            <a:br>
              <a:rPr lang="en-US" sz="1600">
                <a:latin typeface="Cambria"/>
                <a:ea typeface="Cambria"/>
                <a:cs typeface="Cambria"/>
                <a:sym typeface="Cambria"/>
              </a:rPr>
            </a:br>
            <a:endParaRPr sz="1600">
              <a:latin typeface="Cambria"/>
              <a:ea typeface="Cambria"/>
              <a:cs typeface="Cambria"/>
              <a:sym typeface="Cambria"/>
            </a:endParaRPr>
          </a:p>
          <a:p>
            <a:pPr indent="0" lvl="0" marL="0" rtl="0" algn="l">
              <a:spcBef>
                <a:spcPts val="480"/>
              </a:spcBef>
              <a:spcAft>
                <a:spcPts val="0"/>
              </a:spcAft>
              <a:buClr>
                <a:schemeClr val="dk1"/>
              </a:buClr>
              <a:buSzPts val="1100"/>
              <a:buFont typeface="Arial"/>
              <a:buNone/>
            </a:pPr>
            <a:r>
              <a:rPr b="1" lang="en-US" sz="1600">
                <a:latin typeface="Cambria"/>
                <a:ea typeface="Cambria"/>
                <a:cs typeface="Cambria"/>
                <a:sym typeface="Cambria"/>
              </a:rPr>
              <a:t>Lewis, M. et al. </a:t>
            </a:r>
            <a:r>
              <a:rPr b="1" i="1" lang="en-US" sz="1600">
                <a:latin typeface="Cambria"/>
                <a:ea typeface="Cambria"/>
                <a:cs typeface="Cambria"/>
                <a:sym typeface="Cambria"/>
              </a:rPr>
              <a:t>BART</a:t>
            </a:r>
            <a:r>
              <a:rPr i="1" lang="en-US" sz="1600">
                <a:latin typeface="Cambria"/>
                <a:ea typeface="Cambria"/>
                <a:cs typeface="Cambria"/>
                <a:sym typeface="Cambria"/>
              </a:rPr>
              <a:t>: Denoising Sequence-to-Sequence Pre-training for Natural Language Generation</a:t>
            </a:r>
            <a:r>
              <a:rPr lang="en-US" sz="1600">
                <a:latin typeface="Cambria"/>
                <a:ea typeface="Cambria"/>
                <a:cs typeface="Cambria"/>
                <a:sym typeface="Cambria"/>
              </a:rPr>
              <a:t>, Facebook AI, 2020.</a:t>
            </a:r>
            <a:br>
              <a:rPr lang="en-US" sz="1600">
                <a:latin typeface="Cambria"/>
                <a:ea typeface="Cambria"/>
                <a:cs typeface="Cambria"/>
                <a:sym typeface="Cambria"/>
              </a:rPr>
            </a:br>
            <a:endParaRPr sz="1600">
              <a:latin typeface="Cambria"/>
              <a:ea typeface="Cambria"/>
              <a:cs typeface="Cambria"/>
              <a:sym typeface="Cambria"/>
            </a:endParaRPr>
          </a:p>
          <a:p>
            <a:pPr indent="0" lvl="0" marL="0" rtl="0" algn="l">
              <a:spcBef>
                <a:spcPts val="480"/>
              </a:spcBef>
              <a:spcAft>
                <a:spcPts val="0"/>
              </a:spcAft>
              <a:buClr>
                <a:schemeClr val="dk1"/>
              </a:buClr>
              <a:buSzPts val="1100"/>
              <a:buFont typeface="Arial"/>
              <a:buNone/>
            </a:pPr>
            <a:r>
              <a:rPr b="1" lang="en-US" sz="1600">
                <a:latin typeface="Cambria"/>
                <a:ea typeface="Cambria"/>
                <a:cs typeface="Cambria"/>
                <a:sym typeface="Cambria"/>
              </a:rPr>
              <a:t>Wolf, T. et al. </a:t>
            </a:r>
            <a:r>
              <a:rPr b="1" i="1" lang="en-US" sz="1600">
                <a:latin typeface="Cambria"/>
                <a:ea typeface="Cambria"/>
                <a:cs typeface="Cambria"/>
                <a:sym typeface="Cambria"/>
              </a:rPr>
              <a:t>Transformers</a:t>
            </a:r>
            <a:r>
              <a:rPr i="1" lang="en-US" sz="1600">
                <a:latin typeface="Cambria"/>
                <a:ea typeface="Cambria"/>
                <a:cs typeface="Cambria"/>
                <a:sym typeface="Cambria"/>
              </a:rPr>
              <a:t>: State-of-the-Art Natural Language Processing</a:t>
            </a:r>
            <a:r>
              <a:rPr lang="en-US" sz="1600">
                <a:latin typeface="Cambria"/>
                <a:ea typeface="Cambria"/>
                <a:cs typeface="Cambria"/>
                <a:sym typeface="Cambria"/>
              </a:rPr>
              <a:t>, Hugging Face, 2020.</a:t>
            </a:r>
            <a:br>
              <a:rPr lang="en-US" sz="1600">
                <a:latin typeface="Cambria"/>
                <a:ea typeface="Cambria"/>
                <a:cs typeface="Cambria"/>
                <a:sym typeface="Cambria"/>
              </a:rPr>
            </a:br>
            <a:endParaRPr sz="1600">
              <a:latin typeface="Cambria"/>
              <a:ea typeface="Cambria"/>
              <a:cs typeface="Cambria"/>
              <a:sym typeface="Cambria"/>
            </a:endParaRPr>
          </a:p>
          <a:p>
            <a:pPr indent="0" lvl="0" marL="0" rtl="0" algn="l">
              <a:spcBef>
                <a:spcPts val="480"/>
              </a:spcBef>
              <a:spcAft>
                <a:spcPts val="0"/>
              </a:spcAft>
              <a:buClr>
                <a:schemeClr val="dk1"/>
              </a:buClr>
              <a:buSzPts val="1100"/>
              <a:buFont typeface="Arial"/>
              <a:buNone/>
            </a:pPr>
            <a:r>
              <a:rPr b="1" lang="en-US" sz="1600">
                <a:latin typeface="Cambria"/>
                <a:ea typeface="Cambria"/>
                <a:cs typeface="Cambria"/>
                <a:sym typeface="Cambria"/>
              </a:rPr>
              <a:t>Ministry of Corporate Affairs (India)</a:t>
            </a:r>
            <a:r>
              <a:rPr lang="en-US" sz="1600">
                <a:latin typeface="Cambria"/>
                <a:ea typeface="Cambria"/>
                <a:cs typeface="Cambria"/>
                <a:sym typeface="Cambria"/>
              </a:rPr>
              <a:t>. </a:t>
            </a:r>
            <a:r>
              <a:rPr i="1" lang="en-US" sz="1600">
                <a:latin typeface="Cambria"/>
                <a:ea typeface="Cambria"/>
                <a:cs typeface="Cambria"/>
                <a:sym typeface="Cambria"/>
              </a:rPr>
              <a:t>e-Consultation Module – MCA21 Portal Documentation</a:t>
            </a:r>
            <a:r>
              <a:rPr lang="en-US" sz="1600">
                <a:latin typeface="Cambria"/>
                <a:ea typeface="Cambria"/>
                <a:cs typeface="Cambria"/>
                <a:sym typeface="Cambria"/>
              </a:rPr>
              <a:t>.</a:t>
            </a:r>
            <a:br>
              <a:rPr lang="en-US" sz="1600">
                <a:latin typeface="Cambria"/>
                <a:ea typeface="Cambria"/>
                <a:cs typeface="Cambria"/>
                <a:sym typeface="Cambria"/>
              </a:rPr>
            </a:br>
            <a:endParaRPr sz="1600">
              <a:latin typeface="Cambria"/>
              <a:ea typeface="Cambria"/>
              <a:cs typeface="Cambria"/>
              <a:sym typeface="Cambria"/>
            </a:endParaRPr>
          </a:p>
          <a:p>
            <a:pPr indent="0" lvl="0" marL="0" rtl="0" algn="l">
              <a:spcBef>
                <a:spcPts val="480"/>
              </a:spcBef>
              <a:spcAft>
                <a:spcPts val="0"/>
              </a:spcAft>
              <a:buClr>
                <a:schemeClr val="dk1"/>
              </a:buClr>
              <a:buSzPts val="1100"/>
              <a:buFont typeface="Arial"/>
              <a:buNone/>
            </a:pPr>
            <a:r>
              <a:rPr b="1" lang="en-US" sz="1600">
                <a:latin typeface="Cambria"/>
                <a:ea typeface="Cambria"/>
                <a:cs typeface="Cambria"/>
                <a:sym typeface="Cambria"/>
              </a:rPr>
              <a:t>Federal Chief Data Officers Council (USA)</a:t>
            </a:r>
            <a:r>
              <a:rPr lang="en-US" sz="1600">
                <a:latin typeface="Cambria"/>
                <a:ea typeface="Cambria"/>
                <a:cs typeface="Cambria"/>
                <a:sym typeface="Cambria"/>
              </a:rPr>
              <a:t>. </a:t>
            </a:r>
            <a:r>
              <a:rPr i="1" lang="en-US" sz="1600">
                <a:latin typeface="Cambria"/>
                <a:ea typeface="Cambria"/>
                <a:cs typeface="Cambria"/>
                <a:sym typeface="Cambria"/>
              </a:rPr>
              <a:t>Public Comment Analysis Using NLP</a:t>
            </a:r>
            <a:r>
              <a:rPr lang="en-US" sz="1600">
                <a:latin typeface="Cambria"/>
                <a:ea typeface="Cambria"/>
                <a:cs typeface="Cambria"/>
                <a:sym typeface="Cambria"/>
              </a:rPr>
              <a:t>, 2021.</a:t>
            </a:r>
            <a:br>
              <a:rPr lang="en-US" sz="1600">
                <a:latin typeface="Cambria"/>
                <a:ea typeface="Cambria"/>
                <a:cs typeface="Cambria"/>
                <a:sym typeface="Cambria"/>
              </a:rPr>
            </a:br>
            <a:endParaRPr sz="1600">
              <a:latin typeface="Cambria"/>
              <a:ea typeface="Cambria"/>
              <a:cs typeface="Cambria"/>
              <a:sym typeface="Cambria"/>
            </a:endParaRPr>
          </a:p>
          <a:p>
            <a:pPr indent="0" lvl="0" marL="0" rtl="0" algn="l">
              <a:spcBef>
                <a:spcPts val="480"/>
              </a:spcBef>
              <a:spcAft>
                <a:spcPts val="0"/>
              </a:spcAft>
              <a:buClr>
                <a:schemeClr val="dk1"/>
              </a:buClr>
              <a:buSzPts val="1100"/>
              <a:buFont typeface="Arial"/>
              <a:buNone/>
            </a:pPr>
            <a:r>
              <a:rPr b="1" lang="en-US" sz="1600">
                <a:latin typeface="Cambria"/>
                <a:ea typeface="Cambria"/>
                <a:cs typeface="Cambria"/>
                <a:sym typeface="Cambria"/>
              </a:rPr>
              <a:t>Python Software Foundation</a:t>
            </a:r>
            <a:r>
              <a:rPr lang="en-US" sz="1600">
                <a:latin typeface="Cambria"/>
                <a:ea typeface="Cambria"/>
                <a:cs typeface="Cambria"/>
                <a:sym typeface="Cambria"/>
              </a:rPr>
              <a:t>. </a:t>
            </a:r>
            <a:r>
              <a:rPr i="1" lang="en-US" sz="1600">
                <a:latin typeface="Cambria"/>
                <a:ea typeface="Cambria"/>
                <a:cs typeface="Cambria"/>
                <a:sym typeface="Cambria"/>
              </a:rPr>
              <a:t>Python NLP and Data Science Libraries Documentation</a:t>
            </a:r>
            <a:r>
              <a:rPr lang="en-US" sz="1600">
                <a:latin typeface="Cambria"/>
                <a:ea typeface="Cambria"/>
                <a:cs typeface="Cambria"/>
                <a:sym typeface="Cambria"/>
              </a:rPr>
              <a:t>.</a:t>
            </a:r>
            <a:endParaRPr sz="1600">
              <a:latin typeface="Cambria"/>
              <a:ea typeface="Cambria"/>
              <a:cs typeface="Cambria"/>
              <a:sym typeface="Cambria"/>
            </a:endParaRPr>
          </a:p>
          <a:p>
            <a:pPr indent="0" lvl="0" marL="0" rtl="0" algn="l">
              <a:lnSpc>
                <a:spcPct val="100000"/>
              </a:lnSpc>
              <a:spcBef>
                <a:spcPts val="480"/>
              </a:spcBef>
              <a:spcAft>
                <a:spcPts val="0"/>
              </a:spcAft>
              <a:buNone/>
            </a:pPr>
            <a:r>
              <a:t/>
            </a:r>
            <a:endParaRPr sz="11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6"/>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