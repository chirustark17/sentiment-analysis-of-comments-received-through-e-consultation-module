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659C2F9-D534-4008-8892-EBE040E4BA51}">
  <a:tblStyle styleId="{B659C2F9-D534-4008-8892-EBE040E4BA51}" styleName="Table_0">
    <a:wholeTbl>
      <a:tcTxStyle b="off" i="off">
        <a:font>
          <a:latin typeface="Bookman Old Style"/>
          <a:ea typeface="Bookman Old Style"/>
          <a:cs typeface="Bookman Old Style"/>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BB19511-5B75-4417-A755-AB84F80E17D2}"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c4003a5b05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g3c4003a5b05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c4003a5b05_0_1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g3c4003a5b05_0_1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4003a5b05_0_2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c4003a5b05_0_2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4003a5b05_0_4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g3c4003a5b05_0_4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4003a5b05_0_5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g3c4003a5b05_0_5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4003a5b05_0_5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3c4003a5b05_0_5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050877" y="1322386"/>
            <a:ext cx="10363200" cy="1470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 type="subTitle"/>
          </p:nvPr>
        </p:nvSpPr>
        <p:spPr>
          <a:xfrm>
            <a:off x="2032000" y="3326641"/>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00"/>
              </a:spcBef>
              <a:spcAft>
                <a:spcPts val="0"/>
              </a:spcAft>
              <a:buClr>
                <a:srgbClr val="17365D"/>
              </a:buClr>
              <a:buSzPts val="2000"/>
              <a:buNone/>
              <a:defRPr b="1" sz="2000">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solidFill>
                  <a:schemeClr val="dk1"/>
                </a:solidFill>
              </a:defRPr>
            </a:lvl1pPr>
            <a:lvl2pPr indent="-355600" lvl="1" marL="914400" algn="l">
              <a:lnSpc>
                <a:spcPct val="100000"/>
              </a:lnSpc>
              <a:spcBef>
                <a:spcPts val="400"/>
              </a:spcBef>
              <a:spcAft>
                <a:spcPts val="0"/>
              </a:spcAft>
              <a:buClr>
                <a:schemeClr val="dk1"/>
              </a:buClr>
              <a:buSzPts val="2000"/>
              <a:buChar char="–"/>
              <a:defRPr>
                <a:solidFill>
                  <a:schemeClr val="dk1"/>
                </a:solidFill>
              </a:defRPr>
            </a:lvl2pPr>
            <a:lvl3pPr indent="-342900" lvl="2" marL="1371600" algn="l">
              <a:lnSpc>
                <a:spcPct val="100000"/>
              </a:lnSpc>
              <a:spcBef>
                <a:spcPts val="360"/>
              </a:spcBef>
              <a:spcAft>
                <a:spcPts val="0"/>
              </a:spcAft>
              <a:buClr>
                <a:schemeClr val="dk1"/>
              </a:buClr>
              <a:buSzPts val="1800"/>
              <a:buChar char="•"/>
              <a:defRPr>
                <a:solidFill>
                  <a:schemeClr val="dk1"/>
                </a:solidFill>
              </a:defRPr>
            </a:lvl3pPr>
            <a:lvl4pPr indent="-330200" lvl="3" marL="1828800" algn="l">
              <a:lnSpc>
                <a:spcPct val="100000"/>
              </a:lnSpc>
              <a:spcBef>
                <a:spcPts val="320"/>
              </a:spcBef>
              <a:spcAft>
                <a:spcPts val="0"/>
              </a:spcAft>
              <a:buClr>
                <a:schemeClr val="dk1"/>
              </a:buClr>
              <a:buSzPts val="1600"/>
              <a:buChar char="–"/>
              <a:defRPr>
                <a:solidFill>
                  <a:schemeClr val="dk1"/>
                </a:solidFill>
              </a:defRPr>
            </a:lvl4pPr>
            <a:lvl5pPr indent="-330200" lvl="4" marL="2286000" algn="l">
              <a:lnSpc>
                <a:spcPct val="100000"/>
              </a:lnSpc>
              <a:spcBef>
                <a:spcPts val="320"/>
              </a:spcBef>
              <a:spcAft>
                <a:spcPts val="0"/>
              </a:spcAft>
              <a:buClr>
                <a:schemeClr val="dk1"/>
              </a:buClr>
              <a:buSzPts val="1600"/>
              <a:buChar char="»"/>
              <a:defRPr>
                <a:solidFill>
                  <a:schemeClr val="dk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963084" y="4406903"/>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0000"/>
              </a:buClr>
              <a:buSzPts val="4000"/>
              <a:buFont typeface="Verdana"/>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4"/>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609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5"/>
          <p:cNvSpPr txBox="1"/>
          <p:nvPr>
            <p:ph idx="2" type="body"/>
          </p:nvPr>
        </p:nvSpPr>
        <p:spPr>
          <a:xfrm>
            <a:off x="6197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5"/>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6"/>
          <p:cNvSpPr txBox="1"/>
          <p:nvPr>
            <p:ph type="title"/>
          </p:nvPr>
        </p:nvSpPr>
        <p:spPr>
          <a:xfrm>
            <a:off x="859368" y="304800"/>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3" type="body"/>
          </p:nvPr>
        </p:nvSpPr>
        <p:spPr>
          <a:xfrm>
            <a:off x="6193369"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
          <p:cNvSpPr txBox="1"/>
          <p:nvPr>
            <p:ph idx="4" type="body"/>
          </p:nvPr>
        </p:nvSpPr>
        <p:spPr>
          <a:xfrm>
            <a:off x="6193369"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860800" y="274638"/>
            <a:ext cx="77217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pic>
        <p:nvPicPr>
          <p:cNvPr descr="C:\Users\AMMU\Desktop\Border.png" id="52" name="Google Shape;52;p7"/>
          <p:cNvPicPr preferRelativeResize="0"/>
          <p:nvPr/>
        </p:nvPicPr>
        <p:blipFill rotWithShape="1">
          <a:blip r:embed="rId2">
            <a:alphaModFix/>
          </a:blip>
          <a:srcRect b="0" l="0" r="0" t="0"/>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9"/>
          <p:cNvSpPr txBox="1"/>
          <p:nvPr>
            <p:ph type="title"/>
          </p:nvPr>
        </p:nvSpPr>
        <p:spPr>
          <a:xfrm>
            <a:off x="609602"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 type="body"/>
          </p:nvPr>
        </p:nvSpPr>
        <p:spPr>
          <a:xfrm>
            <a:off x="4766733" y="273053"/>
            <a:ext cx="6815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0" name="Google Shape;60;p9"/>
          <p:cNvSpPr txBox="1"/>
          <p:nvPr>
            <p:ph idx="2" type="body"/>
          </p:nvPr>
        </p:nvSpPr>
        <p:spPr>
          <a:xfrm>
            <a:off x="609602" y="1435103"/>
            <a:ext cx="40110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1" name="Google Shape;61;p9"/>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p:nvPr>
            <p:ph idx="2" type="pic"/>
          </p:nvPr>
        </p:nvSpPr>
        <p:spPr>
          <a:xfrm>
            <a:off x="2389717" y="612775"/>
            <a:ext cx="7315200" cy="4114800"/>
          </a:xfrm>
          <a:prstGeom prst="rect">
            <a:avLst/>
          </a:prstGeom>
          <a:noFill/>
          <a:ln>
            <a:noFill/>
          </a:ln>
        </p:spPr>
      </p:sp>
      <p:sp>
        <p:nvSpPr>
          <p:cNvPr id="67" name="Google Shape;67;p10"/>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10"/>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 type="body"/>
          </p:nvPr>
        </p:nvSpPr>
        <p:spPr>
          <a:xfrm rot="5400000">
            <a:off x="3670300" y="-1714499"/>
            <a:ext cx="4953000" cy="10668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 name="Google Shape;74;p1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2"/>
          <p:cNvSpPr txBox="1"/>
          <p:nvPr>
            <p:ph type="title"/>
          </p:nvPr>
        </p:nvSpPr>
        <p:spPr>
          <a:xfrm rot="5400000">
            <a:off x="7285050" y="1828791"/>
            <a:ext cx="5851500" cy="2743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 type="body"/>
          </p:nvPr>
        </p:nvSpPr>
        <p:spPr>
          <a:xfrm rot="5400000">
            <a:off x="1697000" y="-812859"/>
            <a:ext cx="5851500" cy="80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1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FF0000"/>
              </a:buClr>
              <a:buSzPts val="2800"/>
              <a:buFont typeface="Verdana"/>
              <a:buNone/>
              <a:defRPr b="1" i="0" sz="2800" u="none" cap="none" strike="noStrike">
                <a:solidFill>
                  <a:srgbClr val="FF0000"/>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9pPr>
          </a:lstStyle>
          <a:p/>
        </p:txBody>
      </p:sp>
      <p:sp>
        <p:nvSpPr>
          <p:cNvPr id="8" name="Google Shape;8;p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9" name="Google Shape;9;p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10" name="Google Shape;10;p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IN"/>
              <a:t>‹#›</a:t>
            </a:fld>
            <a:endParaRPr/>
          </a:p>
        </p:txBody>
      </p:sp>
      <p:cxnSp>
        <p:nvCxnSpPr>
          <p:cNvPr id="11" name="Google Shape;11;p1"/>
          <p:cNvCxnSpPr/>
          <p:nvPr/>
        </p:nvCxnSpPr>
        <p:spPr>
          <a:xfrm>
            <a:off x="812800" y="914400"/>
            <a:ext cx="10668000" cy="0"/>
          </a:xfrm>
          <a:prstGeom prst="straightConnector1">
            <a:avLst/>
          </a:prstGeom>
          <a:noFill/>
          <a:ln cap="flat" cmpd="thickThin" w="57150">
            <a:solidFill>
              <a:schemeClr val="dk1"/>
            </a:solidFill>
            <a:prstDash val="solid"/>
            <a:round/>
            <a:headEnd len="sm" w="sm" type="none"/>
            <a:tailEnd len="sm" w="sm" type="none"/>
          </a:ln>
        </p:spPr>
      </p:cxnSp>
      <p:pic>
        <p:nvPicPr>
          <p:cNvPr id="12" name="Google Shape;12;p1"/>
          <p:cNvPicPr preferRelativeResize="0"/>
          <p:nvPr/>
        </p:nvPicPr>
        <p:blipFill rotWithShape="1">
          <a:blip r:embed="rId1">
            <a:alphaModFix/>
          </a:blip>
          <a:srcRect b="18045" l="0" r="0" t="0"/>
          <a:stretch/>
        </p:blipFill>
        <p:spPr>
          <a:xfrm>
            <a:off x="0" y="5991366"/>
            <a:ext cx="12192001" cy="8666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www.fcc.gov" TargetMode="External"/><Relationship Id="rId4" Type="http://schemas.openxmlformats.org/officeDocument/2006/relationships/hyperlink" Target="https://www.fcc.gov" TargetMode="External"/><Relationship Id="rId5" Type="http://schemas.openxmlformats.org/officeDocument/2006/relationships/hyperlink" Target="https://www.fcc.gov"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90469" y="1069102"/>
            <a:ext cx="10363200" cy="96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800"/>
              <a:buNone/>
            </a:pPr>
            <a:r>
              <a:rPr lang="en-IN" sz="2200">
                <a:solidFill>
                  <a:srgbClr val="212529"/>
                </a:solidFill>
                <a:highlight>
                  <a:srgbClr val="FFFFFF"/>
                </a:highlight>
                <a:latin typeface="Cambria"/>
                <a:ea typeface="Cambria"/>
                <a:cs typeface="Cambria"/>
                <a:sym typeface="Cambria"/>
              </a:rPr>
              <a:t>Sentiment analysis of comments received through E-consultation module</a:t>
            </a:r>
            <a:endParaRPr sz="3600">
              <a:solidFill>
                <a:schemeClr val="dk1"/>
              </a:solidFill>
              <a:latin typeface="Cambria"/>
              <a:ea typeface="Cambria"/>
              <a:cs typeface="Cambria"/>
              <a:sym typeface="Cambria"/>
            </a:endParaRPr>
          </a:p>
        </p:txBody>
      </p:sp>
      <p:sp>
        <p:nvSpPr>
          <p:cNvPr id="88" name="Google Shape;88;p13"/>
          <p:cNvSpPr txBox="1"/>
          <p:nvPr>
            <p:ph idx="1" type="subTitle"/>
          </p:nvPr>
        </p:nvSpPr>
        <p:spPr>
          <a:xfrm>
            <a:off x="790468" y="2100777"/>
            <a:ext cx="4391100" cy="55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17365D"/>
              </a:buClr>
              <a:buSzPts val="2000"/>
              <a:buNone/>
            </a:pPr>
            <a:r>
              <a:rPr lang="en-IN" sz="1800">
                <a:latin typeface="Cambria"/>
                <a:ea typeface="Cambria"/>
                <a:cs typeface="Cambria"/>
                <a:sym typeface="Cambria"/>
              </a:rPr>
              <a:t>Batch Number:  CSD_8</a:t>
            </a:r>
            <a:endParaRPr sz="1800">
              <a:latin typeface="Cambria"/>
              <a:ea typeface="Cambria"/>
              <a:cs typeface="Cambria"/>
              <a:sym typeface="Cambria"/>
            </a:endParaRPr>
          </a:p>
        </p:txBody>
      </p:sp>
      <p:sp>
        <p:nvSpPr>
          <p:cNvPr id="89" name="Google Shape;89;p13"/>
          <p:cNvSpPr txBox="1"/>
          <p:nvPr/>
        </p:nvSpPr>
        <p:spPr>
          <a:xfrm>
            <a:off x="6480195" y="2513340"/>
            <a:ext cx="5514300" cy="2020500"/>
          </a:xfrm>
          <a:prstGeom prst="rect">
            <a:avLst/>
          </a:prstGeom>
          <a:noFill/>
          <a:ln>
            <a:noFill/>
          </a:ln>
        </p:spPr>
        <p:txBody>
          <a:bodyPr anchorCtr="0" anchor="t" bIns="45700" lIns="91425" spcFirstLastPara="1" rIns="91425" wrap="square" tIns="45700">
            <a:normAutofit lnSpcReduction="20000"/>
          </a:bodyPr>
          <a:lstStyle/>
          <a:p>
            <a:pPr indent="0" lvl="0" marL="0" marR="0" rtl="0" algn="ctr">
              <a:lnSpc>
                <a:spcPct val="100000"/>
              </a:lnSpc>
              <a:spcBef>
                <a:spcPts val="0"/>
              </a:spcBef>
              <a:spcAft>
                <a:spcPts val="0"/>
              </a:spcAft>
              <a:buClr>
                <a:srgbClr val="17365D"/>
              </a:buClr>
              <a:buSzPts val="2000"/>
              <a:buFont typeface="Arial"/>
              <a:buNone/>
            </a:pPr>
            <a:r>
              <a:rPr b="1" i="0" lang="en-IN" sz="1800" u="none" cap="none" strike="noStrike">
                <a:solidFill>
                  <a:srgbClr val="17365D"/>
                </a:solidFill>
                <a:latin typeface="Cambria"/>
                <a:ea typeface="Cambria"/>
                <a:cs typeface="Cambria"/>
                <a:sym typeface="Cambria"/>
              </a:rPr>
              <a:t>Under the Supervision of,</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a:p>
            <a:pPr indent="0" lvl="0" marL="0" marR="0" rtl="0" algn="ctr">
              <a:lnSpc>
                <a:spcPct val="100000"/>
              </a:lnSpc>
              <a:spcBef>
                <a:spcPts val="340"/>
              </a:spcBef>
              <a:spcAft>
                <a:spcPts val="0"/>
              </a:spcAft>
              <a:buClr>
                <a:srgbClr val="17365D"/>
              </a:buClr>
              <a:buSzPts val="1700"/>
              <a:buFont typeface="Arial"/>
              <a:buNone/>
            </a:pPr>
            <a:r>
              <a:rPr b="1" i="0" lang="en-IN" sz="1700" u="none" cap="none" strike="noStrike">
                <a:solidFill>
                  <a:srgbClr val="17365D"/>
                </a:solidFill>
                <a:latin typeface="Cambria"/>
                <a:ea typeface="Cambria"/>
                <a:cs typeface="Cambria"/>
                <a:sym typeface="Cambria"/>
              </a:rPr>
              <a:t>Mr. Anand Haridas</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340"/>
              </a:spcBef>
              <a:spcAft>
                <a:spcPts val="0"/>
              </a:spcAft>
              <a:buClr>
                <a:srgbClr val="17365D"/>
              </a:buClr>
              <a:buSzPts val="1700"/>
              <a:buFont typeface="Arial"/>
              <a:buNone/>
            </a:pPr>
            <a:r>
              <a:rPr b="1" i="0" lang="en-IN" sz="1700" u="none" cap="none" strike="noStrike">
                <a:solidFill>
                  <a:srgbClr val="17365D"/>
                </a:solidFill>
                <a:latin typeface="Cambria"/>
                <a:ea typeface="Cambria"/>
                <a:cs typeface="Cambria"/>
                <a:sym typeface="Cambria"/>
              </a:rPr>
              <a:t>Assistant Professor</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340"/>
              </a:spcBef>
              <a:spcAft>
                <a:spcPts val="0"/>
              </a:spcAft>
              <a:buClr>
                <a:srgbClr val="17365D"/>
              </a:buClr>
              <a:buSzPts val="1700"/>
              <a:buFont typeface="Arial"/>
              <a:buNone/>
            </a:pPr>
            <a:r>
              <a:rPr b="1" i="0" lang="en-IN" sz="1700" u="none" cap="none" strike="noStrike">
                <a:solidFill>
                  <a:srgbClr val="17365D"/>
                </a:solidFill>
                <a:latin typeface="Cambria"/>
                <a:ea typeface="Cambria"/>
                <a:cs typeface="Cambria"/>
                <a:sym typeface="Cambria"/>
              </a:rPr>
              <a:t>School of Computer Science and Engineering</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340"/>
              </a:spcBef>
              <a:spcAft>
                <a:spcPts val="0"/>
              </a:spcAft>
              <a:buClr>
                <a:srgbClr val="17365D"/>
              </a:buClr>
              <a:buSzPts val="1700"/>
              <a:buFont typeface="Arial"/>
              <a:buNone/>
            </a:pPr>
            <a:r>
              <a:rPr b="1" i="0" lang="en-IN" sz="1700" u="none" cap="none" strike="noStrike">
                <a:solidFill>
                  <a:srgbClr val="17365D"/>
                </a:solidFill>
                <a:latin typeface="Cambria"/>
                <a:ea typeface="Cambria"/>
                <a:cs typeface="Cambria"/>
                <a:sym typeface="Cambria"/>
              </a:rPr>
              <a:t>Presidency University</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p:txBody>
      </p:sp>
      <p:graphicFrame>
        <p:nvGraphicFramePr>
          <p:cNvPr id="90" name="Google Shape;90;p13"/>
          <p:cNvGraphicFramePr/>
          <p:nvPr/>
        </p:nvGraphicFramePr>
        <p:xfrm>
          <a:off x="197505" y="2721840"/>
          <a:ext cx="3000000" cy="3000000"/>
        </p:xfrm>
        <a:graphic>
          <a:graphicData uri="http://schemas.openxmlformats.org/drawingml/2006/table">
            <a:tbl>
              <a:tblPr bandRow="1" firstRow="1">
                <a:noFill/>
                <a:tableStyleId>{B659C2F9-D534-4008-8892-EBE040E4BA51}</a:tableStyleId>
              </a:tblPr>
              <a:tblGrid>
                <a:gridCol w="2221925"/>
                <a:gridCol w="3552600"/>
              </a:tblGrid>
              <a:tr h="283500">
                <a:tc>
                  <a:txBody>
                    <a:bodyPr/>
                    <a:lstStyle/>
                    <a:p>
                      <a:pPr indent="0" lvl="1" marL="0" marR="0" rtl="0" algn="ctr">
                        <a:lnSpc>
                          <a:spcPct val="100000"/>
                        </a:lnSpc>
                        <a:spcBef>
                          <a:spcPts val="0"/>
                        </a:spcBef>
                        <a:spcAft>
                          <a:spcPts val="0"/>
                        </a:spcAft>
                        <a:buClr>
                          <a:srgbClr val="000000"/>
                        </a:buClr>
                        <a:buSzPts val="1800"/>
                        <a:buFont typeface="Arial"/>
                        <a:buNone/>
                      </a:pPr>
                      <a:r>
                        <a:rPr b="1" lang="en-IN" sz="1800" u="none" cap="none" strike="noStrike">
                          <a:solidFill>
                            <a:srgbClr val="17365D"/>
                          </a:solidFill>
                        </a:rPr>
                        <a:t>Roll Number</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IN" sz="1800" u="none" cap="none" strike="noStrike">
                          <a:solidFill>
                            <a:srgbClr val="17365D"/>
                          </a:solidFill>
                        </a:rPr>
                        <a:t>Student Name</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3500">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20221CSD0134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CHIRAG K S</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3500">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20221CSD0133</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ARJUN ATHREY</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3500">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20221CSD0145</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SRUSHTI S GOLAPPANAVAR</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35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350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3"/>
          <p:cNvSpPr txBox="1"/>
          <p:nvPr/>
        </p:nvSpPr>
        <p:spPr>
          <a:xfrm>
            <a:off x="2832225" y="136441"/>
            <a:ext cx="5499000" cy="72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310"/>
              </a:spcBef>
              <a:spcAft>
                <a:spcPts val="0"/>
              </a:spcAft>
              <a:buClr>
                <a:srgbClr val="17365D"/>
              </a:buClr>
              <a:buSzPts val="1800"/>
              <a:buFont typeface="Arial"/>
              <a:buNone/>
            </a:pPr>
            <a:r>
              <a:rPr b="1" i="0" lang="en-IN" sz="1800" u="none" cap="none" strike="noStrike">
                <a:solidFill>
                  <a:srgbClr val="17365D"/>
                </a:solidFill>
                <a:latin typeface="Cambria"/>
                <a:ea typeface="Cambria"/>
                <a:cs typeface="Cambria"/>
                <a:sym typeface="Cambria"/>
              </a:rPr>
              <a:t>Review-1</a:t>
            </a:r>
            <a:endParaRPr b="1" i="0" sz="1800" u="none" cap="none" strike="noStrike">
              <a:solidFill>
                <a:srgbClr val="17365D"/>
              </a:solidFill>
              <a:latin typeface="Cambria"/>
              <a:ea typeface="Cambria"/>
              <a:cs typeface="Cambria"/>
              <a:sym typeface="Cambria"/>
            </a:endParaRPr>
          </a:p>
        </p:txBody>
      </p:sp>
      <p:sp>
        <p:nvSpPr>
          <p:cNvPr id="92" name="Google Shape;92;p13"/>
          <p:cNvSpPr txBox="1"/>
          <p:nvPr/>
        </p:nvSpPr>
        <p:spPr>
          <a:xfrm>
            <a:off x="0" y="4533900"/>
            <a:ext cx="12249900" cy="15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accent1"/>
                </a:solidFill>
                <a:latin typeface="Cambria"/>
                <a:ea typeface="Cambria"/>
                <a:cs typeface="Cambria"/>
                <a:sym typeface="Cambria"/>
              </a:rPr>
              <a:t>Name of the Program: </a:t>
            </a:r>
            <a:r>
              <a:rPr b="1" i="0" lang="en-IN" sz="1800" u="none" cap="none" strike="noStrike">
                <a:solidFill>
                  <a:schemeClr val="dk1"/>
                </a:solidFill>
                <a:latin typeface="Cambria"/>
                <a:ea typeface="Cambria"/>
                <a:cs typeface="Cambria"/>
                <a:sym typeface="Cambria"/>
              </a:rPr>
              <a:t>B.Tech  (Computer Science and Engineering{DATA SCIENCE})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17365D"/>
              </a:buClr>
              <a:buSzPts val="1800"/>
              <a:buFont typeface="Arial"/>
              <a:buNone/>
            </a:pPr>
            <a:r>
              <a:rPr b="1" i="0" lang="en-IN" sz="1800" u="none" cap="none" strike="noStrike">
                <a:solidFill>
                  <a:schemeClr val="accent1"/>
                </a:solidFill>
                <a:latin typeface="Cambria"/>
                <a:ea typeface="Cambria"/>
                <a:cs typeface="Cambria"/>
                <a:sym typeface="Cambria"/>
              </a:rPr>
              <a:t>Name of the HoD: </a:t>
            </a:r>
            <a:r>
              <a:rPr b="1" i="0" lang="en-IN" sz="1800" u="none" cap="none" strike="noStrike">
                <a:solidFill>
                  <a:schemeClr val="dk1"/>
                </a:solidFill>
                <a:latin typeface="Cambria"/>
                <a:ea typeface="Cambria"/>
                <a:cs typeface="Cambria"/>
                <a:sym typeface="Cambria"/>
              </a:rPr>
              <a:t>Dr. Pravinthraja S</a:t>
            </a:r>
            <a:endParaRPr b="1" i="0" sz="1800" u="none" cap="none" strike="noStrike">
              <a:solidFill>
                <a:srgbClr val="FF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accent1"/>
                </a:solidFill>
                <a:latin typeface="Cambria"/>
                <a:ea typeface="Cambria"/>
                <a:cs typeface="Cambria"/>
                <a:sym typeface="Cambria"/>
              </a:rPr>
              <a:t>Name of the Program Project Coordinator: </a:t>
            </a:r>
            <a:r>
              <a:rPr b="1" i="0" lang="en-IN" sz="1800" u="none" cap="none" strike="noStrike">
                <a:solidFill>
                  <a:schemeClr val="dk1"/>
                </a:solidFill>
                <a:latin typeface="Cambria"/>
                <a:ea typeface="Cambria"/>
                <a:cs typeface="Cambria"/>
                <a:sym typeface="Cambria"/>
              </a:rPr>
              <a:t>Dr. H M Manjula</a:t>
            </a:r>
            <a:endParaRPr b="1" i="0" sz="1800" u="none" cap="none" strike="noStrike">
              <a:solidFill>
                <a:schemeClr val="dk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accent1"/>
                </a:solidFill>
                <a:latin typeface="Cambria"/>
                <a:ea typeface="Cambria"/>
                <a:cs typeface="Cambria"/>
                <a:sym typeface="Cambria"/>
              </a:rPr>
              <a:t>Name of the School Project Coordinators: </a:t>
            </a:r>
            <a:r>
              <a:rPr b="1" i="0" lang="en-IN" sz="1800" u="none" cap="none" strike="noStrike">
                <a:solidFill>
                  <a:schemeClr val="dk1"/>
                </a:solidFill>
                <a:latin typeface="Cambria"/>
                <a:ea typeface="Cambria"/>
                <a:cs typeface="Cambria"/>
                <a:sym typeface="Cambria"/>
              </a:rPr>
              <a:t>Dr. Sampath A K , Dr. Geetha A </a:t>
            </a:r>
            <a:endParaRPr b="1" i="0" sz="1800" u="none" cap="none" strike="noStrike">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4"/>
          <p:cNvSpPr txBox="1"/>
          <p:nvPr>
            <p:ph type="title"/>
          </p:nvPr>
        </p:nvSpPr>
        <p:spPr>
          <a:xfrm>
            <a:off x="904240" y="274499"/>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IN">
                <a:latin typeface="Cambria"/>
                <a:ea typeface="Cambria"/>
                <a:cs typeface="Cambria"/>
                <a:sym typeface="Cambria"/>
              </a:rPr>
              <a:t>Problem Statement Number: 25035</a:t>
            </a:r>
            <a:endParaRPr>
              <a:latin typeface="Cambria"/>
              <a:ea typeface="Cambria"/>
              <a:cs typeface="Cambria"/>
              <a:sym typeface="Cambria"/>
            </a:endParaRPr>
          </a:p>
        </p:txBody>
      </p:sp>
      <p:sp>
        <p:nvSpPr>
          <p:cNvPr id="98" name="Google Shape;98;p14"/>
          <p:cNvSpPr txBox="1"/>
          <p:nvPr>
            <p:ph idx="1" type="body"/>
          </p:nvPr>
        </p:nvSpPr>
        <p:spPr>
          <a:xfrm>
            <a:off x="762000" y="1143001"/>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SzPts val="2595"/>
              <a:buNone/>
            </a:pPr>
            <a:r>
              <a:rPr b="1" lang="en-IN" sz="1700">
                <a:latin typeface="Cambria"/>
                <a:ea typeface="Cambria"/>
                <a:cs typeface="Cambria"/>
                <a:sym typeface="Cambria"/>
              </a:rPr>
              <a:t>Organization: Ministry of Corporate Affairs </a:t>
            </a:r>
            <a:r>
              <a:rPr b="1" lang="en-IN" sz="1700">
                <a:solidFill>
                  <a:srgbClr val="212529"/>
                </a:solidFill>
                <a:latin typeface="Cambria"/>
                <a:ea typeface="Cambria"/>
                <a:cs typeface="Cambria"/>
                <a:sym typeface="Cambria"/>
              </a:rPr>
              <a:t>(MoCA)</a:t>
            </a:r>
            <a:endParaRPr b="1" sz="1700">
              <a:latin typeface="Cambria"/>
              <a:ea typeface="Cambria"/>
              <a:cs typeface="Cambria"/>
              <a:sym typeface="Cambria"/>
            </a:endParaRPr>
          </a:p>
          <a:p>
            <a:pPr indent="-190500" lvl="0" marL="342900" rtl="0" algn="just">
              <a:lnSpc>
                <a:spcPct val="100000"/>
              </a:lnSpc>
              <a:spcBef>
                <a:spcPts val="0"/>
              </a:spcBef>
              <a:spcAft>
                <a:spcPts val="0"/>
              </a:spcAft>
              <a:buSzPts val="2595"/>
              <a:buNone/>
            </a:pPr>
            <a:r>
              <a:t/>
            </a:r>
            <a:endParaRPr b="1" sz="1700">
              <a:latin typeface="Cambria"/>
              <a:ea typeface="Cambria"/>
              <a:cs typeface="Cambria"/>
              <a:sym typeface="Cambria"/>
            </a:endParaRPr>
          </a:p>
          <a:p>
            <a:pPr indent="-190500" lvl="0" marL="342900" rtl="0" algn="just">
              <a:lnSpc>
                <a:spcPct val="100000"/>
              </a:lnSpc>
              <a:spcBef>
                <a:spcPts val="0"/>
              </a:spcBef>
              <a:spcAft>
                <a:spcPts val="0"/>
              </a:spcAft>
              <a:buSzPts val="2595"/>
              <a:buNone/>
            </a:pPr>
            <a:r>
              <a:rPr b="1" lang="en-IN" sz="1700">
                <a:latin typeface="Cambria"/>
                <a:ea typeface="Cambria"/>
                <a:cs typeface="Cambria"/>
                <a:sym typeface="Cambria"/>
              </a:rPr>
              <a:t>Category : Software</a:t>
            </a:r>
            <a:endParaRPr sz="1700">
              <a:latin typeface="Cambria"/>
              <a:ea typeface="Cambria"/>
              <a:cs typeface="Cambria"/>
              <a:sym typeface="Cambria"/>
            </a:endParaRPr>
          </a:p>
          <a:p>
            <a:pPr indent="-190500" lvl="0" marL="342900" rtl="0" algn="just">
              <a:lnSpc>
                <a:spcPct val="100000"/>
              </a:lnSpc>
              <a:spcBef>
                <a:spcPts val="0"/>
              </a:spcBef>
              <a:spcAft>
                <a:spcPts val="0"/>
              </a:spcAft>
              <a:buSzPts val="2595"/>
              <a:buNone/>
            </a:pPr>
            <a:r>
              <a:t/>
            </a:r>
            <a:endParaRPr b="1" sz="1700">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595"/>
              <a:buFont typeface="Arial"/>
              <a:buNone/>
            </a:pPr>
            <a:r>
              <a:rPr b="1" lang="en-IN" sz="1700">
                <a:latin typeface="Cambria"/>
                <a:ea typeface="Cambria"/>
                <a:cs typeface="Cambria"/>
                <a:sym typeface="Cambria"/>
              </a:rPr>
              <a:t>Problem Description: </a:t>
            </a:r>
            <a:endParaRPr b="1" sz="1700">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595"/>
              <a:buFont typeface="Arial"/>
              <a:buNone/>
            </a:pPr>
            <a:r>
              <a:t/>
            </a:r>
            <a:endParaRPr b="1" sz="1700">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595"/>
              <a:buFont typeface="Arial"/>
              <a:buNone/>
            </a:pPr>
            <a:r>
              <a:rPr lang="en-IN" sz="1700">
                <a:solidFill>
                  <a:srgbClr val="212529"/>
                </a:solidFill>
                <a:latin typeface="Cambria"/>
                <a:ea typeface="Cambria"/>
                <a:cs typeface="Cambria"/>
                <a:sym typeface="Cambria"/>
              </a:rPr>
              <a:t>   The draft document soliciting comments is made available for a specified period, during which any stakeholder may submit their observations either on the overall amendment or on specific provisions of the draft legislation. In instances where a substantial volume of comments is received on draft legislation, there exists a risk of certain observations being inadvertently overlooked or inadequately analysed. In order to review each individual submission, leveraging AI-assisted tools will help ensure that all remarks are duly considered and systematically analysed. Requirement is the development of an AI model aimed at predicting the sentiments of the suggestions provided by stakeholders in the eConsultation module. It should also generate a visual representation in the form of a word cloud, highlighting the keywords utilised by the stakeholders within their suggestions.</a:t>
            </a:r>
            <a:endParaRPr sz="1700">
              <a:latin typeface="Cambria"/>
              <a:ea typeface="Cambria"/>
              <a:cs typeface="Cambria"/>
              <a:sym typeface="Cambria"/>
            </a:endParaRPr>
          </a:p>
          <a:p>
            <a:pPr indent="-190500" lvl="0" marL="342900" rtl="0" algn="just">
              <a:lnSpc>
                <a:spcPct val="100000"/>
              </a:lnSpc>
              <a:spcBef>
                <a:spcPts val="0"/>
              </a:spcBef>
              <a:spcAft>
                <a:spcPts val="0"/>
              </a:spcAft>
              <a:buSzPts val="2595"/>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IN">
                <a:latin typeface="Cambria"/>
                <a:ea typeface="Cambria"/>
                <a:cs typeface="Cambria"/>
                <a:sym typeface="Cambria"/>
              </a:rPr>
              <a:t>Content</a:t>
            </a:r>
            <a:endParaRPr>
              <a:latin typeface="Cambria"/>
              <a:ea typeface="Cambria"/>
              <a:cs typeface="Cambria"/>
              <a:sym typeface="Cambria"/>
            </a:endParaRPr>
          </a:p>
        </p:txBody>
      </p:sp>
      <p:sp>
        <p:nvSpPr>
          <p:cNvPr id="104" name="Google Shape;104;p15"/>
          <p:cNvSpPr txBox="1"/>
          <p:nvPr>
            <p:ph idx="1" type="body"/>
          </p:nvPr>
        </p:nvSpPr>
        <p:spPr>
          <a:xfrm>
            <a:off x="655782" y="1466273"/>
            <a:ext cx="10668000" cy="3924299"/>
          </a:xfrm>
          <a:prstGeom prst="rect">
            <a:avLst/>
          </a:prstGeom>
          <a:noFill/>
          <a:ln>
            <a:noFill/>
          </a:ln>
        </p:spPr>
        <p:txBody>
          <a:bodyPr anchorCtr="0" anchor="t" bIns="45700" lIns="91425" spcFirstLastPara="1" rIns="91425" wrap="square" tIns="45700">
            <a:noAutofit/>
          </a:bodyPr>
          <a:lstStyle/>
          <a:p>
            <a:pPr indent="-337457" lvl="0" marL="495300" rtl="0" algn="just">
              <a:lnSpc>
                <a:spcPct val="115000"/>
              </a:lnSpc>
              <a:spcBef>
                <a:spcPts val="0"/>
              </a:spcBef>
              <a:spcAft>
                <a:spcPts val="0"/>
              </a:spcAft>
              <a:buSzPts val="2314"/>
              <a:buChar char="•"/>
            </a:pPr>
            <a:r>
              <a:rPr b="1" lang="en-IN" sz="1882">
                <a:latin typeface="Arial"/>
                <a:ea typeface="Arial"/>
                <a:cs typeface="Arial"/>
                <a:sym typeface="Arial"/>
              </a:rPr>
              <a:t>Problem Statement</a:t>
            </a:r>
            <a:endParaRPr b="1" sz="1979">
              <a:latin typeface="Arial"/>
              <a:ea typeface="Arial"/>
              <a:cs typeface="Arial"/>
              <a:sym typeface="Arial"/>
            </a:endParaRPr>
          </a:p>
          <a:p>
            <a:pPr indent="-337457" lvl="0" marL="495300" rtl="0" algn="just">
              <a:lnSpc>
                <a:spcPct val="115000"/>
              </a:lnSpc>
              <a:spcBef>
                <a:spcPts val="0"/>
              </a:spcBef>
              <a:spcAft>
                <a:spcPts val="0"/>
              </a:spcAft>
              <a:buSzPts val="2314"/>
              <a:buChar char="•"/>
            </a:pPr>
            <a:r>
              <a:rPr b="1" lang="en-IN" sz="1882">
                <a:latin typeface="Arial"/>
                <a:ea typeface="Arial"/>
                <a:cs typeface="Arial"/>
                <a:sym typeface="Arial"/>
              </a:rPr>
              <a:t>Objectives</a:t>
            </a:r>
            <a:endParaRPr b="1" sz="1979">
              <a:latin typeface="Arial"/>
              <a:ea typeface="Arial"/>
              <a:cs typeface="Arial"/>
              <a:sym typeface="Arial"/>
            </a:endParaRPr>
          </a:p>
          <a:p>
            <a:pPr indent="-337457" lvl="0" marL="495300" rtl="0" algn="just">
              <a:lnSpc>
                <a:spcPct val="115000"/>
              </a:lnSpc>
              <a:spcBef>
                <a:spcPts val="0"/>
              </a:spcBef>
              <a:spcAft>
                <a:spcPts val="0"/>
              </a:spcAft>
              <a:buSzPts val="2314"/>
              <a:buChar char="•"/>
            </a:pPr>
            <a:r>
              <a:rPr b="1" lang="en-IN" sz="1882">
                <a:latin typeface="Arial"/>
                <a:ea typeface="Arial"/>
                <a:cs typeface="Arial"/>
                <a:sym typeface="Arial"/>
              </a:rPr>
              <a:t>Analysis of Problem Statement</a:t>
            </a:r>
            <a:endParaRPr b="1" sz="1979">
              <a:latin typeface="Arial"/>
              <a:ea typeface="Arial"/>
              <a:cs typeface="Arial"/>
              <a:sym typeface="Arial"/>
            </a:endParaRPr>
          </a:p>
          <a:p>
            <a:pPr indent="-337457" lvl="0" marL="495300" rtl="0" algn="just">
              <a:lnSpc>
                <a:spcPct val="115000"/>
              </a:lnSpc>
              <a:spcBef>
                <a:spcPts val="0"/>
              </a:spcBef>
              <a:spcAft>
                <a:spcPts val="0"/>
              </a:spcAft>
              <a:buSzPts val="2314"/>
              <a:buChar char="•"/>
            </a:pPr>
            <a:r>
              <a:rPr b="1" lang="en-IN" sz="1882">
                <a:latin typeface="Arial"/>
                <a:ea typeface="Arial"/>
                <a:cs typeface="Arial"/>
                <a:sym typeface="Arial"/>
              </a:rPr>
              <a:t>Proposed method and feasibility study</a:t>
            </a:r>
            <a:endParaRPr b="1" sz="1979">
              <a:latin typeface="Arial"/>
              <a:ea typeface="Arial"/>
              <a:cs typeface="Arial"/>
              <a:sym typeface="Arial"/>
            </a:endParaRPr>
          </a:p>
          <a:p>
            <a:pPr indent="-337457" lvl="0" marL="495300" rtl="0" algn="just">
              <a:lnSpc>
                <a:spcPct val="115000"/>
              </a:lnSpc>
              <a:spcBef>
                <a:spcPts val="0"/>
              </a:spcBef>
              <a:spcAft>
                <a:spcPts val="0"/>
              </a:spcAft>
              <a:buSzPts val="2314"/>
              <a:buChar char="•"/>
            </a:pPr>
            <a:r>
              <a:rPr b="1" lang="en-IN" sz="1882">
                <a:latin typeface="Arial"/>
                <a:ea typeface="Arial"/>
                <a:cs typeface="Arial"/>
                <a:sym typeface="Arial"/>
              </a:rPr>
              <a:t>Literature review</a:t>
            </a:r>
            <a:endParaRPr b="1" sz="1979">
              <a:latin typeface="Arial"/>
              <a:ea typeface="Arial"/>
              <a:cs typeface="Arial"/>
              <a:sym typeface="Arial"/>
            </a:endParaRPr>
          </a:p>
          <a:p>
            <a:pPr indent="-337457" lvl="0" marL="495300" rtl="0" algn="just">
              <a:lnSpc>
                <a:spcPct val="115000"/>
              </a:lnSpc>
              <a:spcBef>
                <a:spcPts val="0"/>
              </a:spcBef>
              <a:spcAft>
                <a:spcPts val="0"/>
              </a:spcAft>
              <a:buSzPts val="2314"/>
              <a:buChar char="•"/>
            </a:pPr>
            <a:r>
              <a:rPr b="1" lang="en-IN" sz="1882">
                <a:latin typeface="Arial"/>
                <a:ea typeface="Arial"/>
                <a:cs typeface="Arial"/>
                <a:sym typeface="Arial"/>
              </a:rPr>
              <a:t>Architecture Diagram</a:t>
            </a:r>
            <a:endParaRPr b="1" sz="1979">
              <a:latin typeface="Arial"/>
              <a:ea typeface="Arial"/>
              <a:cs typeface="Arial"/>
              <a:sym typeface="Arial"/>
            </a:endParaRPr>
          </a:p>
          <a:p>
            <a:pPr indent="-337457" lvl="0" marL="495300" rtl="0" algn="just">
              <a:lnSpc>
                <a:spcPct val="115000"/>
              </a:lnSpc>
              <a:spcBef>
                <a:spcPts val="0"/>
              </a:spcBef>
              <a:spcAft>
                <a:spcPts val="0"/>
              </a:spcAft>
              <a:buSzPts val="2314"/>
              <a:buChar char="•"/>
            </a:pPr>
            <a:r>
              <a:rPr b="1" lang="en-IN" sz="1882">
                <a:latin typeface="Arial"/>
                <a:ea typeface="Arial"/>
                <a:cs typeface="Arial"/>
                <a:sym typeface="Arial"/>
              </a:rPr>
              <a:t>Git-hub Link</a:t>
            </a:r>
            <a:endParaRPr b="1" sz="1979">
              <a:latin typeface="Arial"/>
              <a:ea typeface="Arial"/>
              <a:cs typeface="Arial"/>
              <a:sym typeface="Arial"/>
            </a:endParaRPr>
          </a:p>
          <a:p>
            <a:pPr indent="-337457" lvl="0" marL="495300" rtl="0" algn="just">
              <a:lnSpc>
                <a:spcPct val="115000"/>
              </a:lnSpc>
              <a:spcBef>
                <a:spcPts val="0"/>
              </a:spcBef>
              <a:spcAft>
                <a:spcPts val="0"/>
              </a:spcAft>
              <a:buClr>
                <a:schemeClr val="dk1"/>
              </a:buClr>
              <a:buSzPts val="2314"/>
              <a:buChar char="•"/>
            </a:pPr>
            <a:r>
              <a:rPr b="1" lang="en-IN" sz="1882">
                <a:latin typeface="Arial"/>
                <a:ea typeface="Arial"/>
                <a:cs typeface="Arial"/>
                <a:sym typeface="Arial"/>
              </a:rPr>
              <a:t>Timeline of the Project</a:t>
            </a:r>
            <a:endParaRPr b="1" sz="1979">
              <a:latin typeface="Arial"/>
              <a:ea typeface="Arial"/>
              <a:cs typeface="Arial"/>
              <a:sym typeface="Arial"/>
            </a:endParaRPr>
          </a:p>
          <a:p>
            <a:pPr indent="-337457" lvl="0" marL="495300" rtl="0" algn="just">
              <a:lnSpc>
                <a:spcPct val="115000"/>
              </a:lnSpc>
              <a:spcBef>
                <a:spcPts val="0"/>
              </a:spcBef>
              <a:spcAft>
                <a:spcPts val="0"/>
              </a:spcAft>
              <a:buClr>
                <a:schemeClr val="dk1"/>
              </a:buClr>
              <a:buSzPts val="2314"/>
              <a:buChar char="•"/>
            </a:pPr>
            <a:r>
              <a:rPr b="1" lang="en-IN" sz="1882">
                <a:latin typeface="Arial"/>
                <a:ea typeface="Arial"/>
                <a:cs typeface="Arial"/>
                <a:sym typeface="Arial"/>
              </a:rPr>
              <a:t>References</a:t>
            </a:r>
            <a:endParaRPr b="1" sz="1979">
              <a:latin typeface="Arial"/>
              <a:ea typeface="Arial"/>
              <a:cs typeface="Arial"/>
              <a:sym typeface="Arial"/>
            </a:endParaRPr>
          </a:p>
          <a:p>
            <a:pPr indent="-190500" lvl="0" marL="495300" rtl="0" algn="just">
              <a:lnSpc>
                <a:spcPct val="115000"/>
              </a:lnSpc>
              <a:spcBef>
                <a:spcPts val="0"/>
              </a:spcBef>
              <a:spcAft>
                <a:spcPts val="0"/>
              </a:spcAft>
              <a:buClr>
                <a:schemeClr val="dk1"/>
              </a:buClr>
              <a:buSzPts val="1114"/>
              <a:buFont typeface="Noto Sans Symbols"/>
              <a:buNone/>
            </a:pPr>
            <a:r>
              <a:t/>
            </a:r>
            <a:endParaRPr b="1" sz="1979">
              <a:latin typeface="Arial"/>
              <a:ea typeface="Arial"/>
              <a:cs typeface="Arial"/>
              <a:sym typeface="Arial"/>
            </a:endParaRPr>
          </a:p>
          <a:p>
            <a:pPr indent="-190500" lvl="0" marL="495300" rtl="0" algn="just">
              <a:lnSpc>
                <a:spcPct val="115000"/>
              </a:lnSpc>
              <a:spcBef>
                <a:spcPts val="0"/>
              </a:spcBef>
              <a:spcAft>
                <a:spcPts val="0"/>
              </a:spcAft>
              <a:buClr>
                <a:schemeClr val="dk1"/>
              </a:buClr>
              <a:buSzPts val="1114"/>
              <a:buFont typeface="Noto Sans Symbols"/>
              <a:buNone/>
            </a:pPr>
            <a:r>
              <a:t/>
            </a:r>
            <a:endParaRPr b="1" sz="1979">
              <a:latin typeface="Arial"/>
              <a:ea typeface="Arial"/>
              <a:cs typeface="Arial"/>
              <a:sym typeface="Arial"/>
            </a:endParaRPr>
          </a:p>
          <a:p>
            <a:pPr indent="-190500" lvl="0" marL="495300" rtl="0" algn="just">
              <a:lnSpc>
                <a:spcPct val="115000"/>
              </a:lnSpc>
              <a:spcBef>
                <a:spcPts val="0"/>
              </a:spcBef>
              <a:spcAft>
                <a:spcPts val="0"/>
              </a:spcAft>
              <a:buClr>
                <a:schemeClr val="dk1"/>
              </a:buClr>
              <a:buSzPts val="1114"/>
              <a:buFont typeface="Noto Sans Symbols"/>
              <a:buNone/>
            </a:pPr>
            <a:r>
              <a:t/>
            </a:r>
            <a:endParaRPr b="1" sz="1979">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IN"/>
              <a:t>Objectives</a:t>
            </a:r>
            <a:endParaRPr/>
          </a:p>
        </p:txBody>
      </p:sp>
      <p:sp>
        <p:nvSpPr>
          <p:cNvPr id="110" name="Google Shape;110;p16"/>
          <p:cNvSpPr txBox="1"/>
          <p:nvPr>
            <p:ph idx="1" type="body"/>
          </p:nvPr>
        </p:nvSpPr>
        <p:spPr>
          <a:xfrm>
            <a:off x="812800" y="691675"/>
            <a:ext cx="10668000" cy="4981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t/>
            </a:r>
            <a:endParaRPr b="1" sz="1700">
              <a:latin typeface="Calibri"/>
              <a:ea typeface="Calibri"/>
              <a:cs typeface="Calibri"/>
              <a:sym typeface="Calibri"/>
            </a:endParaRPr>
          </a:p>
          <a:p>
            <a:pPr indent="-330200" lvl="0" marL="457200" rtl="0" algn="l">
              <a:lnSpc>
                <a:spcPct val="115000"/>
              </a:lnSpc>
              <a:spcBef>
                <a:spcPts val="1200"/>
              </a:spcBef>
              <a:spcAft>
                <a:spcPts val="0"/>
              </a:spcAft>
              <a:buSzPts val="1600"/>
              <a:buChar char="●"/>
            </a:pPr>
            <a:r>
              <a:rPr b="1" lang="en-IN" sz="1600">
                <a:latin typeface="Cambria"/>
                <a:ea typeface="Cambria"/>
                <a:cs typeface="Cambria"/>
                <a:sym typeface="Cambria"/>
              </a:rPr>
              <a:t>Automated Sentiment Classification:</a:t>
            </a:r>
            <a:r>
              <a:rPr lang="en-IN" sz="1600">
                <a:latin typeface="Cambria"/>
                <a:ea typeface="Cambria"/>
                <a:cs typeface="Cambria"/>
                <a:sym typeface="Cambria"/>
              </a:rPr>
              <a:t> Categorize each comment’s tone (positive/negative/neutral) to gauge public reaction.</a:t>
            </a:r>
            <a:br>
              <a:rPr lang="en-IN" sz="1600">
                <a:latin typeface="Cambria"/>
                <a:ea typeface="Cambria"/>
                <a:cs typeface="Cambria"/>
                <a:sym typeface="Cambria"/>
              </a:rPr>
            </a:br>
            <a:endParaRPr sz="1600">
              <a:latin typeface="Cambria"/>
              <a:ea typeface="Cambria"/>
              <a:cs typeface="Cambria"/>
              <a:sym typeface="Cambria"/>
            </a:endParaRPr>
          </a:p>
          <a:p>
            <a:pPr indent="-330200" lvl="0" marL="457200" rtl="0" algn="l">
              <a:lnSpc>
                <a:spcPct val="115000"/>
              </a:lnSpc>
              <a:spcBef>
                <a:spcPts val="0"/>
              </a:spcBef>
              <a:spcAft>
                <a:spcPts val="0"/>
              </a:spcAft>
              <a:buSzPts val="1600"/>
              <a:buChar char="●"/>
            </a:pPr>
            <a:r>
              <a:rPr b="1" lang="en-IN" sz="1600">
                <a:latin typeface="Cambria"/>
                <a:ea typeface="Cambria"/>
                <a:cs typeface="Cambria"/>
                <a:sym typeface="Cambria"/>
              </a:rPr>
              <a:t>Theme Extraction:</a:t>
            </a:r>
            <a:r>
              <a:rPr lang="en-IN" sz="1600">
                <a:latin typeface="Cambria"/>
                <a:ea typeface="Cambria"/>
                <a:cs typeface="Cambria"/>
                <a:sym typeface="Cambria"/>
              </a:rPr>
              <a:t> Identify frequently discussed topics and keywords (via topic modeling or keyword extraction).</a:t>
            </a:r>
            <a:br>
              <a:rPr lang="en-IN" sz="1600">
                <a:latin typeface="Cambria"/>
                <a:ea typeface="Cambria"/>
                <a:cs typeface="Cambria"/>
                <a:sym typeface="Cambria"/>
              </a:rPr>
            </a:br>
            <a:endParaRPr sz="1600">
              <a:latin typeface="Cambria"/>
              <a:ea typeface="Cambria"/>
              <a:cs typeface="Cambria"/>
              <a:sym typeface="Cambria"/>
            </a:endParaRPr>
          </a:p>
          <a:p>
            <a:pPr indent="-330200" lvl="0" marL="457200" rtl="0" algn="l">
              <a:lnSpc>
                <a:spcPct val="115000"/>
              </a:lnSpc>
              <a:spcBef>
                <a:spcPts val="0"/>
              </a:spcBef>
              <a:spcAft>
                <a:spcPts val="0"/>
              </a:spcAft>
              <a:buSzPts val="1600"/>
              <a:buChar char="●"/>
            </a:pPr>
            <a:r>
              <a:rPr b="1" lang="en-IN" sz="1600">
                <a:latin typeface="Cambria"/>
                <a:ea typeface="Cambria"/>
                <a:cs typeface="Cambria"/>
                <a:sym typeface="Cambria"/>
              </a:rPr>
              <a:t>Summarization:</a:t>
            </a:r>
            <a:r>
              <a:rPr lang="en-IN" sz="1600">
                <a:latin typeface="Cambria"/>
                <a:ea typeface="Cambria"/>
                <a:cs typeface="Cambria"/>
                <a:sym typeface="Cambria"/>
              </a:rPr>
              <a:t> Generate concise summaries of the feedback to highlight main concerns and suggestions.</a:t>
            </a:r>
            <a:br>
              <a:rPr lang="en-IN" sz="1600">
                <a:latin typeface="Cambria"/>
                <a:ea typeface="Cambria"/>
                <a:cs typeface="Cambria"/>
                <a:sym typeface="Cambria"/>
              </a:rPr>
            </a:br>
            <a:endParaRPr sz="1600">
              <a:latin typeface="Cambria"/>
              <a:ea typeface="Cambria"/>
              <a:cs typeface="Cambria"/>
              <a:sym typeface="Cambria"/>
            </a:endParaRPr>
          </a:p>
          <a:p>
            <a:pPr indent="-330200" lvl="0" marL="457200" rtl="0" algn="l">
              <a:lnSpc>
                <a:spcPct val="115000"/>
              </a:lnSpc>
              <a:spcBef>
                <a:spcPts val="0"/>
              </a:spcBef>
              <a:spcAft>
                <a:spcPts val="0"/>
              </a:spcAft>
              <a:buSzPts val="1600"/>
              <a:buChar char="●"/>
            </a:pPr>
            <a:r>
              <a:rPr b="1" lang="en-IN" sz="1600">
                <a:latin typeface="Cambria"/>
                <a:ea typeface="Cambria"/>
                <a:cs typeface="Cambria"/>
                <a:sym typeface="Cambria"/>
              </a:rPr>
              <a:t>Duplication Detection:</a:t>
            </a:r>
            <a:r>
              <a:rPr lang="en-IN" sz="1600">
                <a:latin typeface="Cambria"/>
                <a:ea typeface="Cambria"/>
                <a:cs typeface="Cambria"/>
                <a:sym typeface="Cambria"/>
              </a:rPr>
              <a:t> Find and cluster similar/identical comments to avoid redundant analysis.</a:t>
            </a:r>
            <a:br>
              <a:rPr lang="en-IN" sz="1600">
                <a:latin typeface="Cambria"/>
                <a:ea typeface="Cambria"/>
                <a:cs typeface="Cambria"/>
                <a:sym typeface="Cambria"/>
              </a:rPr>
            </a:br>
            <a:endParaRPr sz="1600">
              <a:latin typeface="Cambria"/>
              <a:ea typeface="Cambria"/>
              <a:cs typeface="Cambria"/>
              <a:sym typeface="Cambria"/>
            </a:endParaRPr>
          </a:p>
          <a:p>
            <a:pPr indent="-330200" lvl="0" marL="457200" rtl="0" algn="l">
              <a:lnSpc>
                <a:spcPct val="115000"/>
              </a:lnSpc>
              <a:spcBef>
                <a:spcPts val="0"/>
              </a:spcBef>
              <a:spcAft>
                <a:spcPts val="0"/>
              </a:spcAft>
              <a:buSzPts val="1600"/>
              <a:buChar char="●"/>
            </a:pPr>
            <a:r>
              <a:rPr b="1" lang="en-IN" sz="1600">
                <a:latin typeface="Cambria"/>
                <a:ea typeface="Cambria"/>
                <a:cs typeface="Cambria"/>
                <a:sym typeface="Cambria"/>
              </a:rPr>
              <a:t>Visualization:</a:t>
            </a:r>
            <a:r>
              <a:rPr lang="en-IN" sz="1600">
                <a:latin typeface="Cambria"/>
                <a:ea typeface="Cambria"/>
                <a:cs typeface="Cambria"/>
                <a:sym typeface="Cambria"/>
              </a:rPr>
              <a:t> Present results through intuitive charts and word clouds (e.g. word clouds for positive/negative terms).</a:t>
            </a:r>
            <a:br>
              <a:rPr lang="en-IN" sz="1600">
                <a:latin typeface="Cambria"/>
                <a:ea typeface="Cambria"/>
                <a:cs typeface="Cambria"/>
                <a:sym typeface="Cambria"/>
              </a:rPr>
            </a:br>
            <a:endParaRPr sz="1600">
              <a:latin typeface="Cambria"/>
              <a:ea typeface="Cambria"/>
              <a:cs typeface="Cambria"/>
              <a:sym typeface="Cambria"/>
            </a:endParaRPr>
          </a:p>
          <a:p>
            <a:pPr indent="-330200" lvl="0" marL="457200" rtl="0" algn="l">
              <a:lnSpc>
                <a:spcPct val="115000"/>
              </a:lnSpc>
              <a:spcBef>
                <a:spcPts val="0"/>
              </a:spcBef>
              <a:spcAft>
                <a:spcPts val="0"/>
              </a:spcAft>
              <a:buSzPts val="1600"/>
              <a:buChar char="●"/>
            </a:pPr>
            <a:r>
              <a:rPr b="1" lang="en-IN" sz="1600">
                <a:latin typeface="Cambria"/>
                <a:ea typeface="Cambria"/>
                <a:cs typeface="Cambria"/>
                <a:sym typeface="Cambria"/>
              </a:rPr>
              <a:t>Dashboard Reporting:</a:t>
            </a:r>
            <a:r>
              <a:rPr lang="en-IN" sz="1600">
                <a:latin typeface="Cambria"/>
                <a:ea typeface="Cambria"/>
                <a:cs typeface="Cambria"/>
                <a:sym typeface="Cambria"/>
              </a:rPr>
              <a:t> Deliver an interactive dashboard with sentiment distributions and drill-downs (per policy section or stakeholder group).</a:t>
            </a:r>
            <a:br>
              <a:rPr lang="en-IN" sz="1600">
                <a:latin typeface="Cambria"/>
                <a:ea typeface="Cambria"/>
                <a:cs typeface="Cambria"/>
                <a:sym typeface="Cambria"/>
              </a:rPr>
            </a:br>
            <a:endParaRPr sz="1600">
              <a:latin typeface="Cambria"/>
              <a:ea typeface="Cambria"/>
              <a:cs typeface="Cambria"/>
              <a:sym typeface="Cambria"/>
            </a:endParaRPr>
          </a:p>
          <a:p>
            <a:pPr indent="0" lvl="0" marL="76200" rtl="0" algn="l">
              <a:lnSpc>
                <a:spcPct val="100000"/>
              </a:lnSpc>
              <a:spcBef>
                <a:spcPts val="1200"/>
              </a:spcBef>
              <a:spcAft>
                <a:spcPts val="0"/>
              </a:spcAft>
              <a:buSzPts val="2400"/>
              <a:buNone/>
            </a:pPr>
            <a:r>
              <a:t/>
            </a:r>
            <a:endParaRPr sz="17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IN"/>
              <a:t>Analysis of Problem Statement</a:t>
            </a:r>
            <a:endParaRPr/>
          </a:p>
        </p:txBody>
      </p:sp>
      <p:sp>
        <p:nvSpPr>
          <p:cNvPr id="116" name="Google Shape;116;p17"/>
          <p:cNvSpPr txBox="1"/>
          <p:nvPr>
            <p:ph idx="1" type="body"/>
          </p:nvPr>
        </p:nvSpPr>
        <p:spPr>
          <a:xfrm>
            <a:off x="812800" y="952501"/>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IN" sz="1700">
                <a:latin typeface="Cambria"/>
                <a:ea typeface="Cambria"/>
                <a:cs typeface="Cambria"/>
                <a:sym typeface="Cambria"/>
              </a:rPr>
              <a:t>Analysis of Problem Statement</a:t>
            </a:r>
            <a:endParaRPr b="1" sz="1700">
              <a:latin typeface="Cambria"/>
              <a:ea typeface="Cambria"/>
              <a:cs typeface="Cambria"/>
              <a:sym typeface="Cambria"/>
            </a:endParaRPr>
          </a:p>
          <a:p>
            <a:pPr indent="-336550" lvl="0" marL="457200" rtl="0" algn="l">
              <a:lnSpc>
                <a:spcPct val="115000"/>
              </a:lnSpc>
              <a:spcBef>
                <a:spcPts val="1200"/>
              </a:spcBef>
              <a:spcAft>
                <a:spcPts val="0"/>
              </a:spcAft>
              <a:buSzPts val="1700"/>
              <a:buChar char="●"/>
            </a:pPr>
            <a:r>
              <a:rPr b="1" lang="en-IN" sz="1700">
                <a:latin typeface="Cambria"/>
                <a:ea typeface="Cambria"/>
                <a:cs typeface="Cambria"/>
                <a:sym typeface="Cambria"/>
              </a:rPr>
              <a:t>Scale:</a:t>
            </a:r>
            <a:r>
              <a:rPr lang="en-IN" sz="1700">
                <a:latin typeface="Cambria"/>
                <a:ea typeface="Cambria"/>
                <a:cs typeface="Cambria"/>
                <a:sym typeface="Cambria"/>
              </a:rPr>
              <a:t> The number of comments can range from hundreds (small consultations) to tens of thousands or more (nationwide policy). Processing such volume manually is impractical.</a:t>
            </a:r>
            <a:br>
              <a:rPr lang="en-IN"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IN" sz="1700">
                <a:latin typeface="Cambria"/>
                <a:ea typeface="Cambria"/>
                <a:cs typeface="Cambria"/>
                <a:sym typeface="Cambria"/>
              </a:rPr>
              <a:t>Granularity Needed:</a:t>
            </a:r>
            <a:r>
              <a:rPr lang="en-IN" sz="1700">
                <a:latin typeface="Cambria"/>
                <a:ea typeface="Cambria"/>
                <a:cs typeface="Cambria"/>
                <a:sym typeface="Cambria"/>
              </a:rPr>
              <a:t> Stakeholder feedback often spans multiple topics. For example, citizens might comment on distinct sections of a draft law; thus analysis must operate at multiple levels (overall sentiment </a:t>
            </a:r>
            <a:r>
              <a:rPr i="1" lang="en-IN" sz="1700">
                <a:latin typeface="Cambria"/>
                <a:ea typeface="Cambria"/>
                <a:cs typeface="Cambria"/>
                <a:sym typeface="Cambria"/>
              </a:rPr>
              <a:t>and</a:t>
            </a:r>
            <a:r>
              <a:rPr lang="en-IN" sz="1700">
                <a:latin typeface="Cambria"/>
                <a:ea typeface="Cambria"/>
                <a:cs typeface="Cambria"/>
                <a:sym typeface="Cambria"/>
              </a:rPr>
              <a:t> per-section/topic).</a:t>
            </a:r>
            <a:br>
              <a:rPr lang="en-IN"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IN" sz="1700">
                <a:latin typeface="Cambria"/>
                <a:ea typeface="Cambria"/>
                <a:cs typeface="Cambria"/>
                <a:sym typeface="Cambria"/>
              </a:rPr>
              <a:t>Text Variability:</a:t>
            </a:r>
            <a:r>
              <a:rPr lang="en-IN" sz="1700">
                <a:latin typeface="Cambria"/>
                <a:ea typeface="Cambria"/>
                <a:cs typeface="Cambria"/>
                <a:sym typeface="Cambria"/>
              </a:rPr>
              <a:t> Comments are free-form, vary in length/style, and may include technical or legal language. NLP preprocessing (tokenization, removing stopwords, handling misspellings) is crucial.</a:t>
            </a:r>
            <a:br>
              <a:rPr lang="en-IN"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IN" sz="1700">
                <a:latin typeface="Cambria"/>
                <a:ea typeface="Cambria"/>
                <a:cs typeface="Cambria"/>
                <a:sym typeface="Cambria"/>
              </a:rPr>
              <a:t>Noise and Duplicates:</a:t>
            </a:r>
            <a:r>
              <a:rPr lang="en-IN" sz="1700">
                <a:latin typeface="Cambria"/>
                <a:ea typeface="Cambria"/>
                <a:cs typeface="Cambria"/>
                <a:sym typeface="Cambria"/>
              </a:rPr>
              <a:t> Copy-pasted comments or bots can skew sentiment. The system must identify and deduplicate these (MCA faced 20K identical comments).</a:t>
            </a:r>
            <a:br>
              <a:rPr lang="en-IN" sz="1700">
                <a:latin typeface="Cambria"/>
                <a:ea typeface="Cambria"/>
                <a:cs typeface="Cambria"/>
                <a:sym typeface="Cambria"/>
              </a:rPr>
            </a:br>
            <a:endParaRPr sz="1700">
              <a:latin typeface="Cambria"/>
              <a:ea typeface="Cambria"/>
              <a:cs typeface="Cambria"/>
              <a:sym typeface="Cambria"/>
            </a:endParaRPr>
          </a:p>
          <a:p>
            <a:pPr indent="-336550" lvl="0" marL="457200" rtl="0" algn="l">
              <a:lnSpc>
                <a:spcPct val="115000"/>
              </a:lnSpc>
              <a:spcBef>
                <a:spcPts val="0"/>
              </a:spcBef>
              <a:spcAft>
                <a:spcPts val="0"/>
              </a:spcAft>
              <a:buSzPts val="1700"/>
              <a:buChar char="●"/>
            </a:pPr>
            <a:r>
              <a:rPr b="1" lang="en-IN" sz="1700">
                <a:latin typeface="Cambria"/>
                <a:ea typeface="Cambria"/>
                <a:cs typeface="Cambria"/>
                <a:sym typeface="Cambria"/>
              </a:rPr>
              <a:t>Timeliness:</a:t>
            </a:r>
            <a:r>
              <a:rPr lang="en-IN" sz="1700">
                <a:latin typeface="Cambria"/>
                <a:ea typeface="Cambria"/>
                <a:cs typeface="Cambria"/>
                <a:sym typeface="Cambria"/>
              </a:rPr>
              <a:t> Outputs must be delivered rapidly. Automated pipelines (versus manual review) can reduce turnaround from weeks to days.</a:t>
            </a:r>
            <a:endParaRPr sz="1700">
              <a:latin typeface="Cambria"/>
              <a:ea typeface="Cambria"/>
              <a:cs typeface="Cambria"/>
              <a:sym typeface="Cambria"/>
            </a:endParaRPr>
          </a:p>
          <a:p>
            <a:pPr indent="0" lvl="0" marL="76200" rtl="0" algn="l">
              <a:lnSpc>
                <a:spcPct val="100000"/>
              </a:lnSpc>
              <a:spcBef>
                <a:spcPts val="1200"/>
              </a:spcBef>
              <a:spcAft>
                <a:spcPts val="0"/>
              </a:spcAft>
              <a:buSzPts val="2400"/>
              <a:buNone/>
            </a:pPr>
            <a:r>
              <a:t/>
            </a:r>
            <a:endParaRPr sz="17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IN">
                <a:latin typeface="Cambria"/>
                <a:ea typeface="Cambria"/>
                <a:cs typeface="Cambria"/>
                <a:sym typeface="Cambria"/>
              </a:rPr>
              <a:t>Analysis of Problem Statement (contd...)</a:t>
            </a:r>
            <a:endParaRPr/>
          </a:p>
        </p:txBody>
      </p:sp>
      <p:sp>
        <p:nvSpPr>
          <p:cNvPr id="122" name="Google Shape;122;p18"/>
          <p:cNvSpPr txBox="1"/>
          <p:nvPr>
            <p:ph idx="1" type="body"/>
          </p:nvPr>
        </p:nvSpPr>
        <p:spPr>
          <a:xfrm>
            <a:off x="706582" y="1115339"/>
            <a:ext cx="10312800" cy="5571900"/>
          </a:xfrm>
          <a:prstGeom prst="rect">
            <a:avLst/>
          </a:prstGeom>
          <a:noFill/>
          <a:ln>
            <a:noFill/>
          </a:ln>
        </p:spPr>
        <p:txBody>
          <a:bodyPr anchorCtr="0" anchor="ctr" bIns="45700" lIns="91425" spcFirstLastPara="1" rIns="91425" wrap="square" tIns="0">
            <a:spAutoFit/>
          </a:bodyPr>
          <a:lstStyle/>
          <a:p>
            <a:pPr indent="0" lvl="0" marL="0" rtl="0" algn="l">
              <a:lnSpc>
                <a:spcPct val="100000"/>
              </a:lnSpc>
              <a:spcBef>
                <a:spcPts val="1400"/>
              </a:spcBef>
              <a:spcAft>
                <a:spcPts val="0"/>
              </a:spcAft>
              <a:buClr>
                <a:schemeClr val="dk1"/>
              </a:buClr>
              <a:buSzPts val="1100"/>
              <a:buFont typeface="Arial"/>
              <a:buNone/>
            </a:pPr>
            <a:r>
              <a:rPr b="1" lang="en-IN" sz="1700">
                <a:latin typeface="Cambria"/>
                <a:ea typeface="Cambria"/>
                <a:cs typeface="Cambria"/>
                <a:sym typeface="Cambria"/>
              </a:rPr>
              <a:t>Technology Stack Used</a:t>
            </a:r>
            <a:endParaRPr b="1" sz="1700">
              <a:latin typeface="Cambria"/>
              <a:ea typeface="Cambria"/>
              <a:cs typeface="Cambria"/>
              <a:sym typeface="Cambria"/>
            </a:endParaRPr>
          </a:p>
          <a:p>
            <a:pPr indent="0" lvl="0" marL="0" rtl="0" algn="l">
              <a:lnSpc>
                <a:spcPct val="100000"/>
              </a:lnSpc>
              <a:spcBef>
                <a:spcPts val="1200"/>
              </a:spcBef>
              <a:spcAft>
                <a:spcPts val="0"/>
              </a:spcAft>
              <a:buClr>
                <a:schemeClr val="dk1"/>
              </a:buClr>
              <a:buSzPts val="1100"/>
              <a:buFont typeface="Arial"/>
              <a:buNone/>
            </a:pPr>
            <a:r>
              <a:rPr b="1" lang="en-IN" sz="1700">
                <a:latin typeface="Cambria"/>
                <a:ea typeface="Cambria"/>
                <a:cs typeface="Cambria"/>
                <a:sym typeface="Cambria"/>
              </a:rPr>
              <a:t>Programming &amp; Platform</a:t>
            </a:r>
            <a:endParaRPr b="1" sz="1700">
              <a:latin typeface="Cambria"/>
              <a:ea typeface="Cambria"/>
              <a:cs typeface="Cambria"/>
              <a:sym typeface="Cambria"/>
            </a:endParaRPr>
          </a:p>
          <a:p>
            <a:pPr indent="-336550" lvl="0" marL="457200" rtl="0" algn="l">
              <a:lnSpc>
                <a:spcPct val="100000"/>
              </a:lnSpc>
              <a:spcBef>
                <a:spcPts val="1200"/>
              </a:spcBef>
              <a:spcAft>
                <a:spcPts val="0"/>
              </a:spcAft>
              <a:buSzPts val="1700"/>
              <a:buFont typeface="Cambria"/>
              <a:buChar char="●"/>
            </a:pPr>
            <a:r>
              <a:rPr lang="en-IN" sz="1700">
                <a:latin typeface="Cambria"/>
                <a:ea typeface="Cambria"/>
                <a:cs typeface="Cambria"/>
                <a:sym typeface="Cambria"/>
              </a:rPr>
              <a:t>Python</a:t>
            </a:r>
            <a:endParaRPr sz="1700">
              <a:latin typeface="Cambria"/>
              <a:ea typeface="Cambria"/>
              <a:cs typeface="Cambria"/>
              <a:sym typeface="Cambria"/>
            </a:endParaRPr>
          </a:p>
          <a:p>
            <a:pPr indent="-336550" lvl="0" marL="457200" rtl="0" algn="l">
              <a:lnSpc>
                <a:spcPct val="100000"/>
              </a:lnSpc>
              <a:spcBef>
                <a:spcPts val="0"/>
              </a:spcBef>
              <a:spcAft>
                <a:spcPts val="0"/>
              </a:spcAft>
              <a:buSzPts val="1700"/>
              <a:buFont typeface="Cambria"/>
              <a:buChar char="●"/>
            </a:pPr>
            <a:r>
              <a:rPr lang="en-IN" sz="1700">
                <a:latin typeface="Cambria"/>
                <a:ea typeface="Cambria"/>
                <a:cs typeface="Cambria"/>
                <a:sym typeface="Cambria"/>
              </a:rPr>
              <a:t>Google Colab</a:t>
            </a:r>
            <a:endParaRPr sz="1700">
              <a:latin typeface="Cambria"/>
              <a:ea typeface="Cambria"/>
              <a:cs typeface="Cambria"/>
              <a:sym typeface="Cambria"/>
            </a:endParaRPr>
          </a:p>
          <a:p>
            <a:pPr indent="-336550" lvl="0" marL="457200" rtl="0" algn="l">
              <a:lnSpc>
                <a:spcPct val="100000"/>
              </a:lnSpc>
              <a:spcBef>
                <a:spcPts val="0"/>
              </a:spcBef>
              <a:spcAft>
                <a:spcPts val="0"/>
              </a:spcAft>
              <a:buSzPts val="1700"/>
              <a:buFont typeface="Cambria"/>
              <a:buChar char="●"/>
            </a:pPr>
            <a:r>
              <a:rPr lang="en-IN" sz="1700">
                <a:latin typeface="Cambria"/>
                <a:ea typeface="Cambria"/>
                <a:cs typeface="Cambria"/>
                <a:sym typeface="Cambria"/>
              </a:rPr>
              <a:t>VScode</a:t>
            </a:r>
            <a:br>
              <a:rPr lang="en-IN" sz="1700">
                <a:latin typeface="Cambria"/>
                <a:ea typeface="Cambria"/>
                <a:cs typeface="Cambria"/>
                <a:sym typeface="Cambria"/>
              </a:rPr>
            </a:br>
            <a:endParaRPr sz="1700">
              <a:latin typeface="Cambria"/>
              <a:ea typeface="Cambria"/>
              <a:cs typeface="Cambria"/>
              <a:sym typeface="Cambria"/>
            </a:endParaRPr>
          </a:p>
          <a:p>
            <a:pPr indent="0" lvl="0" marL="0" rtl="0" algn="l">
              <a:lnSpc>
                <a:spcPct val="100000"/>
              </a:lnSpc>
              <a:spcBef>
                <a:spcPts val="1200"/>
              </a:spcBef>
              <a:spcAft>
                <a:spcPts val="0"/>
              </a:spcAft>
              <a:buClr>
                <a:schemeClr val="dk1"/>
              </a:buClr>
              <a:buSzPts val="1100"/>
              <a:buFont typeface="Arial"/>
              <a:buNone/>
            </a:pPr>
            <a:r>
              <a:rPr b="1" lang="en-IN" sz="1700">
                <a:latin typeface="Cambria"/>
                <a:ea typeface="Cambria"/>
                <a:cs typeface="Cambria"/>
                <a:sym typeface="Cambria"/>
              </a:rPr>
              <a:t>Machine Learning &amp; NLP</a:t>
            </a:r>
            <a:endParaRPr b="1" sz="1700">
              <a:latin typeface="Cambria"/>
              <a:ea typeface="Cambria"/>
              <a:cs typeface="Cambria"/>
              <a:sym typeface="Cambria"/>
            </a:endParaRPr>
          </a:p>
          <a:p>
            <a:pPr indent="-336550" lvl="0" marL="457200" rtl="0" algn="l">
              <a:lnSpc>
                <a:spcPct val="100000"/>
              </a:lnSpc>
              <a:spcBef>
                <a:spcPts val="1200"/>
              </a:spcBef>
              <a:spcAft>
                <a:spcPts val="0"/>
              </a:spcAft>
              <a:buSzPts val="1700"/>
              <a:buFont typeface="Cambria"/>
              <a:buChar char="●"/>
            </a:pPr>
            <a:r>
              <a:rPr lang="en-IN" sz="1700">
                <a:latin typeface="Cambria"/>
                <a:ea typeface="Cambria"/>
                <a:cs typeface="Cambria"/>
                <a:sym typeface="Cambria"/>
              </a:rPr>
              <a:t>Scikit-learn (TF-IDF, Logistic Regression, SVM, Naive Bayes)</a:t>
            </a:r>
            <a:endParaRPr sz="1700">
              <a:latin typeface="Cambria"/>
              <a:ea typeface="Cambria"/>
              <a:cs typeface="Cambria"/>
              <a:sym typeface="Cambria"/>
            </a:endParaRPr>
          </a:p>
          <a:p>
            <a:pPr indent="-336550" lvl="0" marL="457200" rtl="0" algn="l">
              <a:lnSpc>
                <a:spcPct val="100000"/>
              </a:lnSpc>
              <a:spcBef>
                <a:spcPts val="0"/>
              </a:spcBef>
              <a:spcAft>
                <a:spcPts val="0"/>
              </a:spcAft>
              <a:buSzPts val="1700"/>
              <a:buFont typeface="Cambria"/>
              <a:buChar char="●"/>
            </a:pPr>
            <a:r>
              <a:rPr lang="en-IN" sz="1700">
                <a:latin typeface="Cambria"/>
                <a:ea typeface="Cambria"/>
                <a:cs typeface="Cambria"/>
                <a:sym typeface="Cambria"/>
              </a:rPr>
              <a:t>NLTK (VADER, stopwords)</a:t>
            </a:r>
            <a:endParaRPr sz="1700">
              <a:latin typeface="Cambria"/>
              <a:ea typeface="Cambria"/>
              <a:cs typeface="Cambria"/>
              <a:sym typeface="Cambria"/>
            </a:endParaRPr>
          </a:p>
          <a:p>
            <a:pPr indent="-336550" lvl="0" marL="457200" rtl="0" algn="l">
              <a:lnSpc>
                <a:spcPct val="100000"/>
              </a:lnSpc>
              <a:spcBef>
                <a:spcPts val="0"/>
              </a:spcBef>
              <a:spcAft>
                <a:spcPts val="0"/>
              </a:spcAft>
              <a:buSzPts val="1700"/>
              <a:buFont typeface="Cambria"/>
              <a:buChar char="●"/>
            </a:pPr>
            <a:r>
              <a:rPr lang="en-IN" sz="1700">
                <a:latin typeface="Cambria"/>
                <a:ea typeface="Cambria"/>
                <a:cs typeface="Cambria"/>
                <a:sym typeface="Cambria"/>
              </a:rPr>
              <a:t>TextBlob</a:t>
            </a:r>
            <a:endParaRPr sz="1700">
              <a:latin typeface="Cambria"/>
              <a:ea typeface="Cambria"/>
              <a:cs typeface="Cambria"/>
              <a:sym typeface="Cambria"/>
            </a:endParaRPr>
          </a:p>
          <a:p>
            <a:pPr indent="-336550" lvl="0" marL="457200" rtl="0" algn="l">
              <a:lnSpc>
                <a:spcPct val="100000"/>
              </a:lnSpc>
              <a:spcBef>
                <a:spcPts val="0"/>
              </a:spcBef>
              <a:spcAft>
                <a:spcPts val="0"/>
              </a:spcAft>
              <a:buSzPts val="1700"/>
              <a:buFont typeface="Cambria"/>
              <a:buChar char="●"/>
            </a:pPr>
            <a:r>
              <a:rPr lang="en-IN" sz="1700">
                <a:latin typeface="Cambria"/>
                <a:ea typeface="Cambria"/>
                <a:cs typeface="Cambria"/>
                <a:sym typeface="Cambria"/>
              </a:rPr>
              <a:t>HuggingFace Transformers</a:t>
            </a:r>
            <a:br>
              <a:rPr lang="en-IN" sz="1700">
                <a:latin typeface="Cambria"/>
                <a:ea typeface="Cambria"/>
                <a:cs typeface="Cambria"/>
                <a:sym typeface="Cambria"/>
              </a:rPr>
            </a:br>
            <a:endParaRPr sz="1700">
              <a:latin typeface="Cambria"/>
              <a:ea typeface="Cambria"/>
              <a:cs typeface="Cambria"/>
              <a:sym typeface="Cambria"/>
            </a:endParaRPr>
          </a:p>
          <a:p>
            <a:pPr indent="0" lvl="0" marL="0" rtl="0" algn="l">
              <a:lnSpc>
                <a:spcPct val="100000"/>
              </a:lnSpc>
              <a:spcBef>
                <a:spcPts val="1200"/>
              </a:spcBef>
              <a:spcAft>
                <a:spcPts val="0"/>
              </a:spcAft>
              <a:buClr>
                <a:schemeClr val="dk1"/>
              </a:buClr>
              <a:buSzPts val="1100"/>
              <a:buFont typeface="Arial"/>
              <a:buNone/>
            </a:pPr>
            <a:r>
              <a:rPr b="1" lang="en-IN" sz="1700">
                <a:latin typeface="Cambria"/>
                <a:ea typeface="Cambria"/>
                <a:cs typeface="Cambria"/>
                <a:sym typeface="Cambria"/>
              </a:rPr>
              <a:t>Visualization</a:t>
            </a:r>
            <a:endParaRPr b="1" sz="1700">
              <a:latin typeface="Cambria"/>
              <a:ea typeface="Cambria"/>
              <a:cs typeface="Cambria"/>
              <a:sym typeface="Cambria"/>
            </a:endParaRPr>
          </a:p>
          <a:p>
            <a:pPr indent="-336550" lvl="0" marL="457200" rtl="0" algn="l">
              <a:lnSpc>
                <a:spcPct val="100000"/>
              </a:lnSpc>
              <a:spcBef>
                <a:spcPts val="1200"/>
              </a:spcBef>
              <a:spcAft>
                <a:spcPts val="0"/>
              </a:spcAft>
              <a:buSzPts val="1700"/>
              <a:buFont typeface="Cambria"/>
              <a:buChar char="●"/>
            </a:pPr>
            <a:r>
              <a:rPr lang="en-IN" sz="1700">
                <a:latin typeface="Cambria"/>
                <a:ea typeface="Cambria"/>
                <a:cs typeface="Cambria"/>
                <a:sym typeface="Cambria"/>
              </a:rPr>
              <a:t>Matplotlib</a:t>
            </a:r>
            <a:endParaRPr sz="1700">
              <a:latin typeface="Cambria"/>
              <a:ea typeface="Cambria"/>
              <a:cs typeface="Cambria"/>
              <a:sym typeface="Cambria"/>
            </a:endParaRPr>
          </a:p>
          <a:p>
            <a:pPr indent="-336550" lvl="0" marL="457200" rtl="0" algn="l">
              <a:lnSpc>
                <a:spcPct val="100000"/>
              </a:lnSpc>
              <a:spcBef>
                <a:spcPts val="0"/>
              </a:spcBef>
              <a:spcAft>
                <a:spcPts val="0"/>
              </a:spcAft>
              <a:buSzPts val="1700"/>
              <a:buFont typeface="Cambria"/>
              <a:buChar char="●"/>
            </a:pPr>
            <a:r>
              <a:rPr lang="en-IN" sz="1700">
                <a:latin typeface="Cambria"/>
                <a:ea typeface="Cambria"/>
                <a:cs typeface="Cambria"/>
                <a:sym typeface="Cambria"/>
              </a:rPr>
              <a:t>WordCloud</a:t>
            </a:r>
            <a:br>
              <a:rPr lang="en-IN" sz="1700">
                <a:latin typeface="Cambria"/>
                <a:ea typeface="Cambria"/>
                <a:cs typeface="Cambria"/>
                <a:sym typeface="Cambria"/>
              </a:rPr>
            </a:br>
            <a:endParaRPr sz="1700">
              <a:latin typeface="Cambria"/>
              <a:ea typeface="Cambria"/>
              <a:cs typeface="Cambria"/>
              <a:sym typeface="Cambria"/>
            </a:endParaRPr>
          </a:p>
          <a:p>
            <a:pPr indent="0" lvl="0" marL="0" marR="0" rtl="0" algn="just">
              <a:lnSpc>
                <a:spcPct val="100000"/>
              </a:lnSpc>
              <a:spcBef>
                <a:spcPts val="1200"/>
              </a:spcBef>
              <a:spcAft>
                <a:spcPts val="0"/>
              </a:spcAft>
              <a:buClr>
                <a:schemeClr val="dk1"/>
              </a:buClr>
              <a:buSzPts val="1800"/>
              <a:buFont typeface="Verdana"/>
              <a:buNone/>
            </a:pPr>
            <a:r>
              <a:t/>
            </a:r>
            <a:endParaRPr sz="1700">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IN">
                <a:latin typeface="Cambria"/>
                <a:ea typeface="Cambria"/>
                <a:cs typeface="Cambria"/>
                <a:sym typeface="Cambria"/>
              </a:rPr>
              <a:t>Analysis of Problem Statement (contd...)</a:t>
            </a:r>
            <a:endParaRPr/>
          </a:p>
        </p:txBody>
      </p:sp>
      <p:sp>
        <p:nvSpPr>
          <p:cNvPr id="128" name="Google Shape;128;p19"/>
          <p:cNvSpPr txBox="1"/>
          <p:nvPr>
            <p:ph idx="1" type="body"/>
          </p:nvPr>
        </p:nvSpPr>
        <p:spPr>
          <a:xfrm>
            <a:off x="706582" y="1115339"/>
            <a:ext cx="10312800" cy="5056500"/>
          </a:xfrm>
          <a:prstGeom prst="rect">
            <a:avLst/>
          </a:prstGeom>
          <a:noFill/>
          <a:ln>
            <a:noFill/>
          </a:ln>
        </p:spPr>
        <p:txBody>
          <a:bodyPr anchorCtr="0" anchor="ctr" bIns="45700" lIns="91425" spcFirstLastPara="1" rIns="91425" wrap="square" tIns="0">
            <a:spAutoFit/>
          </a:bodyPr>
          <a:lstStyle/>
          <a:p>
            <a:pPr indent="0" lvl="0" marL="0" rtl="0" algn="l">
              <a:lnSpc>
                <a:spcPct val="115000"/>
              </a:lnSpc>
              <a:spcBef>
                <a:spcPts val="1400"/>
              </a:spcBef>
              <a:spcAft>
                <a:spcPts val="0"/>
              </a:spcAft>
              <a:buClr>
                <a:schemeClr val="dk1"/>
              </a:buClr>
              <a:buSzPts val="1100"/>
              <a:buFont typeface="Arial"/>
              <a:buNone/>
            </a:pPr>
            <a:r>
              <a:rPr b="1" lang="en-IN" sz="1700">
                <a:latin typeface="Cambria"/>
                <a:ea typeface="Cambria"/>
                <a:cs typeface="Cambria"/>
                <a:sym typeface="Cambria"/>
              </a:rPr>
              <a:t>Functional Analysis</a:t>
            </a:r>
            <a:endParaRPr b="1" sz="1700">
              <a:latin typeface="Cambria"/>
              <a:ea typeface="Cambria"/>
              <a:cs typeface="Cambria"/>
              <a:sym typeface="Cambria"/>
            </a:endParaRPr>
          </a:p>
          <a:p>
            <a:pPr indent="-336550" lvl="0" marL="457200" rtl="0" algn="l">
              <a:lnSpc>
                <a:spcPct val="115000"/>
              </a:lnSpc>
              <a:spcBef>
                <a:spcPts val="1200"/>
              </a:spcBef>
              <a:spcAft>
                <a:spcPts val="0"/>
              </a:spcAft>
              <a:buSzPts val="1700"/>
              <a:buFont typeface="Cambria"/>
              <a:buChar char="●"/>
            </a:pPr>
            <a:r>
              <a:rPr lang="en-IN" sz="1700">
                <a:latin typeface="Cambria"/>
                <a:ea typeface="Cambria"/>
                <a:cs typeface="Cambria"/>
                <a:sym typeface="Cambria"/>
              </a:rPr>
              <a:t>Unstructured text requires preprocessing and vectorization</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Diff</a:t>
            </a:r>
            <a:r>
              <a:rPr lang="en-IN" sz="1700">
                <a:latin typeface="Cambria"/>
                <a:ea typeface="Cambria"/>
                <a:cs typeface="Cambria"/>
                <a:sym typeface="Cambria"/>
              </a:rPr>
              <a:t>e</a:t>
            </a:r>
            <a:r>
              <a:rPr lang="en-IN" sz="1700">
                <a:latin typeface="Cambria"/>
                <a:ea typeface="Cambria"/>
                <a:cs typeface="Cambria"/>
                <a:sym typeface="Cambria"/>
              </a:rPr>
              <a:t>rent sentiment models may produce varying outputs</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Aggregation is needed to derive meaningful insights</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Visualization and summarization help administrators quickly understand feedback</a:t>
            </a:r>
            <a:br>
              <a:rPr b="1" lang="en-IN" sz="1700">
                <a:latin typeface="Cambria"/>
                <a:ea typeface="Cambria"/>
                <a:cs typeface="Cambria"/>
                <a:sym typeface="Cambria"/>
              </a:rPr>
            </a:br>
            <a:endParaRPr b="1" sz="1700">
              <a:latin typeface="Cambria"/>
              <a:ea typeface="Cambria"/>
              <a:cs typeface="Cambria"/>
              <a:sym typeface="Cambria"/>
            </a:endParaRPr>
          </a:p>
          <a:p>
            <a:pPr indent="0" lvl="0" marL="0" rtl="0" algn="l">
              <a:lnSpc>
                <a:spcPct val="115000"/>
              </a:lnSpc>
              <a:spcBef>
                <a:spcPts val="1400"/>
              </a:spcBef>
              <a:spcAft>
                <a:spcPts val="0"/>
              </a:spcAft>
              <a:buClr>
                <a:schemeClr val="dk1"/>
              </a:buClr>
              <a:buSzPts val="1100"/>
              <a:buFont typeface="Arial"/>
              <a:buNone/>
            </a:pPr>
            <a:r>
              <a:rPr b="1" lang="en-IN" sz="1700">
                <a:latin typeface="Cambria"/>
                <a:ea typeface="Cambria"/>
                <a:cs typeface="Cambria"/>
                <a:sym typeface="Cambria"/>
              </a:rPr>
              <a:t>Key Challenge</a:t>
            </a:r>
            <a:endParaRPr b="1" sz="1700">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IN" sz="1700">
                <a:latin typeface="Cambria"/>
                <a:ea typeface="Cambria"/>
                <a:cs typeface="Cambria"/>
                <a:sym typeface="Cambria"/>
              </a:rPr>
              <a:t>Designing a pipeline that is:</a:t>
            </a:r>
            <a:endParaRPr b="1" sz="1700">
              <a:latin typeface="Cambria"/>
              <a:ea typeface="Cambria"/>
              <a:cs typeface="Cambria"/>
              <a:sym typeface="Cambria"/>
            </a:endParaRPr>
          </a:p>
          <a:p>
            <a:pPr indent="-336550" lvl="0" marL="457200" rtl="0" algn="l">
              <a:lnSpc>
                <a:spcPct val="115000"/>
              </a:lnSpc>
              <a:spcBef>
                <a:spcPts val="1200"/>
              </a:spcBef>
              <a:spcAft>
                <a:spcPts val="0"/>
              </a:spcAft>
              <a:buSzPts val="1700"/>
              <a:buFont typeface="Cambria"/>
              <a:buChar char="●"/>
            </a:pPr>
            <a:r>
              <a:rPr lang="en-IN" sz="1700">
                <a:latin typeface="Cambria"/>
                <a:ea typeface="Cambria"/>
                <a:cs typeface="Cambria"/>
                <a:sym typeface="Cambria"/>
              </a:rPr>
              <a:t>Re-runnable</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Scalable</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Accurate</a:t>
            </a:r>
            <a:endParaRPr sz="1700">
              <a:latin typeface="Cambria"/>
              <a:ea typeface="Cambria"/>
              <a:cs typeface="Cambria"/>
              <a:sym typeface="Cambria"/>
            </a:endParaRPr>
          </a:p>
          <a:p>
            <a:pPr indent="-323850" lvl="0" marL="457200" rtl="0" algn="l">
              <a:lnSpc>
                <a:spcPct val="115000"/>
              </a:lnSpc>
              <a:spcBef>
                <a:spcPts val="0"/>
              </a:spcBef>
              <a:spcAft>
                <a:spcPts val="0"/>
              </a:spcAft>
              <a:buSzPts val="1500"/>
              <a:buChar char="●"/>
            </a:pPr>
            <a:r>
              <a:rPr lang="en-IN" sz="1700">
                <a:latin typeface="Cambria"/>
                <a:ea typeface="Cambria"/>
                <a:cs typeface="Cambria"/>
                <a:sym typeface="Cambria"/>
              </a:rPr>
              <a:t>Easy to integrate into a full-stack system</a:t>
            </a:r>
            <a:br>
              <a:rPr b="1" lang="en-IN" sz="1500">
                <a:latin typeface="Arial"/>
                <a:ea typeface="Arial"/>
                <a:cs typeface="Arial"/>
                <a:sym typeface="Arial"/>
              </a:rPr>
            </a:br>
            <a:endParaRPr b="1" sz="1500">
              <a:latin typeface="Arial"/>
              <a:ea typeface="Arial"/>
              <a:cs typeface="Arial"/>
              <a:sym typeface="Arial"/>
            </a:endParaRPr>
          </a:p>
          <a:p>
            <a:pPr indent="0" lvl="0" marL="0" marR="0" rtl="0" algn="just">
              <a:lnSpc>
                <a:spcPct val="115000"/>
              </a:lnSpc>
              <a:spcBef>
                <a:spcPts val="1200"/>
              </a:spcBef>
              <a:spcAft>
                <a:spcPts val="0"/>
              </a:spcAft>
              <a:buClr>
                <a:schemeClr val="dk1"/>
              </a:buClr>
              <a:buSzPts val="1800"/>
              <a:buFont typeface="Verdana"/>
              <a:buNone/>
            </a:pPr>
            <a:r>
              <a:t/>
            </a:r>
            <a:endParaRPr b="1" sz="22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812800" y="370390"/>
            <a:ext cx="10668000" cy="93754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IN">
                <a:latin typeface="Cambria"/>
                <a:ea typeface="Cambria"/>
                <a:cs typeface="Cambria"/>
                <a:sym typeface="Cambria"/>
              </a:rPr>
              <a:t>Proposed method and feasibility study</a:t>
            </a:r>
            <a:br>
              <a:rPr lang="en-IN">
                <a:latin typeface="Times New Roman"/>
                <a:ea typeface="Times New Roman"/>
                <a:cs typeface="Times New Roman"/>
                <a:sym typeface="Times New Roman"/>
              </a:rPr>
            </a:br>
            <a:endParaRPr/>
          </a:p>
        </p:txBody>
      </p:sp>
      <p:sp>
        <p:nvSpPr>
          <p:cNvPr id="134" name="Google Shape;134;p20"/>
          <p:cNvSpPr txBox="1"/>
          <p:nvPr>
            <p:ph idx="1" type="body"/>
          </p:nvPr>
        </p:nvSpPr>
        <p:spPr>
          <a:xfrm>
            <a:off x="812800" y="1129776"/>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IN" sz="1700">
                <a:latin typeface="Cambria"/>
                <a:ea typeface="Cambria"/>
                <a:cs typeface="Cambria"/>
                <a:sym typeface="Cambria"/>
              </a:rPr>
              <a:t>Proposed Method</a:t>
            </a:r>
            <a:endParaRPr b="1" sz="1700">
              <a:latin typeface="Cambria"/>
              <a:ea typeface="Cambria"/>
              <a:cs typeface="Cambria"/>
              <a:sym typeface="Cambria"/>
            </a:endParaRPr>
          </a:p>
          <a:p>
            <a:pPr indent="-336550" lvl="0" marL="457200" rtl="0" algn="l">
              <a:lnSpc>
                <a:spcPct val="115000"/>
              </a:lnSpc>
              <a:spcBef>
                <a:spcPts val="1200"/>
              </a:spcBef>
              <a:spcAft>
                <a:spcPts val="0"/>
              </a:spcAft>
              <a:buSzPts val="1700"/>
              <a:buFont typeface="Cambria"/>
              <a:buChar char="●"/>
            </a:pPr>
            <a:r>
              <a:rPr lang="en-IN" sz="1700">
                <a:latin typeface="Cambria"/>
                <a:ea typeface="Cambria"/>
                <a:cs typeface="Cambria"/>
                <a:sym typeface="Cambria"/>
              </a:rPr>
              <a:t>Train multiple ML sentiment classifiers using TF-IDF features</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Select the best model based on F1-score</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Use pretrained models (VADER, TextBlob, HuggingFace) for comparison</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Accept multiple user comments in a controlled input flow</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Aggregate results, generate word cloud and summary</a:t>
            </a:r>
            <a:br>
              <a:rPr lang="en-IN" sz="1700">
                <a:latin typeface="Cambria"/>
                <a:ea typeface="Cambria"/>
                <a:cs typeface="Cambria"/>
                <a:sym typeface="Cambria"/>
              </a:rPr>
            </a:br>
            <a:endParaRPr b="1" sz="1700">
              <a:latin typeface="Cambria"/>
              <a:ea typeface="Cambria"/>
              <a:cs typeface="Cambria"/>
              <a:sym typeface="Cambria"/>
            </a:endParaRPr>
          </a:p>
          <a:p>
            <a:pPr indent="0" lvl="0" marL="0" rtl="0" algn="l">
              <a:lnSpc>
                <a:spcPct val="115000"/>
              </a:lnSpc>
              <a:spcBef>
                <a:spcPts val="1400"/>
              </a:spcBef>
              <a:spcAft>
                <a:spcPts val="0"/>
              </a:spcAft>
              <a:buClr>
                <a:schemeClr val="dk1"/>
              </a:buClr>
              <a:buSzPts val="1100"/>
              <a:buFont typeface="Arial"/>
              <a:buNone/>
            </a:pPr>
            <a:r>
              <a:rPr b="1" lang="en-IN" sz="1700">
                <a:latin typeface="Cambria"/>
                <a:ea typeface="Cambria"/>
                <a:cs typeface="Cambria"/>
                <a:sym typeface="Cambria"/>
              </a:rPr>
              <a:t>Feasibility Study</a:t>
            </a:r>
            <a:endParaRPr b="1" sz="1700">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IN" sz="1700">
                <a:latin typeface="Cambria"/>
                <a:ea typeface="Cambria"/>
                <a:cs typeface="Cambria"/>
                <a:sym typeface="Cambria"/>
              </a:rPr>
              <a:t>Technical Feasibility</a:t>
            </a:r>
            <a:br>
              <a:rPr lang="en-IN" sz="1700">
                <a:latin typeface="Cambria"/>
                <a:ea typeface="Cambria"/>
                <a:cs typeface="Cambria"/>
                <a:sym typeface="Cambria"/>
              </a:rPr>
            </a:br>
            <a:r>
              <a:rPr lang="en-IN" sz="1700">
                <a:latin typeface="Cambria"/>
                <a:ea typeface="Cambria"/>
                <a:cs typeface="Cambria"/>
                <a:sym typeface="Cambria"/>
              </a:rPr>
              <a:t> Uses open-source Python libraries and runs efficiently on Google Colab.</a:t>
            </a:r>
            <a:endParaRPr sz="1700">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IN" sz="1700">
                <a:latin typeface="Cambria"/>
                <a:ea typeface="Cambria"/>
                <a:cs typeface="Cambria"/>
                <a:sym typeface="Cambria"/>
              </a:rPr>
              <a:t>Operational Feasibility</a:t>
            </a:r>
            <a:br>
              <a:rPr lang="en-IN" sz="1700">
                <a:latin typeface="Cambria"/>
                <a:ea typeface="Cambria"/>
                <a:cs typeface="Cambria"/>
                <a:sym typeface="Cambria"/>
              </a:rPr>
            </a:br>
            <a:r>
              <a:rPr lang="en-IN" sz="1700">
                <a:latin typeface="Cambria"/>
                <a:ea typeface="Cambria"/>
                <a:cs typeface="Cambria"/>
                <a:sym typeface="Cambria"/>
              </a:rPr>
              <a:t> The system can process multiple comments interactively with minimal setup.</a:t>
            </a:r>
            <a:endParaRPr sz="1700">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IN" sz="1700">
                <a:latin typeface="Cambria"/>
                <a:ea typeface="Cambria"/>
                <a:cs typeface="Cambria"/>
                <a:sym typeface="Cambria"/>
              </a:rPr>
              <a:t>Scalability</a:t>
            </a:r>
            <a:br>
              <a:rPr lang="en-IN" sz="1700">
                <a:latin typeface="Cambria"/>
                <a:ea typeface="Cambria"/>
                <a:cs typeface="Cambria"/>
                <a:sym typeface="Cambria"/>
              </a:rPr>
            </a:br>
            <a:r>
              <a:rPr lang="en-IN" sz="1700">
                <a:latin typeface="Cambria"/>
                <a:ea typeface="Cambria"/>
                <a:cs typeface="Cambria"/>
                <a:sym typeface="Cambria"/>
              </a:rPr>
              <a:t> Can be extended to support multiple topics and users in a real portal.</a:t>
            </a:r>
            <a:endParaRPr sz="1700">
              <a:latin typeface="Cambria"/>
              <a:ea typeface="Cambria"/>
              <a:cs typeface="Cambria"/>
              <a:sym typeface="Cambria"/>
            </a:endParaRPr>
          </a:p>
          <a:p>
            <a:pPr indent="-228600" lvl="0" marL="457200" rtl="0" algn="l">
              <a:lnSpc>
                <a:spcPct val="100000"/>
              </a:lnSpc>
              <a:spcBef>
                <a:spcPts val="1200"/>
              </a:spcBef>
              <a:spcAft>
                <a:spcPts val="0"/>
              </a:spcAft>
              <a:buClr>
                <a:schemeClr val="dk1"/>
              </a:buClr>
              <a:buSzPts val="2400"/>
              <a:buNone/>
            </a:pPr>
            <a:r>
              <a:t/>
            </a:r>
            <a:endParaRPr sz="1700">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IN">
                <a:latin typeface="Cambria"/>
                <a:ea typeface="Cambria"/>
                <a:cs typeface="Cambria"/>
                <a:sym typeface="Cambria"/>
              </a:rPr>
              <a:t>Literature Review</a:t>
            </a:r>
            <a:endParaRPr/>
          </a:p>
        </p:txBody>
      </p:sp>
      <p:sp>
        <p:nvSpPr>
          <p:cNvPr id="140" name="Google Shape;140;p21"/>
          <p:cNvSpPr txBox="1"/>
          <p:nvPr/>
        </p:nvSpPr>
        <p:spPr>
          <a:xfrm>
            <a:off x="1069175" y="1302650"/>
            <a:ext cx="9326700" cy="45243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1200"/>
              </a:spcBef>
              <a:spcAft>
                <a:spcPts val="0"/>
              </a:spcAft>
              <a:buClr>
                <a:schemeClr val="dk1"/>
              </a:buClr>
              <a:buSzPts val="1700"/>
              <a:buFont typeface="Cambria"/>
              <a:buChar char="●"/>
            </a:pPr>
            <a:r>
              <a:rPr lang="en-IN" sz="1700">
                <a:solidFill>
                  <a:schemeClr val="dk1"/>
                </a:solidFill>
                <a:latin typeface="Cambria"/>
                <a:ea typeface="Cambria"/>
                <a:cs typeface="Cambria"/>
                <a:sym typeface="Cambria"/>
              </a:rPr>
              <a:t>Sentiment analysis is widely used in social media monitoring and feedback analysis</a:t>
            </a:r>
            <a:br>
              <a:rPr lang="en-IN" sz="1700">
                <a:solidFill>
                  <a:schemeClr val="dk1"/>
                </a:solidFill>
                <a:latin typeface="Cambria"/>
                <a:ea typeface="Cambria"/>
                <a:cs typeface="Cambria"/>
                <a:sym typeface="Cambria"/>
              </a:rPr>
            </a:br>
            <a:endParaRPr sz="1700">
              <a:solidFill>
                <a:schemeClr val="dk1"/>
              </a:solidFill>
              <a:latin typeface="Cambria"/>
              <a:ea typeface="Cambria"/>
              <a:cs typeface="Cambria"/>
              <a:sym typeface="Cambria"/>
            </a:endParaRPr>
          </a:p>
          <a:p>
            <a:pPr indent="-336550" lvl="0" marL="457200" rtl="0" algn="l">
              <a:lnSpc>
                <a:spcPct val="115000"/>
              </a:lnSpc>
              <a:spcBef>
                <a:spcPts val="0"/>
              </a:spcBef>
              <a:spcAft>
                <a:spcPts val="0"/>
              </a:spcAft>
              <a:buClr>
                <a:schemeClr val="dk1"/>
              </a:buClr>
              <a:buSzPts val="1700"/>
              <a:buFont typeface="Cambria"/>
              <a:buChar char="●"/>
            </a:pPr>
            <a:r>
              <a:rPr lang="en-IN" sz="1700">
                <a:solidFill>
                  <a:schemeClr val="dk1"/>
                </a:solidFill>
                <a:latin typeface="Cambria"/>
                <a:ea typeface="Cambria"/>
                <a:cs typeface="Cambria"/>
                <a:sym typeface="Cambria"/>
              </a:rPr>
              <a:t>Transformer models have shown strong performance in understanding contextual sentiment</a:t>
            </a:r>
            <a:br>
              <a:rPr lang="en-IN" sz="1700">
                <a:solidFill>
                  <a:schemeClr val="dk1"/>
                </a:solidFill>
                <a:latin typeface="Cambria"/>
                <a:ea typeface="Cambria"/>
                <a:cs typeface="Cambria"/>
                <a:sym typeface="Cambria"/>
              </a:rPr>
            </a:br>
            <a:endParaRPr sz="1700">
              <a:solidFill>
                <a:schemeClr val="dk1"/>
              </a:solidFill>
              <a:latin typeface="Cambria"/>
              <a:ea typeface="Cambria"/>
              <a:cs typeface="Cambria"/>
              <a:sym typeface="Cambria"/>
            </a:endParaRPr>
          </a:p>
          <a:p>
            <a:pPr indent="-336550" lvl="0" marL="457200" rtl="0" algn="l">
              <a:lnSpc>
                <a:spcPct val="115000"/>
              </a:lnSpc>
              <a:spcBef>
                <a:spcPts val="0"/>
              </a:spcBef>
              <a:spcAft>
                <a:spcPts val="0"/>
              </a:spcAft>
              <a:buClr>
                <a:schemeClr val="dk1"/>
              </a:buClr>
              <a:buSzPts val="1700"/>
              <a:buFont typeface="Cambria"/>
              <a:buChar char="●"/>
            </a:pPr>
            <a:r>
              <a:rPr lang="en-IN" sz="1700">
                <a:solidFill>
                  <a:schemeClr val="dk1"/>
                </a:solidFill>
                <a:latin typeface="Cambria"/>
                <a:ea typeface="Cambria"/>
                <a:cs typeface="Cambria"/>
                <a:sym typeface="Cambria"/>
              </a:rPr>
              <a:t>Existing systems lack tailored solutions for government e-Consultation platforms</a:t>
            </a:r>
            <a:br>
              <a:rPr lang="en-IN" sz="1700">
                <a:solidFill>
                  <a:schemeClr val="dk1"/>
                </a:solidFill>
                <a:latin typeface="Cambria"/>
                <a:ea typeface="Cambria"/>
                <a:cs typeface="Cambria"/>
                <a:sym typeface="Cambria"/>
              </a:rPr>
            </a:br>
            <a:endParaRPr sz="1700">
              <a:solidFill>
                <a:schemeClr val="dk1"/>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lang="en-IN" sz="1700">
                <a:solidFill>
                  <a:schemeClr val="dk1"/>
                </a:solidFill>
                <a:latin typeface="Cambria"/>
                <a:ea typeface="Cambria"/>
                <a:cs typeface="Cambria"/>
                <a:sym typeface="Cambria"/>
              </a:rPr>
              <a:t>The review highlights the need for an automated and explainable sentiment analysis system for public policy feedback.</a:t>
            </a:r>
            <a:endParaRPr sz="1700">
              <a:solidFill>
                <a:schemeClr val="dk1"/>
              </a:solidFill>
              <a:latin typeface="Cambria"/>
              <a:ea typeface="Cambria"/>
              <a:cs typeface="Cambria"/>
              <a:sym typeface="Cambria"/>
            </a:endParaRPr>
          </a:p>
          <a:p>
            <a:pPr indent="0" lvl="0" marL="0" rtl="0" algn="l">
              <a:spcBef>
                <a:spcPts val="1200"/>
              </a:spcBef>
              <a:spcAft>
                <a:spcPts val="0"/>
              </a:spcAft>
              <a:buNone/>
            </a:pPr>
            <a:r>
              <a:t/>
            </a:r>
            <a:endParaRPr sz="1700">
              <a:solidFill>
                <a:schemeClr val="dk1"/>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812800" y="432619"/>
            <a:ext cx="10668000" cy="71038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IN">
                <a:latin typeface="Times New Roman"/>
                <a:ea typeface="Times New Roman"/>
                <a:cs typeface="Times New Roman"/>
                <a:sym typeface="Times New Roman"/>
              </a:rPr>
              <a:t>Architecture Diagram</a:t>
            </a:r>
            <a:br>
              <a:rPr lang="en-IN">
                <a:latin typeface="Times New Roman"/>
                <a:ea typeface="Times New Roman"/>
                <a:cs typeface="Times New Roman"/>
                <a:sym typeface="Times New Roman"/>
              </a:rPr>
            </a:br>
            <a:endParaRPr/>
          </a:p>
        </p:txBody>
      </p:sp>
      <p:pic>
        <p:nvPicPr>
          <p:cNvPr id="146" name="Google Shape;146;p22"/>
          <p:cNvPicPr preferRelativeResize="0"/>
          <p:nvPr/>
        </p:nvPicPr>
        <p:blipFill>
          <a:blip r:embed="rId3">
            <a:alphaModFix/>
          </a:blip>
          <a:stretch>
            <a:fillRect/>
          </a:stretch>
        </p:blipFill>
        <p:spPr>
          <a:xfrm>
            <a:off x="1368425" y="911775"/>
            <a:ext cx="9328927" cy="5795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IN">
                <a:latin typeface="Cambria"/>
                <a:ea typeface="Cambria"/>
                <a:cs typeface="Cambria"/>
                <a:sym typeface="Cambria"/>
              </a:rPr>
              <a:t>Github Link</a:t>
            </a:r>
            <a:endParaRPr/>
          </a:p>
        </p:txBody>
      </p:sp>
      <p:sp>
        <p:nvSpPr>
          <p:cNvPr id="152" name="Google Shape;152;p23"/>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p:txBody>
      </p:sp>
      <p:sp>
        <p:nvSpPr>
          <p:cNvPr id="153" name="Google Shape;153;p23"/>
          <p:cNvSpPr txBox="1"/>
          <p:nvPr/>
        </p:nvSpPr>
        <p:spPr>
          <a:xfrm>
            <a:off x="965200" y="1295400"/>
            <a:ext cx="10668000" cy="49530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
        <p:nvSpPr>
          <p:cNvPr id="154" name="Google Shape;154;p23"/>
          <p:cNvSpPr txBox="1"/>
          <p:nvPr/>
        </p:nvSpPr>
        <p:spPr>
          <a:xfrm>
            <a:off x="812800" y="1143000"/>
            <a:ext cx="10668000" cy="41783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rPr b="1" i="0" lang="en-IN" sz="2400" u="none" cap="none" strike="noStrike">
                <a:solidFill>
                  <a:srgbClr val="953734"/>
                </a:solidFill>
                <a:latin typeface="Times New Roman"/>
                <a:ea typeface="Times New Roman"/>
                <a:cs typeface="Times New Roman"/>
                <a:sym typeface="Times New Roman"/>
              </a:rPr>
              <a:t>Github Link</a:t>
            </a:r>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just">
              <a:lnSpc>
                <a:spcPct val="100000"/>
              </a:lnSpc>
              <a:spcBef>
                <a:spcPts val="0"/>
              </a:spcBef>
              <a:spcAft>
                <a:spcPts val="0"/>
              </a:spcAft>
              <a:buClr>
                <a:schemeClr val="dk1"/>
              </a:buClr>
              <a:buSzPts val="2400"/>
              <a:buFont typeface="Arial"/>
              <a:buNone/>
            </a:pPr>
            <a:r>
              <a:rPr lang="en-IN" sz="2400">
                <a:solidFill>
                  <a:schemeClr val="dk1"/>
                </a:solidFill>
                <a:latin typeface="Times New Roman"/>
                <a:ea typeface="Times New Roman"/>
                <a:cs typeface="Times New Roman"/>
                <a:sym typeface="Times New Roman"/>
              </a:rPr>
              <a:t>https://github.com/chirustark17/Sentiment-analysis-of-comments-received-through-E-consultation-module</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just">
              <a:lnSpc>
                <a:spcPct val="100000"/>
              </a:lnSpc>
              <a:spcBef>
                <a:spcPts val="0"/>
              </a:spcBef>
              <a:spcAft>
                <a:spcPts val="0"/>
              </a:spcAft>
              <a:buClr>
                <a:schemeClr val="dk1"/>
              </a:buClr>
              <a:buSzPts val="2400"/>
              <a:buFont typeface="Arial"/>
              <a:buNone/>
            </a:pPr>
            <a:r>
              <a:rPr b="0" i="0" lang="en-IN" sz="2400" u="none" cap="none" strike="noStrike">
                <a:solidFill>
                  <a:schemeClr val="dk1"/>
                </a:solidFill>
                <a:latin typeface="Times New Roman"/>
                <a:ea typeface="Times New Roman"/>
                <a:cs typeface="Times New Roman"/>
                <a:sym typeface="Times New Roman"/>
              </a:rPr>
              <a:t>Visibility : Public</a:t>
            </a:r>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nvSpPr>
        <p:spPr>
          <a:xfrm>
            <a:off x="748665" y="240665"/>
            <a:ext cx="61746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IN" sz="3600" u="none" cap="none" strike="noStrike">
                <a:solidFill>
                  <a:srgbClr val="000000"/>
                </a:solidFill>
                <a:latin typeface="Verdana"/>
                <a:ea typeface="Verdana"/>
                <a:cs typeface="Verdana"/>
                <a:sym typeface="Verdana"/>
              </a:rPr>
              <a:t>Timeline of the Project</a:t>
            </a:r>
            <a:endParaRPr b="1" i="0" sz="3600" u="none" cap="none" strike="noStrike">
              <a:solidFill>
                <a:srgbClr val="000000"/>
              </a:solidFill>
              <a:latin typeface="Verdana"/>
              <a:ea typeface="Verdana"/>
              <a:cs typeface="Verdana"/>
              <a:sym typeface="Verdana"/>
            </a:endParaRPr>
          </a:p>
        </p:txBody>
      </p:sp>
      <p:graphicFrame>
        <p:nvGraphicFramePr>
          <p:cNvPr id="160" name="Google Shape;160;p24"/>
          <p:cNvGraphicFramePr/>
          <p:nvPr/>
        </p:nvGraphicFramePr>
        <p:xfrm>
          <a:off x="1181725" y="1125575"/>
          <a:ext cx="3000000" cy="3000000"/>
        </p:xfrm>
        <a:graphic>
          <a:graphicData uri="http://schemas.openxmlformats.org/drawingml/2006/table">
            <a:tbl>
              <a:tblPr>
                <a:noFill/>
                <a:tableStyleId>{EBB19511-5B75-4417-A755-AB84F80E17D2}</a:tableStyleId>
              </a:tblPr>
              <a:tblGrid>
                <a:gridCol w="2704675"/>
                <a:gridCol w="2704675"/>
                <a:gridCol w="2704675"/>
                <a:gridCol w="2704675"/>
              </a:tblGrid>
              <a:tr h="317075">
                <a:tc>
                  <a:txBody>
                    <a:bodyPr/>
                    <a:lstStyle/>
                    <a:p>
                      <a:pPr indent="0" lvl="0" marL="0" marR="0" rtl="0" algn="ctr">
                        <a:lnSpc>
                          <a:spcPct val="115000"/>
                        </a:lnSpc>
                        <a:spcBef>
                          <a:spcPts val="0"/>
                        </a:spcBef>
                        <a:spcAft>
                          <a:spcPts val="0"/>
                        </a:spcAft>
                        <a:buClr>
                          <a:srgbClr val="000000"/>
                        </a:buClr>
                        <a:buSzPts val="1100"/>
                        <a:buFont typeface="Arial"/>
                        <a:buNone/>
                      </a:pPr>
                      <a:r>
                        <a:rPr b="1" lang="en-IN" sz="1100" u="none" cap="none" strike="noStrike"/>
                        <a:t>Month</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n-IN" sz="1100" u="none" cap="none" strike="noStrike"/>
                        <a:t>Phase</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n-IN" sz="1100" u="none" cap="none" strike="noStrike"/>
                        <a:t>Key Activities</a:t>
                      </a:r>
                      <a:endParaRPr b="1" sz="11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n-IN" sz="1100" u="none" cap="none" strike="noStrike"/>
                        <a:t>Deliverables</a:t>
                      </a:r>
                      <a:endParaRPr b="1" sz="1100" u="none" cap="none" strike="noStrike"/>
                    </a:p>
                  </a:txBody>
                  <a:tcPr marT="91425" marB="91425" marR="91425" marL="91425"/>
                </a:tc>
              </a:tr>
              <a:tr h="1816975">
                <a:tc>
                  <a:txBody>
                    <a:bodyPr/>
                    <a:lstStyle/>
                    <a:p>
                      <a:pPr indent="0" lvl="0" marL="0" marR="0" rtl="0" algn="l">
                        <a:lnSpc>
                          <a:spcPct val="100000"/>
                        </a:lnSpc>
                        <a:spcBef>
                          <a:spcPts val="0"/>
                        </a:spcBef>
                        <a:spcAft>
                          <a:spcPts val="0"/>
                        </a:spcAft>
                        <a:buClr>
                          <a:srgbClr val="000000"/>
                        </a:buClr>
                        <a:buSzPts val="1100"/>
                        <a:buFont typeface="Arial"/>
                        <a:buNone/>
                      </a:pPr>
                      <a:r>
                        <a:rPr b="1" lang="en-IN" sz="1100" u="none" cap="none" strike="noStrike">
                          <a:latin typeface="Cambria"/>
                          <a:ea typeface="Cambria"/>
                          <a:cs typeface="Cambria"/>
                          <a:sym typeface="Cambria"/>
                        </a:rPr>
                        <a:t>Month 1</a:t>
                      </a:r>
                      <a:endParaRPr b="1" sz="11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Data Collection &amp; Setup</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Collect e-consultation comments and similar public datasets • Data cleaning and preprocessing (tokenization, stopword removal, deduplication) • Exploratory data analysis (word frequency, comment length) • Build baseline sentiment model</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Cleaned dataset • EDA report </a:t>
                      </a:r>
                      <a:endParaRPr sz="1200" u="none" cap="none" strike="noStrike">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Baseline sentiment classifier</a:t>
                      </a:r>
                      <a:endParaRPr sz="1200" u="none" cap="none" strike="noStrike">
                        <a:latin typeface="Cambria"/>
                        <a:ea typeface="Cambria"/>
                        <a:cs typeface="Cambria"/>
                        <a:sym typeface="Cambria"/>
                      </a:endParaRPr>
                    </a:p>
                  </a:txBody>
                  <a:tcPr marT="91425" marB="91425" marR="91425" marL="91425"/>
                </a:tc>
              </a:tr>
              <a:tr h="1321425">
                <a:tc>
                  <a:txBody>
                    <a:bodyPr/>
                    <a:lstStyle/>
                    <a:p>
                      <a:pPr indent="0" lvl="0" marL="0" marR="0" rtl="0" algn="l">
                        <a:lnSpc>
                          <a:spcPct val="100000"/>
                        </a:lnSpc>
                        <a:spcBef>
                          <a:spcPts val="0"/>
                        </a:spcBef>
                        <a:spcAft>
                          <a:spcPts val="0"/>
                        </a:spcAft>
                        <a:buClr>
                          <a:srgbClr val="000000"/>
                        </a:buClr>
                        <a:buSzPts val="1100"/>
                        <a:buFont typeface="Arial"/>
                        <a:buNone/>
                      </a:pPr>
                      <a:r>
                        <a:rPr b="1" lang="en-IN" sz="1100" u="none" cap="none" strike="noStrike">
                          <a:latin typeface="Cambria"/>
                          <a:ea typeface="Cambria"/>
                          <a:cs typeface="Cambria"/>
                          <a:sym typeface="Cambria"/>
                        </a:rPr>
                        <a:t>Month 2</a:t>
                      </a:r>
                      <a:endParaRPr b="1" sz="11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Model Development</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Fine-tune sentiment models (BERT / RoBERTa) • Evaluate model performance against baseline methods • Develop initial text summarization prototype</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Trained sentiment model </a:t>
                      </a:r>
                      <a:endParaRPr sz="1200" u="none" cap="none" strike="noStrike">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Evaluation metrics • Summary generation prototype</a:t>
                      </a:r>
                      <a:endParaRPr sz="1200" u="none" cap="none" strike="noStrike">
                        <a:latin typeface="Cambria"/>
                        <a:ea typeface="Cambria"/>
                        <a:cs typeface="Cambria"/>
                        <a:sym typeface="Cambria"/>
                      </a:endParaRPr>
                    </a:p>
                  </a:txBody>
                  <a:tcPr marT="91425" marB="91425" marR="91425" marL="91425"/>
                </a:tc>
              </a:tr>
              <a:tr h="1158100">
                <a:tc>
                  <a:txBody>
                    <a:bodyPr/>
                    <a:lstStyle/>
                    <a:p>
                      <a:pPr indent="0" lvl="0" marL="0" marR="0" rtl="0" algn="l">
                        <a:lnSpc>
                          <a:spcPct val="100000"/>
                        </a:lnSpc>
                        <a:spcBef>
                          <a:spcPts val="0"/>
                        </a:spcBef>
                        <a:spcAft>
                          <a:spcPts val="0"/>
                        </a:spcAft>
                        <a:buClr>
                          <a:srgbClr val="000000"/>
                        </a:buClr>
                        <a:buSzPts val="1100"/>
                        <a:buFont typeface="Arial"/>
                        <a:buNone/>
                      </a:pPr>
                      <a:r>
                        <a:rPr b="1" lang="en-IN" sz="1100" u="none" cap="none" strike="noStrike">
                          <a:latin typeface="Cambria"/>
                          <a:ea typeface="Cambria"/>
                          <a:cs typeface="Cambria"/>
                          <a:sym typeface="Cambria"/>
                        </a:rPr>
                        <a:t>Month 3</a:t>
                      </a:r>
                      <a:endParaRPr b="1" sz="11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Advanced Features</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Aspect / topic extraction • Duplicate comment detection • Generate word clouds and sentiment visualizations • Integrate models with dashboard UI</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Topic insights • Visual analytics </a:t>
                      </a:r>
                      <a:endParaRPr sz="1200" u="none" cap="none" strike="noStrike">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Functional dashboard</a:t>
                      </a:r>
                      <a:endParaRPr sz="1200" u="none" cap="none" strike="noStrike">
                        <a:latin typeface="Cambria"/>
                        <a:ea typeface="Cambria"/>
                        <a:cs typeface="Cambria"/>
                        <a:sym typeface="Cambria"/>
                      </a:endParaRPr>
                    </a:p>
                  </a:txBody>
                  <a:tcPr marT="91425" marB="91425" marR="91425" marL="91425"/>
                </a:tc>
              </a:tr>
              <a:tr h="1321425">
                <a:tc>
                  <a:txBody>
                    <a:bodyPr/>
                    <a:lstStyle/>
                    <a:p>
                      <a:pPr indent="0" lvl="0" marL="0" marR="0" rtl="0" algn="l">
                        <a:lnSpc>
                          <a:spcPct val="100000"/>
                        </a:lnSpc>
                        <a:spcBef>
                          <a:spcPts val="0"/>
                        </a:spcBef>
                        <a:spcAft>
                          <a:spcPts val="0"/>
                        </a:spcAft>
                        <a:buClr>
                          <a:srgbClr val="000000"/>
                        </a:buClr>
                        <a:buSzPts val="1100"/>
                        <a:buFont typeface="Arial"/>
                        <a:buNone/>
                      </a:pPr>
                      <a:r>
                        <a:rPr b="1" lang="en-IN" sz="1100" u="none" cap="none" strike="noStrike">
                          <a:latin typeface="Cambria"/>
                          <a:ea typeface="Cambria"/>
                          <a:cs typeface="Cambria"/>
                          <a:sym typeface="Cambria"/>
                        </a:rPr>
                        <a:t>Month 4</a:t>
                      </a:r>
                      <a:endParaRPr b="1" sz="11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Testing &amp; Final Delivery</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System testing and validation • Performance optimization • Final documentation and report preparation • GitHub code organization and submission</a:t>
                      </a:r>
                      <a:endParaRPr sz="12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 Final system • Project report </a:t>
                      </a:r>
                      <a:endParaRPr sz="1200" u="none" cap="none" strike="noStrike">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200"/>
                        <a:buFont typeface="Arial"/>
                        <a:buNone/>
                      </a:pPr>
                      <a:r>
                        <a:rPr lang="en-IN" sz="1200" u="none" cap="none" strike="noStrike">
                          <a:latin typeface="Cambria"/>
                          <a:ea typeface="Cambria"/>
                          <a:cs typeface="Cambria"/>
                          <a:sym typeface="Cambria"/>
                        </a:rPr>
                        <a:t>&amp; PPT • Public GitHub repository</a:t>
                      </a:r>
                      <a:endParaRPr sz="1200" u="none" cap="none" strike="noStrike">
                        <a:latin typeface="Cambria"/>
                        <a:ea typeface="Cambria"/>
                        <a:cs typeface="Cambria"/>
                        <a:sym typeface="Cambria"/>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IN">
                <a:latin typeface="Cambria"/>
                <a:ea typeface="Cambria"/>
                <a:cs typeface="Cambria"/>
                <a:sym typeface="Cambria"/>
              </a:rPr>
              <a:t>References </a:t>
            </a:r>
            <a:endParaRPr>
              <a:latin typeface="Cambria"/>
              <a:ea typeface="Cambria"/>
              <a:cs typeface="Cambria"/>
              <a:sym typeface="Cambria"/>
            </a:endParaRPr>
          </a:p>
        </p:txBody>
      </p:sp>
      <p:sp>
        <p:nvSpPr>
          <p:cNvPr id="166" name="Google Shape;166;p25"/>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15000"/>
              </a:lnSpc>
              <a:spcBef>
                <a:spcPts val="1200"/>
              </a:spcBef>
              <a:spcAft>
                <a:spcPts val="0"/>
              </a:spcAft>
              <a:buClr>
                <a:schemeClr val="dk1"/>
              </a:buClr>
              <a:buSzPct val="100000"/>
              <a:buFont typeface="Arial"/>
              <a:buNone/>
            </a:pPr>
            <a:r>
              <a:rPr lang="en-IN" sz="1100">
                <a:latin typeface="Arial"/>
                <a:ea typeface="Arial"/>
                <a:cs typeface="Arial"/>
                <a:sym typeface="Arial"/>
              </a:rPr>
              <a:t>[1] B. Liu, </a:t>
            </a:r>
            <a:r>
              <a:rPr i="1" lang="en-IN" sz="1100">
                <a:latin typeface="Arial"/>
                <a:ea typeface="Arial"/>
                <a:cs typeface="Arial"/>
                <a:sym typeface="Arial"/>
              </a:rPr>
              <a:t>Sentiment Analysis and Opinion Mining</a:t>
            </a:r>
            <a:r>
              <a:rPr lang="en-IN" sz="1100">
                <a:latin typeface="Arial"/>
                <a:ea typeface="Arial"/>
                <a:cs typeface="Arial"/>
                <a:sym typeface="Arial"/>
              </a:rPr>
              <a:t>, Morgan &amp; Claypool Publishers, San Rafael, CA, USA, 2012.</a:t>
            </a:r>
            <a:br>
              <a:rPr lang="en-IN" sz="1100">
                <a:latin typeface="Arial"/>
                <a:ea typeface="Arial"/>
                <a:cs typeface="Arial"/>
                <a:sym typeface="Arial"/>
              </a:rPr>
            </a:br>
            <a:r>
              <a:rPr i="1" lang="en-IN" sz="1100">
                <a:latin typeface="Arial"/>
                <a:ea typeface="Arial"/>
                <a:cs typeface="Arial"/>
                <a:sym typeface="Arial"/>
              </a:rPr>
              <a:t>(Foundational reference for sentiment analysis concepts used in this project.)</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rPr i="1" lang="en-IN" sz="1100">
                <a:latin typeface="Arial"/>
                <a:ea typeface="Arial"/>
                <a:cs typeface="Arial"/>
                <a:sym typeface="Arial"/>
              </a:rPr>
              <a:t>[2] C. J. Hutto and E. Gilbert, “VADER: A Parsimonious Rule-Based Model for Sentiment Analysis of Social Media Text,” in Proceedings of the 8th International AAAI Conference on Weblogs and Social Media (ICWSM)</a:t>
            </a:r>
            <a:r>
              <a:rPr lang="en-IN" sz="1100">
                <a:latin typeface="Arial"/>
                <a:ea typeface="Arial"/>
                <a:cs typeface="Arial"/>
                <a:sym typeface="Arial"/>
              </a:rPr>
              <a:t>, Ann Arbor, MI, USA, 2014, pp. 216–225.</a:t>
            </a:r>
            <a:br>
              <a:rPr lang="en-IN" sz="1100">
                <a:latin typeface="Arial"/>
                <a:ea typeface="Arial"/>
                <a:cs typeface="Arial"/>
                <a:sym typeface="Arial"/>
              </a:rPr>
            </a:br>
            <a:r>
              <a:rPr i="1" lang="en-IN" sz="1100">
                <a:latin typeface="Arial"/>
                <a:ea typeface="Arial"/>
                <a:cs typeface="Arial"/>
                <a:sym typeface="Arial"/>
              </a:rPr>
              <a:t>(Used for lexicon-based sentiment analysis in the proposed system.)</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rPr i="1" lang="en-IN" sz="1100">
                <a:latin typeface="Arial"/>
                <a:ea typeface="Arial"/>
                <a:cs typeface="Arial"/>
                <a:sym typeface="Arial"/>
              </a:rPr>
              <a:t>[3] J. Devlin, M.-W. Chang, K. Lee, and K. Toutanova, “BERT: Pre-training of Deep Bidirectional Transformers for Language Understanding,” in Proceedings of the 2019 Conference of the North American Chapter of the Association for Computational Linguistics (NAACL)</a:t>
            </a:r>
            <a:r>
              <a:rPr lang="en-IN" sz="1100">
                <a:latin typeface="Arial"/>
                <a:ea typeface="Arial"/>
                <a:cs typeface="Arial"/>
                <a:sym typeface="Arial"/>
              </a:rPr>
              <a:t>, Minneapolis, MN, USA, 2019, pp. 4171–4186.</a:t>
            </a:r>
            <a:br>
              <a:rPr lang="en-IN" sz="1100">
                <a:latin typeface="Arial"/>
                <a:ea typeface="Arial"/>
                <a:cs typeface="Arial"/>
                <a:sym typeface="Arial"/>
              </a:rPr>
            </a:br>
            <a:r>
              <a:rPr i="1" lang="en-IN" sz="1100">
                <a:latin typeface="Arial"/>
                <a:ea typeface="Arial"/>
                <a:cs typeface="Arial"/>
                <a:sym typeface="Arial"/>
              </a:rPr>
              <a:t>(Transformer-based models accessed via HuggingFace for sentiment analysis and summarization.)</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rPr i="1" lang="en-IN" sz="1100">
                <a:latin typeface="Arial"/>
                <a:ea typeface="Arial"/>
                <a:cs typeface="Arial"/>
                <a:sym typeface="Arial"/>
              </a:rPr>
              <a:t>[4] M. Lewis et al.</a:t>
            </a:r>
            <a:r>
              <a:rPr lang="en-IN" sz="1100">
                <a:latin typeface="Arial"/>
                <a:ea typeface="Arial"/>
                <a:cs typeface="Arial"/>
                <a:sym typeface="Arial"/>
              </a:rPr>
              <a:t>, “BART: Denoising Sequence-to-Sequence Pre-training for Natural Language Generation, Translation, and Comprehension,” in </a:t>
            </a:r>
            <a:r>
              <a:rPr i="1" lang="en-IN" sz="1100">
                <a:latin typeface="Arial"/>
                <a:ea typeface="Arial"/>
                <a:cs typeface="Arial"/>
                <a:sym typeface="Arial"/>
              </a:rPr>
              <a:t>Proceedings of the 58th Annual Meeting of the Association for Computational Linguistics (ACL)</a:t>
            </a:r>
            <a:r>
              <a:rPr lang="en-IN" sz="1100">
                <a:latin typeface="Arial"/>
                <a:ea typeface="Arial"/>
                <a:cs typeface="Arial"/>
                <a:sym typeface="Arial"/>
              </a:rPr>
              <a:t>, Online, 2020, pp. 7871–7880.</a:t>
            </a:r>
            <a:br>
              <a:rPr lang="en-IN" sz="1100">
                <a:latin typeface="Arial"/>
                <a:ea typeface="Arial"/>
                <a:cs typeface="Arial"/>
                <a:sym typeface="Arial"/>
              </a:rPr>
            </a:br>
            <a:r>
              <a:rPr i="1" lang="en-IN" sz="1100">
                <a:latin typeface="Arial"/>
                <a:ea typeface="Arial"/>
                <a:cs typeface="Arial"/>
                <a:sym typeface="Arial"/>
              </a:rPr>
              <a:t>(Used for abstractive text summarization of public comments.)</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rPr i="1" lang="en-IN" sz="1100">
                <a:latin typeface="Arial"/>
                <a:ea typeface="Arial"/>
                <a:cs typeface="Arial"/>
                <a:sym typeface="Arial"/>
              </a:rPr>
              <a:t>[5] A. Go, R. Bhayani, and L. Huang, “Twitter Sentiment Classification using Distant Supervision,” Stanford University</a:t>
            </a:r>
            <a:r>
              <a:rPr lang="en-IN" sz="1100">
                <a:latin typeface="Arial"/>
                <a:ea typeface="Arial"/>
                <a:cs typeface="Arial"/>
                <a:sym typeface="Arial"/>
              </a:rPr>
              <a:t>, Tech. Rep., 2009.</a:t>
            </a:r>
            <a:br>
              <a:rPr lang="en-IN" sz="1100">
                <a:latin typeface="Arial"/>
                <a:ea typeface="Arial"/>
                <a:cs typeface="Arial"/>
                <a:sym typeface="Arial"/>
              </a:rPr>
            </a:br>
            <a:r>
              <a:rPr i="1" lang="en-IN" sz="1100">
                <a:latin typeface="Arial"/>
                <a:ea typeface="Arial"/>
                <a:cs typeface="Arial"/>
                <a:sym typeface="Arial"/>
              </a:rPr>
              <a:t>(Publicly available sentiment dataset used as the base for training the machine learning model.)</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rPr i="1" lang="en-IN" sz="1100">
                <a:latin typeface="Arial"/>
                <a:ea typeface="Arial"/>
                <a:cs typeface="Arial"/>
                <a:sym typeface="Arial"/>
              </a:rPr>
              <a:t>[6] Federal Communications Commission (FCC), “Public Notice and Comment Procedures,” FCC, Washington, DC, USA. [Online]. Available:</a:t>
            </a:r>
            <a:r>
              <a:rPr i="1" lang="en-IN" sz="1100">
                <a:uFill>
                  <a:noFill/>
                </a:uFill>
                <a:latin typeface="Arial"/>
                <a:ea typeface="Arial"/>
                <a:cs typeface="Arial"/>
                <a:sym typeface="Arial"/>
                <a:hlinkClick r:id="rId3"/>
              </a:rPr>
              <a:t> </a:t>
            </a:r>
            <a:r>
              <a:rPr lang="en-IN" sz="1100" u="sng">
                <a:solidFill>
                  <a:schemeClr val="hlink"/>
                </a:solidFill>
                <a:latin typeface="Arial"/>
                <a:ea typeface="Arial"/>
                <a:cs typeface="Arial"/>
                <a:sym typeface="Arial"/>
                <a:hlinkClick r:id="rId4"/>
              </a:rPr>
              <a:t>https://www.fcc.gov</a:t>
            </a:r>
            <a:br>
              <a:rPr lang="en-IN" sz="1100" u="sng">
                <a:solidFill>
                  <a:schemeClr val="hlink"/>
                </a:solidFill>
                <a:latin typeface="Arial"/>
                <a:ea typeface="Arial"/>
                <a:cs typeface="Arial"/>
                <a:sym typeface="Arial"/>
                <a:hlinkClick r:id="rId5"/>
              </a:rPr>
            </a:br>
            <a:r>
              <a:rPr i="1" lang="en-IN" sz="1100">
                <a:latin typeface="Arial"/>
                <a:ea typeface="Arial"/>
                <a:cs typeface="Arial"/>
                <a:sym typeface="Arial"/>
              </a:rPr>
              <a:t>(Referenced to understand public consultation and comment-based regulatory feedback mechanisms.)</a:t>
            </a:r>
            <a:endParaRPr i="1" sz="1100">
              <a:latin typeface="Arial"/>
              <a:ea typeface="Arial"/>
              <a:cs typeface="Arial"/>
              <a:sym typeface="Arial"/>
            </a:endParaRPr>
          </a:p>
          <a:p>
            <a:pPr indent="0" lvl="0" marL="76200" rtl="0" algn="l">
              <a:lnSpc>
                <a:spcPct val="100000"/>
              </a:lnSpc>
              <a:spcBef>
                <a:spcPts val="1200"/>
              </a:spcBef>
              <a:spcAft>
                <a:spcPts val="0"/>
              </a:spcAft>
              <a:buSzPct val="133333"/>
              <a:buNone/>
            </a:pPr>
            <a:r>
              <a:t/>
            </a:r>
            <a:endParaRPr sz="1800">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6"/>
          <p:cNvPicPr preferRelativeResize="0"/>
          <p:nvPr/>
        </p:nvPicPr>
        <p:blipFill rotWithShape="1">
          <a:blip r:embed="rId3">
            <a:alphaModFix/>
          </a:blip>
          <a:srcRect b="0" l="0" r="0" t="0"/>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