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CC0A5A-7416-43B8-974E-C326EB0DB30E}">
  <a:tblStyle styleId="{AFCC0A5A-7416-43B8-974E-C326EB0DB30E}"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7B6C911-E3F7-49F0-A06A-BE314B7AFAE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4003a5b0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g3c4003a5b0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4003a5b05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c4003a5b05_0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4003a5b05_0_2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c4003a5b05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4003a5b05_0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c4003a5b05_0_4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4003a5b05_0_5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c4003a5b05_0_5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51a34fe07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51a34fe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51a34fe07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51a34fe0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51a34fe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51a34fe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51a34fe07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c51a34fe0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51a34fe07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51a34fe0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4003a5b05_0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c4003a5b05_0_5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6"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fcc.gov" TargetMode="External"/><Relationship Id="rId4" Type="http://schemas.openxmlformats.org/officeDocument/2006/relationships/hyperlink" Target="https://www.fcc.gov" TargetMode="External"/><Relationship Id="rId5" Type="http://schemas.openxmlformats.org/officeDocument/2006/relationships/hyperlink" Target="https://www.fcc.gov"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IN" sz="2200">
                <a:solidFill>
                  <a:srgbClr val="212529"/>
                </a:solidFill>
                <a:highlight>
                  <a:srgbClr val="FFFFFF"/>
                </a:highlight>
                <a:latin typeface="Cambria"/>
                <a:ea typeface="Cambria"/>
                <a:cs typeface="Cambria"/>
                <a:sym typeface="Cambria"/>
              </a:rPr>
              <a:t>Sentiment analysis of comments received through E-consultation module</a:t>
            </a:r>
            <a:endParaRPr sz="36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100777"/>
            <a:ext cx="4391100"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IN" sz="1800">
                <a:latin typeface="Cambria"/>
                <a:ea typeface="Cambria"/>
                <a:cs typeface="Cambria"/>
                <a:sym typeface="Cambria"/>
              </a:rPr>
              <a:t>Batch Number:  CSD_8</a:t>
            </a:r>
            <a:endParaRPr sz="1800">
              <a:latin typeface="Cambria"/>
              <a:ea typeface="Cambria"/>
              <a:cs typeface="Cambria"/>
              <a:sym typeface="Cambria"/>
            </a:endParaRPr>
          </a:p>
        </p:txBody>
      </p:sp>
      <p:sp>
        <p:nvSpPr>
          <p:cNvPr id="89" name="Google Shape;89;p13"/>
          <p:cNvSpPr txBox="1"/>
          <p:nvPr/>
        </p:nvSpPr>
        <p:spPr>
          <a:xfrm>
            <a:off x="6480195" y="2513340"/>
            <a:ext cx="5514300" cy="202050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IN"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Mr. Anand Haridas</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197505" y="2721840"/>
          <a:ext cx="3000000" cy="3000000"/>
        </p:xfrm>
        <a:graphic>
          <a:graphicData uri="http://schemas.openxmlformats.org/drawingml/2006/table">
            <a:tbl>
              <a:tblPr bandRow="1" firstRow="1">
                <a:noFill/>
                <a:tableStyleId>{AFCC0A5A-7416-43B8-974E-C326EB0DB30E}</a:tableStyleId>
              </a:tblPr>
              <a:tblGrid>
                <a:gridCol w="2221925"/>
                <a:gridCol w="3552600"/>
              </a:tblGrid>
              <a:tr h="283500">
                <a:tc>
                  <a:txBody>
                    <a:bodyPr/>
                    <a:lstStyle/>
                    <a:p>
                      <a:pPr indent="0" lvl="1"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20221CSD0134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CHIRAG K 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20221CSD0133</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ARJUN ATHREY</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20221CSD0145</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SRUSHTI S GOLAPPANAVAR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9000" cy="72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310"/>
              </a:spcBef>
              <a:spcAft>
                <a:spcPts val="0"/>
              </a:spcAft>
              <a:buClr>
                <a:srgbClr val="17365D"/>
              </a:buClr>
              <a:buSzPts val="1800"/>
              <a:buFont typeface="Arial"/>
              <a:buNone/>
            </a:pPr>
            <a:r>
              <a:rPr b="1" i="0" lang="en-IN"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0" y="4533900"/>
            <a:ext cx="122499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Program: </a:t>
            </a:r>
            <a:r>
              <a:rPr b="1" i="0" lang="en-IN" sz="1800" u="none" cap="none" strike="noStrike">
                <a:solidFill>
                  <a:schemeClr val="dk1"/>
                </a:solidFill>
                <a:latin typeface="Cambria"/>
                <a:ea typeface="Cambria"/>
                <a:cs typeface="Cambria"/>
                <a:sym typeface="Cambria"/>
              </a:rPr>
              <a:t>B.Tech  (Computer Science and Engineering{DATA SCIENCE})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IN" sz="1800" u="none" cap="none" strike="noStrike">
                <a:solidFill>
                  <a:schemeClr val="accent1"/>
                </a:solidFill>
                <a:latin typeface="Cambria"/>
                <a:ea typeface="Cambria"/>
                <a:cs typeface="Cambria"/>
                <a:sym typeface="Cambria"/>
              </a:rPr>
              <a:t>Name of the HoD: </a:t>
            </a:r>
            <a:r>
              <a:rPr b="1" i="0" lang="en-IN" sz="1800" u="none" cap="none" strike="noStrike">
                <a:solidFill>
                  <a:schemeClr val="dk1"/>
                </a:solidFill>
                <a:latin typeface="Cambria"/>
                <a:ea typeface="Cambria"/>
                <a:cs typeface="Cambria"/>
                <a:sym typeface="Cambria"/>
              </a:rPr>
              <a:t>Dr. Pravinthraja S</a:t>
            </a:r>
            <a:endParaRPr b="1" i="0" sz="1800" u="none" cap="none" strike="noStrike">
              <a:solidFill>
                <a:srgbClr val="FF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Program Project Coordinator: </a:t>
            </a:r>
            <a:r>
              <a:rPr b="1" i="0" lang="en-IN" sz="1800" u="none" cap="none" strike="noStrike">
                <a:solidFill>
                  <a:schemeClr val="dk1"/>
                </a:solidFill>
                <a:latin typeface="Cambria"/>
                <a:ea typeface="Cambria"/>
                <a:cs typeface="Cambria"/>
                <a:sym typeface="Cambria"/>
              </a:rPr>
              <a:t>Dr. H M Manjula</a:t>
            </a:r>
            <a:endParaRPr b="1" i="0"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School Project Coordinators: </a:t>
            </a:r>
            <a:r>
              <a:rPr b="1" i="0" lang="en-IN"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title"/>
          </p:nvPr>
        </p:nvSpPr>
        <p:spPr>
          <a:xfrm>
            <a:off x="904240" y="274499"/>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Problem Statement Number: 25035</a:t>
            </a:r>
            <a:endParaRPr>
              <a:latin typeface="Cambria"/>
              <a:ea typeface="Cambria"/>
              <a:cs typeface="Cambria"/>
              <a:sym typeface="Cambria"/>
            </a:endParaRPr>
          </a:p>
        </p:txBody>
      </p:sp>
      <p:sp>
        <p:nvSpPr>
          <p:cNvPr id="98" name="Google Shape;98;p14"/>
          <p:cNvSpPr txBox="1"/>
          <p:nvPr>
            <p:ph idx="1" type="body"/>
          </p:nvPr>
        </p:nvSpPr>
        <p:spPr>
          <a:xfrm>
            <a:off x="762000" y="1143001"/>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SzPts val="2595"/>
              <a:buNone/>
            </a:pPr>
            <a:r>
              <a:rPr b="1" lang="en-IN" sz="1700">
                <a:latin typeface="Cambria"/>
                <a:ea typeface="Cambria"/>
                <a:cs typeface="Cambria"/>
                <a:sym typeface="Cambria"/>
              </a:rPr>
              <a:t>Organization: Ministry of Corporate Affairs </a:t>
            </a:r>
            <a:r>
              <a:rPr b="1" lang="en-IN" sz="1700">
                <a:solidFill>
                  <a:srgbClr val="212529"/>
                </a:solidFill>
                <a:latin typeface="Cambria"/>
                <a:ea typeface="Cambria"/>
                <a:cs typeface="Cambria"/>
                <a:sym typeface="Cambria"/>
              </a:rPr>
              <a:t>(MoCA)</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rPr b="1" lang="en-IN" sz="1700">
                <a:latin typeface="Cambria"/>
                <a:ea typeface="Cambria"/>
                <a:cs typeface="Cambria"/>
                <a:sym typeface="Cambria"/>
              </a:rPr>
              <a:t>Category : Software</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rPr b="1" lang="en-IN" sz="1700">
                <a:latin typeface="Cambria"/>
                <a:ea typeface="Cambria"/>
                <a:cs typeface="Cambria"/>
                <a:sym typeface="Cambria"/>
              </a:rPr>
              <a:t>Problem Description: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rPr lang="en-IN" sz="1700">
                <a:solidFill>
                  <a:srgbClr val="212529"/>
                </a:solidFill>
                <a:latin typeface="Cambria"/>
                <a:ea typeface="Cambria"/>
                <a:cs typeface="Cambria"/>
                <a:sym typeface="Cambria"/>
              </a:rPr>
              <a:t>   The draft document soliciting comments is made available for a specified period, during which any stakeholder may submit their observations either on the overall amendment or on specific provisions of the draft legislation. In instances where a substantial volume of comments is received on draft legislation, there exists a risk of certain observations being inadvertently overlooked or inadequately analysed. In order to review each individual submission, leveraging AI-assisted tools will help ensure that all remarks are duly considered and systematically analysed. Requirement is the development of an AI model aimed at predicting the sentiments of the suggestions provided by stakeholders in the eConsultation module. It should also generate a visual representation in the form of a word cloud, highlighting the keywords utilised by the stakeholders within their suggestions.</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p:nvPr>
            <p:ph idx="1" type="body"/>
          </p:nvPr>
        </p:nvSpPr>
        <p:spPr>
          <a:xfrm>
            <a:off x="655782" y="1466273"/>
            <a:ext cx="10668000" cy="3924299"/>
          </a:xfrm>
          <a:prstGeom prst="rect">
            <a:avLst/>
          </a:prstGeom>
          <a:noFill/>
          <a:ln>
            <a:noFill/>
          </a:ln>
        </p:spPr>
        <p:txBody>
          <a:bodyPr anchorCtr="0" anchor="t" bIns="45700" lIns="91425" spcFirstLastPara="1" rIns="91425" wrap="square" tIns="45700">
            <a:noAutofit/>
          </a:bodyPr>
          <a:lstStyle/>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Problem Statement</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Objectives</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Analysis of Problem Statement</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Proposed method and feasibility study</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Literature review</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Architecture Diagram</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Git-hub Link</a:t>
            </a:r>
            <a:endParaRPr b="1" sz="1979">
              <a:latin typeface="Arial"/>
              <a:ea typeface="Arial"/>
              <a:cs typeface="Arial"/>
              <a:sym typeface="Arial"/>
            </a:endParaRPr>
          </a:p>
          <a:p>
            <a:pPr indent="-337457" lvl="0" marL="495300" rtl="0" algn="just">
              <a:lnSpc>
                <a:spcPct val="115000"/>
              </a:lnSpc>
              <a:spcBef>
                <a:spcPts val="0"/>
              </a:spcBef>
              <a:spcAft>
                <a:spcPts val="0"/>
              </a:spcAft>
              <a:buClr>
                <a:schemeClr val="dk1"/>
              </a:buClr>
              <a:buSzPts val="2314"/>
              <a:buChar char="•"/>
            </a:pPr>
            <a:r>
              <a:rPr b="1" lang="en-IN" sz="1882">
                <a:latin typeface="Arial"/>
                <a:ea typeface="Arial"/>
                <a:cs typeface="Arial"/>
                <a:sym typeface="Arial"/>
              </a:rPr>
              <a:t>Timeline of the Project</a:t>
            </a:r>
            <a:endParaRPr b="1" sz="1979">
              <a:latin typeface="Arial"/>
              <a:ea typeface="Arial"/>
              <a:cs typeface="Arial"/>
              <a:sym typeface="Arial"/>
            </a:endParaRPr>
          </a:p>
          <a:p>
            <a:pPr indent="-337457" lvl="0" marL="495300" rtl="0" algn="just">
              <a:lnSpc>
                <a:spcPct val="115000"/>
              </a:lnSpc>
              <a:spcBef>
                <a:spcPts val="0"/>
              </a:spcBef>
              <a:spcAft>
                <a:spcPts val="0"/>
              </a:spcAft>
              <a:buClr>
                <a:schemeClr val="dk1"/>
              </a:buClr>
              <a:buSzPts val="2314"/>
              <a:buChar char="•"/>
            </a:pPr>
            <a:r>
              <a:rPr b="1" lang="en-IN" sz="1882">
                <a:latin typeface="Arial"/>
                <a:ea typeface="Arial"/>
                <a:cs typeface="Arial"/>
                <a:sym typeface="Arial"/>
              </a:rPr>
              <a:t>References</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t>Objectives</a:t>
            </a:r>
            <a:endParaRPr/>
          </a:p>
        </p:txBody>
      </p:sp>
      <p:sp>
        <p:nvSpPr>
          <p:cNvPr id="110" name="Google Shape;110;p16"/>
          <p:cNvSpPr txBox="1"/>
          <p:nvPr>
            <p:ph idx="1" type="body"/>
          </p:nvPr>
        </p:nvSpPr>
        <p:spPr>
          <a:xfrm>
            <a:off x="762000" y="1216775"/>
            <a:ext cx="10668000" cy="49818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b="1" lang="en-IN" sz="1400">
                <a:latin typeface="Arial"/>
                <a:ea typeface="Arial"/>
                <a:cs typeface="Arial"/>
                <a:sym typeface="Arial"/>
              </a:rPr>
              <a:t>Automated Sentiment Classification</a:t>
            </a:r>
            <a:br>
              <a:rPr b="1" lang="en-IN" sz="1400">
                <a:latin typeface="Arial"/>
                <a:ea typeface="Arial"/>
                <a:cs typeface="Arial"/>
                <a:sym typeface="Arial"/>
              </a:rPr>
            </a:br>
            <a:r>
              <a:rPr lang="en-IN" sz="1400">
                <a:latin typeface="Arial"/>
                <a:ea typeface="Arial"/>
                <a:cs typeface="Arial"/>
                <a:sym typeface="Arial"/>
              </a:rPr>
              <a:t> Classify stakeholder comments into </a:t>
            </a:r>
            <a:r>
              <a:rPr b="1" lang="en-IN" sz="1400">
                <a:latin typeface="Arial"/>
                <a:ea typeface="Arial"/>
                <a:cs typeface="Arial"/>
                <a:sym typeface="Arial"/>
              </a:rPr>
              <a:t>Positive, Neutral, or Negative</a:t>
            </a:r>
            <a:r>
              <a:rPr lang="en-IN" sz="1400">
                <a:latin typeface="Arial"/>
                <a:ea typeface="Arial"/>
                <a:cs typeface="Arial"/>
                <a:sym typeface="Arial"/>
              </a:rPr>
              <a:t> using transformer-based models.</a:t>
            </a:r>
            <a:br>
              <a:rPr lang="en-I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Topic-wise Feedback Collection</a:t>
            </a:r>
            <a:br>
              <a:rPr b="1" lang="en-IN" sz="1400">
                <a:latin typeface="Arial"/>
                <a:ea typeface="Arial"/>
                <a:cs typeface="Arial"/>
                <a:sym typeface="Arial"/>
              </a:rPr>
            </a:br>
            <a:r>
              <a:rPr lang="en-IN" sz="1400">
                <a:latin typeface="Arial"/>
                <a:ea typeface="Arial"/>
                <a:cs typeface="Arial"/>
                <a:sym typeface="Arial"/>
              </a:rPr>
              <a:t> Allow </a:t>
            </a:r>
            <a:r>
              <a:rPr b="1" lang="en-IN" sz="1400">
                <a:latin typeface="Arial"/>
                <a:ea typeface="Arial"/>
                <a:cs typeface="Arial"/>
                <a:sym typeface="Arial"/>
              </a:rPr>
              <a:t>citizens and experts</a:t>
            </a:r>
            <a:r>
              <a:rPr lang="en-IN" sz="1400">
                <a:latin typeface="Arial"/>
                <a:ea typeface="Arial"/>
                <a:cs typeface="Arial"/>
                <a:sym typeface="Arial"/>
              </a:rPr>
              <a:t> to submit comments linked to consultation topics.</a:t>
            </a:r>
            <a:br>
              <a:rPr lang="en-I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Administrative Analytics Dashboard</a:t>
            </a:r>
            <a:br>
              <a:rPr b="1" lang="en-IN" sz="1400">
                <a:latin typeface="Arial"/>
                <a:ea typeface="Arial"/>
                <a:cs typeface="Arial"/>
                <a:sym typeface="Arial"/>
              </a:rPr>
            </a:br>
            <a:r>
              <a:rPr lang="en-IN" sz="1400">
                <a:latin typeface="Arial"/>
                <a:ea typeface="Arial"/>
                <a:cs typeface="Arial"/>
                <a:sym typeface="Arial"/>
              </a:rPr>
              <a:t> Provide administrators with </a:t>
            </a:r>
            <a:r>
              <a:rPr b="1" lang="en-IN" sz="1400">
                <a:latin typeface="Arial"/>
                <a:ea typeface="Arial"/>
                <a:cs typeface="Arial"/>
                <a:sym typeface="Arial"/>
              </a:rPr>
              <a:t>sentiment distributions, comment insights, and visual analytics</a:t>
            </a:r>
            <a:r>
              <a:rPr lang="en-IN" sz="1400">
                <a:latin typeface="Arial"/>
                <a:ea typeface="Arial"/>
                <a:cs typeface="Arial"/>
                <a:sym typeface="Arial"/>
              </a:rPr>
              <a:t>.</a:t>
            </a:r>
            <a:br>
              <a:rPr lang="en-I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Text Summarization</a:t>
            </a:r>
            <a:br>
              <a:rPr b="1" lang="en-IN" sz="1400">
                <a:latin typeface="Arial"/>
                <a:ea typeface="Arial"/>
                <a:cs typeface="Arial"/>
                <a:sym typeface="Arial"/>
              </a:rPr>
            </a:br>
            <a:r>
              <a:rPr lang="en-IN" sz="1400">
                <a:latin typeface="Arial"/>
                <a:ea typeface="Arial"/>
                <a:cs typeface="Arial"/>
                <a:sym typeface="Arial"/>
              </a:rPr>
              <a:t> Automatically generate </a:t>
            </a:r>
            <a:r>
              <a:rPr b="1" lang="en-IN" sz="1400">
                <a:latin typeface="Arial"/>
                <a:ea typeface="Arial"/>
                <a:cs typeface="Arial"/>
                <a:sym typeface="Arial"/>
              </a:rPr>
              <a:t>concise summaries of large volumes of public feedback</a:t>
            </a:r>
            <a:r>
              <a:rPr lang="en-IN" sz="1400">
                <a:latin typeface="Arial"/>
                <a:ea typeface="Arial"/>
                <a:cs typeface="Arial"/>
                <a:sym typeface="Arial"/>
              </a:rPr>
              <a:t>.</a:t>
            </a:r>
            <a:br>
              <a:rPr lang="en-I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Keyword &amp; Word Frequency Extraction</a:t>
            </a:r>
            <a:br>
              <a:rPr b="1" lang="en-IN" sz="1400">
                <a:latin typeface="Arial"/>
                <a:ea typeface="Arial"/>
                <a:cs typeface="Arial"/>
                <a:sym typeface="Arial"/>
              </a:rPr>
            </a:br>
            <a:r>
              <a:rPr lang="en-IN" sz="1400">
                <a:latin typeface="Arial"/>
                <a:ea typeface="Arial"/>
                <a:cs typeface="Arial"/>
                <a:sym typeface="Arial"/>
              </a:rPr>
              <a:t> Identify </a:t>
            </a:r>
            <a:r>
              <a:rPr b="1" lang="en-IN" sz="1400">
                <a:latin typeface="Arial"/>
                <a:ea typeface="Arial"/>
                <a:cs typeface="Arial"/>
                <a:sym typeface="Arial"/>
              </a:rPr>
              <a:t>frequently used terms and major discussion themes</a:t>
            </a:r>
            <a:r>
              <a:rPr lang="en-IN" sz="1400">
                <a:latin typeface="Arial"/>
                <a:ea typeface="Arial"/>
                <a:cs typeface="Arial"/>
                <a:sym typeface="Arial"/>
              </a:rPr>
              <a:t> through word-cloud visualization.</a:t>
            </a:r>
            <a:br>
              <a:rPr lang="en-I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Data Export &amp; Reporting</a:t>
            </a:r>
            <a:br>
              <a:rPr b="1" lang="en-IN" sz="1400">
                <a:latin typeface="Arial"/>
                <a:ea typeface="Arial"/>
                <a:cs typeface="Arial"/>
                <a:sym typeface="Arial"/>
              </a:rPr>
            </a:br>
            <a:r>
              <a:rPr lang="en-IN" sz="1400">
                <a:latin typeface="Arial"/>
                <a:ea typeface="Arial"/>
                <a:cs typeface="Arial"/>
                <a:sym typeface="Arial"/>
              </a:rPr>
              <a:t> Enable </a:t>
            </a:r>
            <a:r>
              <a:rPr b="1" lang="en-IN" sz="1400">
                <a:latin typeface="Arial"/>
                <a:ea typeface="Arial"/>
                <a:cs typeface="Arial"/>
                <a:sym typeface="Arial"/>
              </a:rPr>
              <a:t>CSV/JSON export for reporting, policy analysis, and archival purposes</a:t>
            </a:r>
            <a:r>
              <a:rPr lang="en-IN" sz="1400">
                <a:latin typeface="Arial"/>
                <a:ea typeface="Arial"/>
                <a:cs typeface="Arial"/>
                <a:sym typeface="Arial"/>
              </a:rPr>
              <a:t>.</a:t>
            </a:r>
            <a:br>
              <a:rPr lang="en-IN" sz="1400">
                <a:latin typeface="Arial"/>
                <a:ea typeface="Arial"/>
                <a:cs typeface="Arial"/>
                <a:sym typeface="Arial"/>
              </a:rPr>
            </a:br>
            <a:endParaRPr sz="1400">
              <a:latin typeface="Arial"/>
              <a:ea typeface="Arial"/>
              <a:cs typeface="Arial"/>
              <a:sym typeface="Arial"/>
            </a:endParaRPr>
          </a:p>
          <a:p>
            <a:pPr indent="0" lvl="0" marL="76200" rtl="0" algn="l">
              <a:lnSpc>
                <a:spcPct val="100000"/>
              </a:lnSpc>
              <a:spcBef>
                <a:spcPts val="1200"/>
              </a:spcBef>
              <a:spcAft>
                <a:spcPts val="0"/>
              </a:spcAft>
              <a:buSzPts val="2400"/>
              <a:buNone/>
            </a:pPr>
            <a:r>
              <a:t/>
            </a:r>
            <a:endParaRPr b="1" sz="20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t>Analysis of Problem Statement</a:t>
            </a:r>
            <a:endParaRPr/>
          </a:p>
        </p:txBody>
      </p:sp>
      <p:sp>
        <p:nvSpPr>
          <p:cNvPr id="116" name="Google Shape;116;p17"/>
          <p:cNvSpPr txBox="1"/>
          <p:nvPr>
            <p:ph idx="1" type="body"/>
          </p:nvPr>
        </p:nvSpPr>
        <p:spPr>
          <a:xfrm>
            <a:off x="812800" y="95250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1700">
                <a:latin typeface="Cambria"/>
                <a:ea typeface="Cambria"/>
                <a:cs typeface="Cambria"/>
                <a:sym typeface="Cambria"/>
              </a:rPr>
              <a:t>Analysis of Problem Statement</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IN" sz="1700">
                <a:latin typeface="Cambria"/>
                <a:ea typeface="Cambria"/>
                <a:cs typeface="Cambria"/>
                <a:sym typeface="Cambria"/>
              </a:rPr>
              <a:t>Scale:</a:t>
            </a:r>
            <a:r>
              <a:rPr lang="en-IN" sz="1700">
                <a:latin typeface="Cambria"/>
                <a:ea typeface="Cambria"/>
                <a:cs typeface="Cambria"/>
                <a:sym typeface="Cambria"/>
              </a:rPr>
              <a:t> The number of comments can range from hundreds (small consultations) to tens of thousands or more (nationwide policy). Processing such volume manually is impractical.</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Granularity Needed:</a:t>
            </a:r>
            <a:r>
              <a:rPr lang="en-IN" sz="1700">
                <a:latin typeface="Cambria"/>
                <a:ea typeface="Cambria"/>
                <a:cs typeface="Cambria"/>
                <a:sym typeface="Cambria"/>
              </a:rPr>
              <a:t> Stakeholder feedback often spans multiple topics. For example, citizens might comment on distinct sections of a draft law; thus analysis must operate at multiple levels (overall sentiment </a:t>
            </a:r>
            <a:r>
              <a:rPr i="1" lang="en-IN" sz="1700">
                <a:latin typeface="Cambria"/>
                <a:ea typeface="Cambria"/>
                <a:cs typeface="Cambria"/>
                <a:sym typeface="Cambria"/>
              </a:rPr>
              <a:t>and</a:t>
            </a:r>
            <a:r>
              <a:rPr lang="en-IN" sz="1700">
                <a:latin typeface="Cambria"/>
                <a:ea typeface="Cambria"/>
                <a:cs typeface="Cambria"/>
                <a:sym typeface="Cambria"/>
              </a:rPr>
              <a:t> per-section/topic).</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Text Variability:</a:t>
            </a:r>
            <a:r>
              <a:rPr lang="en-IN" sz="1700">
                <a:latin typeface="Cambria"/>
                <a:ea typeface="Cambria"/>
                <a:cs typeface="Cambria"/>
                <a:sym typeface="Cambria"/>
              </a:rPr>
              <a:t> Comments are free-form, vary in length/style, and may include technical or legal language. NLP preprocessing (tokenization, removing stopwords, handling misspellings) is crucial.</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Noise and Duplicates:</a:t>
            </a:r>
            <a:r>
              <a:rPr lang="en-IN" sz="1700">
                <a:latin typeface="Cambria"/>
                <a:ea typeface="Cambria"/>
                <a:cs typeface="Cambria"/>
                <a:sym typeface="Cambria"/>
              </a:rPr>
              <a:t> Copy-pasted comments or bots can skew sentiment. The system must identify and deduplicate these (MCA faced 20K identical comments).</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Timeliness:</a:t>
            </a:r>
            <a:r>
              <a:rPr lang="en-IN" sz="1700">
                <a:latin typeface="Cambria"/>
                <a:ea typeface="Cambria"/>
                <a:cs typeface="Cambria"/>
                <a:sym typeface="Cambria"/>
              </a:rPr>
              <a:t> Outputs must be delivered rapidly. Automated pipelines (versus manual review) can reduce turnaround from weeks to days.</a:t>
            </a:r>
            <a:endParaRPr sz="17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Analysis of Problem Statement (contd...)</a:t>
            </a:r>
            <a:endParaRPr/>
          </a:p>
        </p:txBody>
      </p:sp>
      <p:sp>
        <p:nvSpPr>
          <p:cNvPr id="122" name="Google Shape;122;p18"/>
          <p:cNvSpPr txBox="1"/>
          <p:nvPr>
            <p:ph idx="1" type="body"/>
          </p:nvPr>
        </p:nvSpPr>
        <p:spPr>
          <a:xfrm>
            <a:off x="706582" y="1115339"/>
            <a:ext cx="10312800" cy="5624400"/>
          </a:xfrm>
          <a:prstGeom prst="rect">
            <a:avLst/>
          </a:prstGeom>
          <a:noFill/>
          <a:ln>
            <a:noFill/>
          </a:ln>
        </p:spPr>
        <p:txBody>
          <a:bodyPr anchorCtr="0" anchor="ctr" bIns="45700" lIns="91425" spcFirstLastPara="1" rIns="91425" wrap="square" tIns="0">
            <a:spAutoFit/>
          </a:bodyPr>
          <a:lstStyle/>
          <a:p>
            <a:pPr indent="0" lvl="0" marL="0" rtl="0" algn="l">
              <a:lnSpc>
                <a:spcPct val="115000"/>
              </a:lnSpc>
              <a:spcBef>
                <a:spcPts val="1400"/>
              </a:spcBef>
              <a:spcAft>
                <a:spcPts val="0"/>
              </a:spcAft>
              <a:buClr>
                <a:schemeClr val="dk1"/>
              </a:buClr>
              <a:buSzPts val="1100"/>
              <a:buFont typeface="Arial"/>
              <a:buNone/>
            </a:pPr>
            <a:r>
              <a:rPr b="1" lang="en-IN" sz="1800">
                <a:latin typeface="Cambria"/>
                <a:ea typeface="Cambria"/>
                <a:cs typeface="Cambria"/>
                <a:sym typeface="Cambria"/>
              </a:rPr>
              <a:t>Technology Stack Used</a:t>
            </a:r>
            <a:endParaRPr b="1" sz="1800">
              <a:latin typeface="Cambria"/>
              <a:ea typeface="Cambria"/>
              <a:cs typeface="Cambria"/>
              <a:sym typeface="Cambria"/>
            </a:endParaRPr>
          </a:p>
          <a:p>
            <a:pPr indent="0" lvl="0" marL="0" rtl="0" algn="l">
              <a:lnSpc>
                <a:spcPct val="115000"/>
              </a:lnSpc>
              <a:spcBef>
                <a:spcPts val="1200"/>
              </a:spcBef>
              <a:spcAft>
                <a:spcPts val="0"/>
              </a:spcAft>
              <a:buNone/>
            </a:pPr>
            <a:r>
              <a:rPr b="1" lang="en-IN" sz="1500">
                <a:latin typeface="Cambria"/>
                <a:ea typeface="Cambria"/>
                <a:cs typeface="Cambria"/>
                <a:sym typeface="Cambria"/>
              </a:rPr>
              <a:t>Programming &amp; Backend</a:t>
            </a:r>
            <a:endParaRPr b="1" sz="15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Python</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Flask (API Framework)</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Fla</a:t>
            </a:r>
            <a:r>
              <a:rPr lang="en-IN" sz="1700">
                <a:latin typeface="Cambria"/>
                <a:ea typeface="Cambria"/>
                <a:cs typeface="Cambria"/>
                <a:sym typeface="Cambria"/>
              </a:rPr>
              <a:t>s</a:t>
            </a:r>
            <a:r>
              <a:rPr lang="en-IN" sz="1700">
                <a:latin typeface="Cambria"/>
                <a:ea typeface="Cambria"/>
                <a:cs typeface="Cambria"/>
                <a:sym typeface="Cambria"/>
              </a:rPr>
              <a:t>k-JWT-Extended (Authentication)</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SQLAlchemy ORM</a:t>
            </a:r>
            <a:endParaRPr sz="1700">
              <a:latin typeface="Cambria"/>
              <a:ea typeface="Cambria"/>
              <a:cs typeface="Cambria"/>
              <a:sym typeface="Cambria"/>
            </a:endParaRPr>
          </a:p>
          <a:p>
            <a:pPr indent="0" lvl="0" marL="0" rtl="0" algn="l">
              <a:lnSpc>
                <a:spcPct val="115000"/>
              </a:lnSpc>
              <a:spcBef>
                <a:spcPts val="1200"/>
              </a:spcBef>
              <a:spcAft>
                <a:spcPts val="0"/>
              </a:spcAft>
              <a:buNone/>
            </a:pPr>
            <a:r>
              <a:rPr b="1" lang="en-IN" sz="1500">
                <a:latin typeface="Cambria"/>
                <a:ea typeface="Cambria"/>
                <a:cs typeface="Cambria"/>
                <a:sym typeface="Cambria"/>
              </a:rPr>
              <a:t>Database</a:t>
            </a:r>
            <a:endParaRPr b="1" sz="15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lang="en-IN" sz="1700">
                <a:latin typeface="Arial"/>
                <a:ea typeface="Arial"/>
                <a:cs typeface="Arial"/>
                <a:sym typeface="Arial"/>
              </a:rPr>
              <a:t>PostgreSQL</a:t>
            </a:r>
            <a:endParaRPr sz="1700">
              <a:latin typeface="Arial"/>
              <a:ea typeface="Arial"/>
              <a:cs typeface="Arial"/>
              <a:sym typeface="Arial"/>
            </a:endParaRPr>
          </a:p>
          <a:p>
            <a:pPr indent="0" lvl="0" marL="0" rtl="0" algn="l">
              <a:lnSpc>
                <a:spcPct val="115000"/>
              </a:lnSpc>
              <a:spcBef>
                <a:spcPts val="1200"/>
              </a:spcBef>
              <a:spcAft>
                <a:spcPts val="0"/>
              </a:spcAft>
              <a:buNone/>
            </a:pPr>
            <a:r>
              <a:rPr b="1" lang="en-IN" sz="1500">
                <a:latin typeface="Cambria"/>
                <a:ea typeface="Cambria"/>
                <a:cs typeface="Cambria"/>
                <a:sym typeface="Cambria"/>
              </a:rPr>
              <a:t>Machine Learning / NLP</a:t>
            </a:r>
            <a:endParaRPr b="1" sz="15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HuggingFace Transformers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DistilBERT – Sentiment Classification</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lang="en-IN" sz="1700">
                <a:latin typeface="Cambria"/>
                <a:ea typeface="Cambria"/>
                <a:cs typeface="Cambria"/>
                <a:sym typeface="Cambria"/>
              </a:rPr>
              <a:t>T5-Small – Text Summarization</a:t>
            </a:r>
            <a:br>
              <a:rPr lang="en-IN" sz="1700">
                <a:latin typeface="Arial"/>
                <a:ea typeface="Arial"/>
                <a:cs typeface="Arial"/>
                <a:sym typeface="Arial"/>
              </a:rPr>
            </a:br>
            <a:endParaRPr sz="1700">
              <a:latin typeface="Arial"/>
              <a:ea typeface="Arial"/>
              <a:cs typeface="Arial"/>
              <a:sym typeface="Arial"/>
            </a:endParaRPr>
          </a:p>
          <a:p>
            <a:pPr indent="0" lvl="0" marL="457200" rtl="0" algn="l">
              <a:lnSpc>
                <a:spcPct val="100000"/>
              </a:lnSpc>
              <a:spcBef>
                <a:spcPts val="1200"/>
              </a:spcBef>
              <a:spcAft>
                <a:spcPts val="0"/>
              </a:spcAft>
              <a:buNone/>
            </a:pPr>
            <a:r>
              <a:t/>
            </a:r>
            <a:endParaRPr b="1" sz="1700">
              <a:latin typeface="Cambria"/>
              <a:ea typeface="Cambria"/>
              <a:cs typeface="Cambria"/>
              <a:sym typeface="Cambria"/>
            </a:endParaRPr>
          </a:p>
          <a:p>
            <a:pPr indent="0" lvl="0" marL="0" marR="0" rtl="0" algn="just">
              <a:lnSpc>
                <a:spcPct val="100000"/>
              </a:lnSpc>
              <a:spcBef>
                <a:spcPts val="1200"/>
              </a:spcBef>
              <a:spcAft>
                <a:spcPts val="0"/>
              </a:spcAft>
              <a:buClr>
                <a:schemeClr val="dk1"/>
              </a:buClr>
              <a:buSzPts val="1800"/>
              <a:buFont typeface="Verdana"/>
              <a:buNone/>
            </a:pPr>
            <a:r>
              <a:t/>
            </a:r>
            <a:endParaRPr sz="17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812800" y="274638"/>
            <a:ext cx="10668000" cy="487500"/>
          </a:xfrm>
          <a:prstGeom prst="rect">
            <a:avLst/>
          </a:prstGeom>
        </p:spPr>
        <p:txBody>
          <a:bodyPr anchorCtr="0" anchor="ctr" bIns="45700" lIns="91425" spcFirstLastPara="1" rIns="91425" wrap="square" tIns="45700">
            <a:noAutofit/>
          </a:bodyPr>
          <a:lstStyle/>
          <a:p>
            <a:pPr indent="0" lvl="0" marL="0" rtl="0" algn="l">
              <a:lnSpc>
                <a:spcPct val="115000"/>
              </a:lnSpc>
              <a:spcBef>
                <a:spcPts val="1400"/>
              </a:spcBef>
              <a:spcAft>
                <a:spcPts val="400"/>
              </a:spcAft>
              <a:buClr>
                <a:schemeClr val="dk1"/>
              </a:buClr>
              <a:buSzPts val="1100"/>
              <a:buFont typeface="Arial"/>
              <a:buNone/>
            </a:pPr>
            <a:r>
              <a:rPr lang="en-IN" sz="1800">
                <a:solidFill>
                  <a:schemeClr val="dk1"/>
                </a:solidFill>
                <a:latin typeface="Cambria"/>
                <a:ea typeface="Cambria"/>
                <a:cs typeface="Cambria"/>
                <a:sym typeface="Cambria"/>
              </a:rPr>
              <a:t>Technology Stack Used (Cont..)</a:t>
            </a:r>
            <a:endParaRPr/>
          </a:p>
        </p:txBody>
      </p:sp>
      <p:sp>
        <p:nvSpPr>
          <p:cNvPr id="128" name="Google Shape;128;p19"/>
          <p:cNvSpPr txBox="1"/>
          <p:nvPr>
            <p:ph idx="1" type="body"/>
          </p:nvPr>
        </p:nvSpPr>
        <p:spPr>
          <a:xfrm>
            <a:off x="812800" y="1143001"/>
            <a:ext cx="10668000" cy="49530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Frontend</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HTML</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Bootstrap 5</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Vanilla JavaScript</a:t>
            </a:r>
            <a:br>
              <a:rPr lang="en-IN" sz="1700">
                <a:latin typeface="Cambria"/>
                <a:ea typeface="Cambria"/>
                <a:cs typeface="Cambria"/>
                <a:sym typeface="Cambria"/>
              </a:rPr>
            </a:b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Visualization</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Chart.js (Sentiment charts)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WordCloud / wordcloud2.js</a:t>
            </a:r>
            <a:br>
              <a:rPr lang="en-IN" sz="1700">
                <a:latin typeface="Cambria"/>
                <a:ea typeface="Cambria"/>
                <a:cs typeface="Cambria"/>
                <a:sym typeface="Cambria"/>
              </a:rPr>
            </a:b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Development Tools</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VS Code</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GitHub</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Python Virtual Environment</a:t>
            </a:r>
            <a:br>
              <a:rPr lang="en-IN" sz="1700">
                <a:latin typeface="Cambria"/>
                <a:ea typeface="Cambria"/>
                <a:cs typeface="Cambria"/>
                <a:sym typeface="Cambria"/>
              </a:rPr>
            </a:br>
            <a:endParaRPr sz="1700">
              <a:latin typeface="Cambria"/>
              <a:ea typeface="Cambria"/>
              <a:cs typeface="Cambria"/>
              <a:sym typeface="Cambria"/>
            </a:endParaRPr>
          </a:p>
          <a:p>
            <a:pPr indent="0" lvl="0" marL="0" rtl="0" algn="l">
              <a:spcBef>
                <a:spcPts val="1200"/>
              </a:spcBef>
              <a:spcAft>
                <a:spcPts val="0"/>
              </a:spcAft>
              <a:buNone/>
            </a:pPr>
            <a:r>
              <a:t/>
            </a:r>
            <a:endParaRPr sz="1700">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Analysis of Problem Statement (contd...)</a:t>
            </a:r>
            <a:endParaRPr/>
          </a:p>
        </p:txBody>
      </p:sp>
      <p:sp>
        <p:nvSpPr>
          <p:cNvPr id="134" name="Google Shape;134;p20"/>
          <p:cNvSpPr txBox="1"/>
          <p:nvPr>
            <p:ph idx="1" type="body"/>
          </p:nvPr>
        </p:nvSpPr>
        <p:spPr>
          <a:xfrm>
            <a:off x="706582" y="1115339"/>
            <a:ext cx="10312800" cy="6024900"/>
          </a:xfrm>
          <a:prstGeom prst="rect">
            <a:avLst/>
          </a:prstGeom>
          <a:noFill/>
          <a:ln>
            <a:noFill/>
          </a:ln>
        </p:spPr>
        <p:txBody>
          <a:bodyPr anchorCtr="0" anchor="ctr" bIns="45700" lIns="91425" spcFirstLastPara="1" rIns="91425" wrap="square" tIns="0">
            <a:spAutoFit/>
          </a:bodyPr>
          <a:lstStyle/>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Functional Analysis</a:t>
            </a:r>
            <a:endParaRPr b="1" sz="1700">
              <a:latin typeface="Cambria"/>
              <a:ea typeface="Cambria"/>
              <a:cs typeface="Cambria"/>
              <a:sym typeface="Cambria"/>
            </a:endParaRPr>
          </a:p>
          <a:p>
            <a:pPr indent="-374650" lvl="0" marL="457200" rtl="0" algn="l">
              <a:lnSpc>
                <a:spcPct val="115000"/>
              </a:lnSpc>
              <a:spcBef>
                <a:spcPts val="1200"/>
              </a:spcBef>
              <a:spcAft>
                <a:spcPts val="0"/>
              </a:spcAft>
              <a:buSzPts val="2300"/>
              <a:buFont typeface="Cambria"/>
              <a:buChar char="●"/>
            </a:pPr>
            <a:r>
              <a:rPr lang="en-IN" sz="1700">
                <a:latin typeface="Cambria"/>
                <a:ea typeface="Cambria"/>
                <a:cs typeface="Cambria"/>
                <a:sym typeface="Cambria"/>
              </a:rPr>
              <a:t>Stakeholder comments are </a:t>
            </a:r>
            <a:r>
              <a:rPr b="1" lang="en-IN" sz="1700">
                <a:latin typeface="Cambria"/>
                <a:ea typeface="Cambria"/>
                <a:cs typeface="Cambria"/>
                <a:sym typeface="Cambria"/>
              </a:rPr>
              <a:t>unstructured textual data</a:t>
            </a:r>
            <a:r>
              <a:rPr lang="en-IN" sz="1700">
                <a:latin typeface="Cambria"/>
                <a:ea typeface="Cambria"/>
                <a:cs typeface="Cambria"/>
                <a:sym typeface="Cambria"/>
              </a:rPr>
              <a:t> requiring NLP preprocessing.</a:t>
            </a:r>
            <a:endParaRPr sz="17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1700">
                <a:latin typeface="Cambria"/>
                <a:ea typeface="Cambria"/>
                <a:cs typeface="Cambria"/>
                <a:sym typeface="Cambria"/>
              </a:rPr>
              <a:t>L</a:t>
            </a:r>
            <a:r>
              <a:rPr lang="en-IN" sz="1700">
                <a:latin typeface="Cambria"/>
                <a:ea typeface="Cambria"/>
                <a:cs typeface="Cambria"/>
                <a:sym typeface="Cambria"/>
              </a:rPr>
              <a:t>a</a:t>
            </a:r>
            <a:r>
              <a:rPr lang="en-IN" sz="1700">
                <a:latin typeface="Cambria"/>
                <a:ea typeface="Cambria"/>
                <a:cs typeface="Cambria"/>
                <a:sym typeface="Cambria"/>
              </a:rPr>
              <a:t>rge-scale consultations may generate </a:t>
            </a:r>
            <a:r>
              <a:rPr b="1" lang="en-IN" sz="1700">
                <a:latin typeface="Cambria"/>
                <a:ea typeface="Cambria"/>
                <a:cs typeface="Cambria"/>
                <a:sym typeface="Cambria"/>
              </a:rPr>
              <a:t>hundreds to thousands of responses</a:t>
            </a:r>
            <a:r>
              <a:rPr lang="en-IN" sz="1700">
                <a:latin typeface="Cambria"/>
                <a:ea typeface="Cambria"/>
                <a:cs typeface="Cambria"/>
                <a:sym typeface="Cambria"/>
              </a:rPr>
              <a:t>.</a:t>
            </a:r>
            <a:endParaRPr sz="17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1700">
                <a:latin typeface="Cambria"/>
                <a:ea typeface="Cambria"/>
                <a:cs typeface="Cambria"/>
                <a:sym typeface="Cambria"/>
              </a:rPr>
              <a:t>Manual analysis is </a:t>
            </a:r>
            <a:r>
              <a:rPr b="1" lang="en-IN" sz="1700">
                <a:latin typeface="Cambria"/>
                <a:ea typeface="Cambria"/>
                <a:cs typeface="Cambria"/>
                <a:sym typeface="Cambria"/>
              </a:rPr>
              <a:t>time-consuming and error-prone</a:t>
            </a:r>
            <a:r>
              <a:rPr lang="en-IN" sz="1700">
                <a:latin typeface="Cambria"/>
                <a:ea typeface="Cambria"/>
                <a:cs typeface="Cambria"/>
                <a:sym typeface="Cambria"/>
              </a:rPr>
              <a:t>.</a:t>
            </a:r>
            <a:endParaRPr sz="17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1700">
                <a:latin typeface="Cambria"/>
                <a:ea typeface="Cambria"/>
                <a:cs typeface="Cambria"/>
                <a:sym typeface="Cambria"/>
              </a:rPr>
              <a:t>The system must </a:t>
            </a:r>
            <a:r>
              <a:rPr b="1" lang="en-IN" sz="1700">
                <a:latin typeface="Cambria"/>
                <a:ea typeface="Cambria"/>
                <a:cs typeface="Cambria"/>
                <a:sym typeface="Cambria"/>
              </a:rPr>
              <a:t>automatically classify sentiment, summarize feedback, and extract key terms</a:t>
            </a:r>
            <a:r>
              <a:rPr lang="en-IN" sz="1700">
                <a:latin typeface="Cambria"/>
                <a:ea typeface="Cambria"/>
                <a:cs typeface="Cambria"/>
                <a:sym typeface="Cambria"/>
              </a:rPr>
              <a:t>.</a:t>
            </a:r>
            <a:endParaRPr sz="17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1700">
                <a:latin typeface="Cambria"/>
                <a:ea typeface="Cambria"/>
                <a:cs typeface="Cambria"/>
                <a:sym typeface="Cambria"/>
              </a:rPr>
              <a:t>Administrators require </a:t>
            </a:r>
            <a:r>
              <a:rPr b="1" lang="en-IN" sz="1700">
                <a:latin typeface="Cambria"/>
                <a:ea typeface="Cambria"/>
                <a:cs typeface="Cambria"/>
                <a:sym typeface="Cambria"/>
              </a:rPr>
              <a:t>interactive dashboards and exportable reports</a:t>
            </a:r>
            <a:r>
              <a:rPr lang="en-IN" sz="1700">
                <a:latin typeface="Cambria"/>
                <a:ea typeface="Cambria"/>
                <a:cs typeface="Cambria"/>
                <a:sym typeface="Cambria"/>
              </a:rPr>
              <a:t>.</a:t>
            </a:r>
            <a:endParaRPr b="1" sz="1700">
              <a:latin typeface="Cambria"/>
              <a:ea typeface="Cambria"/>
              <a:cs typeface="Cambria"/>
              <a:sym typeface="Cambria"/>
            </a:endParaRPr>
          </a:p>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Key Challenge</a:t>
            </a:r>
            <a:endParaRPr b="1"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Designing a pipeline that is:</a:t>
            </a:r>
            <a:endParaRPr b="1" sz="1700">
              <a:latin typeface="Cambria"/>
              <a:ea typeface="Cambria"/>
              <a:cs typeface="Cambria"/>
              <a:sym typeface="Cambria"/>
            </a:endParaRPr>
          </a:p>
          <a:p>
            <a:pPr indent="-361950" lvl="0" marL="457200" rtl="0" algn="l">
              <a:lnSpc>
                <a:spcPct val="115000"/>
              </a:lnSpc>
              <a:spcBef>
                <a:spcPts val="1200"/>
              </a:spcBef>
              <a:spcAft>
                <a:spcPts val="0"/>
              </a:spcAft>
              <a:buSzPts val="2100"/>
              <a:buChar char="●"/>
            </a:pPr>
            <a:r>
              <a:rPr b="1" lang="en-IN" sz="1700">
                <a:latin typeface="Cambria"/>
                <a:ea typeface="Cambria"/>
                <a:cs typeface="Cambria"/>
                <a:sym typeface="Cambria"/>
              </a:rPr>
              <a:t>Scalable</a:t>
            </a:r>
            <a:r>
              <a:rPr lang="en-IN" sz="1700">
                <a:latin typeface="Cambria"/>
                <a:ea typeface="Cambria"/>
                <a:cs typeface="Cambria"/>
                <a:sym typeface="Cambria"/>
              </a:rPr>
              <a:t> for large consultation volumes</a:t>
            </a:r>
            <a:endParaRPr sz="1700">
              <a:latin typeface="Cambria"/>
              <a:ea typeface="Cambria"/>
              <a:cs typeface="Cambria"/>
              <a:sym typeface="Cambria"/>
            </a:endParaRPr>
          </a:p>
          <a:p>
            <a:pPr indent="-361950" lvl="0" marL="457200" rtl="0" algn="l">
              <a:lnSpc>
                <a:spcPct val="115000"/>
              </a:lnSpc>
              <a:spcBef>
                <a:spcPts val="0"/>
              </a:spcBef>
              <a:spcAft>
                <a:spcPts val="0"/>
              </a:spcAft>
              <a:buSzPts val="2100"/>
              <a:buChar char="●"/>
            </a:pPr>
            <a:r>
              <a:rPr b="1" lang="en-IN" sz="1700">
                <a:latin typeface="Cambria"/>
                <a:ea typeface="Cambria"/>
                <a:cs typeface="Cambria"/>
                <a:sym typeface="Cambria"/>
              </a:rPr>
              <a:t>Accurate</a:t>
            </a:r>
            <a:r>
              <a:rPr lang="en-IN" sz="1700">
                <a:latin typeface="Cambria"/>
                <a:ea typeface="Cambria"/>
                <a:cs typeface="Cambria"/>
                <a:sym typeface="Cambria"/>
              </a:rPr>
              <a:t> in sentiment interpretation</a:t>
            </a:r>
            <a:endParaRPr sz="1700">
              <a:latin typeface="Cambria"/>
              <a:ea typeface="Cambria"/>
              <a:cs typeface="Cambria"/>
              <a:sym typeface="Cambria"/>
            </a:endParaRPr>
          </a:p>
          <a:p>
            <a:pPr indent="-361950" lvl="0" marL="457200" rtl="0" algn="l">
              <a:lnSpc>
                <a:spcPct val="115000"/>
              </a:lnSpc>
              <a:spcBef>
                <a:spcPts val="0"/>
              </a:spcBef>
              <a:spcAft>
                <a:spcPts val="0"/>
              </a:spcAft>
              <a:buSzPts val="2100"/>
              <a:buChar char="●"/>
            </a:pPr>
            <a:r>
              <a:rPr b="1" lang="en-IN" sz="1700">
                <a:latin typeface="Cambria"/>
                <a:ea typeface="Cambria"/>
                <a:cs typeface="Cambria"/>
                <a:sym typeface="Cambria"/>
              </a:rPr>
              <a:t>Secure</a:t>
            </a:r>
            <a:r>
              <a:rPr lang="en-IN" sz="1700">
                <a:latin typeface="Cambria"/>
                <a:ea typeface="Cambria"/>
                <a:cs typeface="Cambria"/>
                <a:sym typeface="Cambria"/>
              </a:rPr>
              <a:t> with role-based access</a:t>
            </a:r>
            <a:endParaRPr sz="1700">
              <a:latin typeface="Cambria"/>
              <a:ea typeface="Cambria"/>
              <a:cs typeface="Cambria"/>
              <a:sym typeface="Cambria"/>
            </a:endParaRPr>
          </a:p>
          <a:p>
            <a:pPr indent="-361950" lvl="0" marL="457200" rtl="0" algn="l">
              <a:lnSpc>
                <a:spcPct val="115000"/>
              </a:lnSpc>
              <a:spcBef>
                <a:spcPts val="0"/>
              </a:spcBef>
              <a:spcAft>
                <a:spcPts val="0"/>
              </a:spcAft>
              <a:buSzPts val="2100"/>
              <a:buChar char="●"/>
            </a:pPr>
            <a:r>
              <a:rPr b="1" lang="en-IN" sz="1700">
                <a:latin typeface="Cambria"/>
                <a:ea typeface="Cambria"/>
                <a:cs typeface="Cambria"/>
                <a:sym typeface="Cambria"/>
              </a:rPr>
              <a:t>Integrable</a:t>
            </a:r>
            <a:r>
              <a:rPr lang="en-IN" sz="1700">
                <a:latin typeface="Cambria"/>
                <a:ea typeface="Cambria"/>
                <a:cs typeface="Cambria"/>
                <a:sym typeface="Cambria"/>
              </a:rPr>
              <a:t> into real government consultation portals</a:t>
            </a:r>
            <a:endParaRPr sz="1700">
              <a:latin typeface="Cambria"/>
              <a:ea typeface="Cambria"/>
              <a:cs typeface="Cambria"/>
              <a:sym typeface="Cambria"/>
            </a:endParaRPr>
          </a:p>
          <a:p>
            <a:pPr indent="0" lvl="0" marL="0" rtl="0" algn="l">
              <a:lnSpc>
                <a:spcPct val="115000"/>
              </a:lnSpc>
              <a:spcBef>
                <a:spcPts val="1200"/>
              </a:spcBef>
              <a:spcAft>
                <a:spcPts val="0"/>
              </a:spcAft>
              <a:buNone/>
            </a:pPr>
            <a:r>
              <a:t/>
            </a:r>
            <a:endParaRPr b="1" sz="1500">
              <a:latin typeface="Arial"/>
              <a:ea typeface="Arial"/>
              <a:cs typeface="Arial"/>
              <a:sym typeface="Arial"/>
            </a:endParaRPr>
          </a:p>
          <a:p>
            <a:pPr indent="0" lvl="0" marL="0" marR="0" rtl="0" algn="just">
              <a:lnSpc>
                <a:spcPct val="115000"/>
              </a:lnSpc>
              <a:spcBef>
                <a:spcPts val="1200"/>
              </a:spcBef>
              <a:spcAft>
                <a:spcPts val="0"/>
              </a:spcAft>
              <a:buClr>
                <a:schemeClr val="dk1"/>
              </a:buClr>
              <a:buSzPts val="1800"/>
              <a:buFont typeface="Verdana"/>
              <a:buNone/>
            </a:pPr>
            <a:r>
              <a:t/>
            </a:r>
            <a:endParaRPr b="1" sz="2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812800" y="370390"/>
            <a:ext cx="10668000" cy="93754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Proposed method and feasibility study</a:t>
            </a:r>
            <a:br>
              <a:rPr lang="en-IN">
                <a:latin typeface="Times New Roman"/>
                <a:ea typeface="Times New Roman"/>
                <a:cs typeface="Times New Roman"/>
                <a:sym typeface="Times New Roman"/>
              </a:rPr>
            </a:br>
            <a:endParaRPr/>
          </a:p>
        </p:txBody>
      </p:sp>
      <p:sp>
        <p:nvSpPr>
          <p:cNvPr id="140" name="Google Shape;140;p21"/>
          <p:cNvSpPr txBox="1"/>
          <p:nvPr>
            <p:ph idx="1" type="body"/>
          </p:nvPr>
        </p:nvSpPr>
        <p:spPr>
          <a:xfrm>
            <a:off x="812800" y="1129776"/>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Proposed Method</a:t>
            </a:r>
            <a:endParaRPr b="1"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1700">
                <a:latin typeface="Cambria"/>
                <a:ea typeface="Cambria"/>
                <a:cs typeface="Cambria"/>
                <a:sym typeface="Cambria"/>
              </a:rPr>
              <a:t>The system implements a </a:t>
            </a:r>
            <a:r>
              <a:rPr b="1" lang="en-IN" sz="1700">
                <a:latin typeface="Cambria"/>
                <a:ea typeface="Cambria"/>
                <a:cs typeface="Cambria"/>
                <a:sym typeface="Cambria"/>
              </a:rPr>
              <a:t>full-stack AI-powered consultation analysis platform</a:t>
            </a:r>
            <a:r>
              <a:rPr lang="en-IN" sz="1700">
                <a:latin typeface="Cambria"/>
                <a:ea typeface="Cambria"/>
                <a:cs typeface="Cambria"/>
                <a:sym typeface="Cambria"/>
              </a:rPr>
              <a:t>.</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1700">
                <a:latin typeface="Cambria"/>
                <a:ea typeface="Cambria"/>
                <a:cs typeface="Cambria"/>
                <a:sym typeface="Cambria"/>
              </a:rPr>
              <a:t>Workflow:</a:t>
            </a:r>
            <a:endParaRPr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AutoNum type="arabicPeriod"/>
            </a:pPr>
            <a:r>
              <a:rPr b="1" lang="en-IN" sz="1700">
                <a:latin typeface="Cambria"/>
                <a:ea typeface="Cambria"/>
                <a:cs typeface="Cambria"/>
                <a:sym typeface="Cambria"/>
              </a:rPr>
              <a:t>User Authentication</a:t>
            </a:r>
            <a:endParaRPr b="1"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Citizens and experts register/login.</a:t>
            </a:r>
            <a:endParaRPr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JWT authentication ensures secure access.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AutoNum type="arabicPeriod"/>
            </a:pPr>
            <a:r>
              <a:rPr b="1" lang="en-IN" sz="1700">
                <a:latin typeface="Cambria"/>
                <a:ea typeface="Cambria"/>
                <a:cs typeface="Cambria"/>
                <a:sym typeface="Cambria"/>
              </a:rPr>
              <a:t>Topic-Based Comment Collection</a:t>
            </a:r>
            <a:endParaRPr b="1"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Admin creates consultation topics.</a:t>
            </a:r>
            <a:endParaRPr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Users submit comments linked to a topic.</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AutoNum type="arabicPeriod"/>
            </a:pPr>
            <a:r>
              <a:rPr b="1" lang="en-IN" sz="1700">
                <a:latin typeface="Cambria"/>
                <a:ea typeface="Cambria"/>
                <a:cs typeface="Cambria"/>
                <a:sym typeface="Cambria"/>
              </a:rPr>
              <a:t>NLP Preprocessing</a:t>
            </a:r>
            <a:endParaRPr b="1"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Lowercasing</a:t>
            </a:r>
            <a:endParaRPr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URL removal</a:t>
            </a:r>
            <a:endParaRPr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Special character filtering</a:t>
            </a:r>
            <a:endParaRPr sz="1700">
              <a:latin typeface="Cambria"/>
              <a:ea typeface="Cambria"/>
              <a:cs typeface="Cambria"/>
              <a:sym typeface="Cambria"/>
            </a:endParaRPr>
          </a:p>
          <a:p>
            <a:pPr indent="-336550" lvl="1" marL="914400" rtl="0" algn="l">
              <a:lnSpc>
                <a:spcPct val="115000"/>
              </a:lnSpc>
              <a:spcBef>
                <a:spcPts val="0"/>
              </a:spcBef>
              <a:spcAft>
                <a:spcPts val="0"/>
              </a:spcAft>
              <a:buSzPts val="1700"/>
              <a:buFont typeface="Cambria"/>
              <a:buChar char="○"/>
            </a:pPr>
            <a:r>
              <a:rPr lang="en-IN" sz="1700">
                <a:latin typeface="Cambria"/>
                <a:ea typeface="Cambria"/>
                <a:cs typeface="Cambria"/>
                <a:sym typeface="Cambria"/>
              </a:rPr>
              <a:t>Whitespace normalization</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t/>
            </a:r>
            <a:endParaRPr b="1" sz="1700">
              <a:latin typeface="Cambria"/>
              <a:ea typeface="Cambria"/>
              <a:cs typeface="Cambria"/>
              <a:sym typeface="Cambria"/>
            </a:endParaRPr>
          </a:p>
          <a:p>
            <a:pPr indent="-228600" lvl="0" marL="457200" rtl="0" algn="l">
              <a:lnSpc>
                <a:spcPct val="100000"/>
              </a:lnSpc>
              <a:spcBef>
                <a:spcPts val="1200"/>
              </a:spcBef>
              <a:spcAft>
                <a:spcPts val="0"/>
              </a:spcAft>
              <a:buClr>
                <a:schemeClr val="dk1"/>
              </a:buClr>
              <a:buSzPts val="2400"/>
              <a:buNone/>
            </a:pPr>
            <a:r>
              <a:t/>
            </a:r>
            <a:endParaRPr sz="1700">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898275" y="738663"/>
            <a:ext cx="10668000" cy="487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IN">
                <a:latin typeface="Cambria"/>
                <a:ea typeface="Cambria"/>
                <a:cs typeface="Cambria"/>
                <a:sym typeface="Cambria"/>
              </a:rPr>
              <a:t>Proposed method and feasibility study</a:t>
            </a:r>
            <a:br>
              <a:rPr lang="en-IN">
                <a:latin typeface="Times New Roman"/>
                <a:ea typeface="Times New Roman"/>
                <a:cs typeface="Times New Roman"/>
                <a:sym typeface="Times New Roman"/>
              </a:rPr>
            </a:br>
            <a:endParaRPr/>
          </a:p>
          <a:p>
            <a:pPr indent="0" lvl="0" marL="0" rtl="0" algn="l">
              <a:spcBef>
                <a:spcPts val="0"/>
              </a:spcBef>
              <a:spcAft>
                <a:spcPts val="0"/>
              </a:spcAft>
              <a:buNone/>
            </a:pPr>
            <a:r>
              <a:t/>
            </a:r>
            <a:endParaRPr/>
          </a:p>
        </p:txBody>
      </p:sp>
      <p:sp>
        <p:nvSpPr>
          <p:cNvPr id="146" name="Google Shape;146;p22"/>
          <p:cNvSpPr txBox="1"/>
          <p:nvPr>
            <p:ph idx="1" type="body"/>
          </p:nvPr>
        </p:nvSpPr>
        <p:spPr>
          <a:xfrm>
            <a:off x="812800" y="1143001"/>
            <a:ext cx="10668000" cy="4953000"/>
          </a:xfrm>
          <a:prstGeom prst="rect">
            <a:avLst/>
          </a:prstGeom>
        </p:spPr>
        <p:txBody>
          <a:bodyPr anchorCtr="0" anchor="t" bIns="45700" lIns="91425" spcFirstLastPara="1" rIns="91425" wrap="square" tIns="45700">
            <a:normAutofit fontScale="47500" lnSpcReduction="20000"/>
          </a:bodyPr>
          <a:lstStyle/>
          <a:p>
            <a:pPr indent="0" lvl="0" marL="457200" rtl="0" algn="l">
              <a:lnSpc>
                <a:spcPct val="115000"/>
              </a:lnSpc>
              <a:spcBef>
                <a:spcPts val="1200"/>
              </a:spcBef>
              <a:spcAft>
                <a:spcPts val="0"/>
              </a:spcAft>
              <a:buNone/>
            </a:pPr>
            <a:r>
              <a:rPr b="1" lang="en-IN" sz="2850">
                <a:latin typeface="Cambria"/>
                <a:ea typeface="Cambria"/>
                <a:cs typeface="Cambria"/>
                <a:sym typeface="Cambria"/>
              </a:rPr>
              <a:t>4. </a:t>
            </a:r>
            <a:r>
              <a:rPr b="1" lang="en-IN" sz="2850">
                <a:latin typeface="Cambria"/>
                <a:ea typeface="Cambria"/>
                <a:cs typeface="Cambria"/>
                <a:sym typeface="Cambria"/>
              </a:rPr>
              <a:t>Sentiment Analysis</a:t>
            </a:r>
            <a:endParaRPr b="1" sz="2850">
              <a:latin typeface="Cambria"/>
              <a:ea typeface="Cambria"/>
              <a:cs typeface="Cambria"/>
              <a:sym typeface="Cambria"/>
            </a:endParaRPr>
          </a:p>
          <a:p>
            <a:pPr indent="-314563" lvl="1" marL="914400" rtl="0" algn="l">
              <a:lnSpc>
                <a:spcPct val="115000"/>
              </a:lnSpc>
              <a:spcBef>
                <a:spcPts val="1200"/>
              </a:spcBef>
              <a:spcAft>
                <a:spcPts val="0"/>
              </a:spcAft>
              <a:buSzPct val="100000"/>
              <a:buChar char="○"/>
            </a:pPr>
            <a:r>
              <a:rPr lang="en-IN" sz="2850">
                <a:latin typeface="Cambria"/>
                <a:ea typeface="Cambria"/>
                <a:cs typeface="Cambria"/>
                <a:sym typeface="Cambria"/>
              </a:rPr>
              <a:t>Pretrained </a:t>
            </a:r>
            <a:r>
              <a:rPr b="1" lang="en-IN" sz="2850">
                <a:latin typeface="Cambria"/>
                <a:ea typeface="Cambria"/>
                <a:cs typeface="Cambria"/>
                <a:sym typeface="Cambria"/>
              </a:rPr>
              <a:t>DistilBERT transformer model</a:t>
            </a:r>
            <a:endParaRPr b="1" sz="2850">
              <a:latin typeface="Cambria"/>
              <a:ea typeface="Cambria"/>
              <a:cs typeface="Cambria"/>
              <a:sym typeface="Cambria"/>
            </a:endParaRPr>
          </a:p>
          <a:p>
            <a:pPr indent="-314563" lvl="1" marL="914400" rtl="0" algn="l">
              <a:lnSpc>
                <a:spcPct val="115000"/>
              </a:lnSpc>
              <a:spcBef>
                <a:spcPts val="0"/>
              </a:spcBef>
              <a:spcAft>
                <a:spcPts val="0"/>
              </a:spcAft>
              <a:buSzPct val="100000"/>
              <a:buChar char="○"/>
            </a:pPr>
            <a:r>
              <a:rPr lang="en-IN" sz="2850">
                <a:latin typeface="Cambria"/>
                <a:ea typeface="Cambria"/>
                <a:cs typeface="Cambria"/>
                <a:sym typeface="Cambria"/>
              </a:rPr>
              <a:t>Classifies comments as </a:t>
            </a:r>
            <a:r>
              <a:rPr b="1" lang="en-IN" sz="2850">
                <a:latin typeface="Cambria"/>
                <a:ea typeface="Cambria"/>
                <a:cs typeface="Cambria"/>
                <a:sym typeface="Cambria"/>
              </a:rPr>
              <a:t>Positive / Neutral / Negative</a:t>
            </a:r>
            <a:endParaRPr b="1" sz="2850">
              <a:latin typeface="Cambria"/>
              <a:ea typeface="Cambria"/>
              <a:cs typeface="Cambria"/>
              <a:sym typeface="Cambria"/>
            </a:endParaRPr>
          </a:p>
          <a:p>
            <a:pPr indent="0" lvl="0" marL="457200" rtl="0" algn="l">
              <a:lnSpc>
                <a:spcPct val="115000"/>
              </a:lnSpc>
              <a:spcBef>
                <a:spcPts val="1200"/>
              </a:spcBef>
              <a:spcAft>
                <a:spcPts val="0"/>
              </a:spcAft>
              <a:buNone/>
            </a:pPr>
            <a:r>
              <a:rPr b="1" lang="en-IN" sz="2850">
                <a:latin typeface="Cambria"/>
                <a:ea typeface="Cambria"/>
                <a:cs typeface="Cambria"/>
                <a:sym typeface="Cambria"/>
              </a:rPr>
              <a:t>5.Text Summarization</a:t>
            </a:r>
            <a:endParaRPr b="1" sz="2850">
              <a:latin typeface="Cambria"/>
              <a:ea typeface="Cambria"/>
              <a:cs typeface="Cambria"/>
              <a:sym typeface="Cambria"/>
            </a:endParaRPr>
          </a:p>
          <a:p>
            <a:pPr indent="-314563" lvl="1" marL="914400" rtl="0" algn="l">
              <a:lnSpc>
                <a:spcPct val="115000"/>
              </a:lnSpc>
              <a:spcBef>
                <a:spcPts val="1200"/>
              </a:spcBef>
              <a:spcAft>
                <a:spcPts val="0"/>
              </a:spcAft>
              <a:buSzPct val="100000"/>
              <a:buFont typeface="Cambria"/>
              <a:buChar char="○"/>
            </a:pPr>
            <a:r>
              <a:rPr b="1" lang="en-IN" sz="2850">
                <a:latin typeface="Cambria"/>
                <a:ea typeface="Cambria"/>
                <a:cs typeface="Cambria"/>
                <a:sym typeface="Cambria"/>
              </a:rPr>
              <a:t>T5-Small transformer model</a:t>
            </a:r>
            <a:endParaRPr b="1" sz="2850">
              <a:latin typeface="Cambria"/>
              <a:ea typeface="Cambria"/>
              <a:cs typeface="Cambria"/>
              <a:sym typeface="Cambria"/>
            </a:endParaRPr>
          </a:p>
          <a:p>
            <a:pPr indent="-314563" lvl="1" marL="914400" rtl="0" algn="l">
              <a:lnSpc>
                <a:spcPct val="115000"/>
              </a:lnSpc>
              <a:spcBef>
                <a:spcPts val="0"/>
              </a:spcBef>
              <a:spcAft>
                <a:spcPts val="0"/>
              </a:spcAft>
              <a:buSzPct val="100000"/>
              <a:buFont typeface="Cambria"/>
              <a:buChar char="○"/>
            </a:pPr>
            <a:r>
              <a:rPr lang="en-IN" sz="2850">
                <a:latin typeface="Cambria"/>
                <a:ea typeface="Cambria"/>
                <a:cs typeface="Cambria"/>
                <a:sym typeface="Cambria"/>
              </a:rPr>
              <a:t>Generates concise summaries of consultation feedback.</a:t>
            </a:r>
            <a:endParaRPr sz="2850">
              <a:latin typeface="Cambria"/>
              <a:ea typeface="Cambria"/>
              <a:cs typeface="Cambria"/>
              <a:sym typeface="Cambria"/>
            </a:endParaRPr>
          </a:p>
          <a:p>
            <a:pPr indent="457200" lvl="0" marL="0" rtl="0" algn="l">
              <a:lnSpc>
                <a:spcPct val="115000"/>
              </a:lnSpc>
              <a:spcBef>
                <a:spcPts val="1200"/>
              </a:spcBef>
              <a:spcAft>
                <a:spcPts val="0"/>
              </a:spcAft>
              <a:buNone/>
            </a:pPr>
            <a:r>
              <a:rPr b="1" lang="en-IN" sz="2850">
                <a:latin typeface="Cambria"/>
                <a:ea typeface="Cambria"/>
                <a:cs typeface="Cambria"/>
                <a:sym typeface="Cambria"/>
              </a:rPr>
              <a:t>6.Word Frequency Extraction</a:t>
            </a:r>
            <a:endParaRPr b="1" sz="2850">
              <a:latin typeface="Cambria"/>
              <a:ea typeface="Cambria"/>
              <a:cs typeface="Cambria"/>
              <a:sym typeface="Cambria"/>
            </a:endParaRPr>
          </a:p>
          <a:p>
            <a:pPr indent="-314563" lvl="1" marL="914400" rtl="0" algn="l">
              <a:lnSpc>
                <a:spcPct val="115000"/>
              </a:lnSpc>
              <a:spcBef>
                <a:spcPts val="1200"/>
              </a:spcBef>
              <a:spcAft>
                <a:spcPts val="0"/>
              </a:spcAft>
              <a:buSzPct val="100000"/>
              <a:buFont typeface="Cambria"/>
              <a:buChar char="○"/>
            </a:pPr>
            <a:r>
              <a:rPr lang="en-IN" sz="2850">
                <a:latin typeface="Cambria"/>
                <a:ea typeface="Cambria"/>
                <a:cs typeface="Cambria"/>
                <a:sym typeface="Cambria"/>
              </a:rPr>
              <a:t>Extracts top keywords from comments</a:t>
            </a:r>
            <a:endParaRPr sz="2850">
              <a:latin typeface="Cambria"/>
              <a:ea typeface="Cambria"/>
              <a:cs typeface="Cambria"/>
              <a:sym typeface="Cambria"/>
            </a:endParaRPr>
          </a:p>
          <a:p>
            <a:pPr indent="-314563" lvl="1" marL="914400" rtl="0" algn="l">
              <a:lnSpc>
                <a:spcPct val="115000"/>
              </a:lnSpc>
              <a:spcBef>
                <a:spcPts val="0"/>
              </a:spcBef>
              <a:spcAft>
                <a:spcPts val="0"/>
              </a:spcAft>
              <a:buSzPct val="100000"/>
              <a:buFont typeface="Cambria"/>
              <a:buChar char="○"/>
            </a:pPr>
            <a:r>
              <a:rPr lang="en-IN" sz="2850">
                <a:latin typeface="Cambria"/>
                <a:ea typeface="Cambria"/>
                <a:cs typeface="Cambria"/>
                <a:sym typeface="Cambria"/>
              </a:rPr>
              <a:t>Used to generate word clouds.</a:t>
            </a:r>
            <a:endParaRPr sz="2850">
              <a:latin typeface="Cambria"/>
              <a:ea typeface="Cambria"/>
              <a:cs typeface="Cambria"/>
              <a:sym typeface="Cambria"/>
            </a:endParaRPr>
          </a:p>
          <a:p>
            <a:pPr indent="0" lvl="0" marL="457200" rtl="0" algn="l">
              <a:lnSpc>
                <a:spcPct val="115000"/>
              </a:lnSpc>
              <a:spcBef>
                <a:spcPts val="1200"/>
              </a:spcBef>
              <a:spcAft>
                <a:spcPts val="0"/>
              </a:spcAft>
              <a:buNone/>
            </a:pPr>
            <a:r>
              <a:rPr b="1" lang="en-IN" sz="2850">
                <a:latin typeface="Cambria"/>
                <a:ea typeface="Cambria"/>
                <a:cs typeface="Cambria"/>
                <a:sym typeface="Cambria"/>
              </a:rPr>
              <a:t>7.Analytics Dashboard</a:t>
            </a:r>
            <a:endParaRPr b="1" sz="2850">
              <a:latin typeface="Cambria"/>
              <a:ea typeface="Cambria"/>
              <a:cs typeface="Cambria"/>
              <a:sym typeface="Cambria"/>
            </a:endParaRPr>
          </a:p>
          <a:p>
            <a:pPr indent="-314563" lvl="1" marL="914400" rtl="0" algn="l">
              <a:lnSpc>
                <a:spcPct val="115000"/>
              </a:lnSpc>
              <a:spcBef>
                <a:spcPts val="1200"/>
              </a:spcBef>
              <a:spcAft>
                <a:spcPts val="0"/>
              </a:spcAft>
              <a:buSzPct val="100000"/>
              <a:buFont typeface="Cambria"/>
              <a:buChar char="○"/>
            </a:pPr>
            <a:r>
              <a:rPr lang="en-IN" sz="2850">
                <a:latin typeface="Cambria"/>
                <a:ea typeface="Cambria"/>
                <a:cs typeface="Cambria"/>
                <a:sym typeface="Cambria"/>
              </a:rPr>
              <a:t>Sentiment distribution charts</a:t>
            </a:r>
            <a:endParaRPr sz="2850">
              <a:latin typeface="Cambria"/>
              <a:ea typeface="Cambria"/>
              <a:cs typeface="Cambria"/>
              <a:sym typeface="Cambria"/>
            </a:endParaRPr>
          </a:p>
          <a:p>
            <a:pPr indent="-314563" lvl="1" marL="914400" rtl="0" algn="l">
              <a:lnSpc>
                <a:spcPct val="115000"/>
              </a:lnSpc>
              <a:spcBef>
                <a:spcPts val="0"/>
              </a:spcBef>
              <a:spcAft>
                <a:spcPts val="0"/>
              </a:spcAft>
              <a:buSzPct val="100000"/>
              <a:buFont typeface="Cambria"/>
              <a:buChar char="○"/>
            </a:pPr>
            <a:r>
              <a:rPr lang="en-IN" sz="2850">
                <a:latin typeface="Cambria"/>
                <a:ea typeface="Cambria"/>
                <a:cs typeface="Cambria"/>
                <a:sym typeface="Cambria"/>
              </a:rPr>
              <a:t>Comment insights</a:t>
            </a:r>
            <a:endParaRPr sz="2850">
              <a:latin typeface="Cambria"/>
              <a:ea typeface="Cambria"/>
              <a:cs typeface="Cambria"/>
              <a:sym typeface="Cambria"/>
            </a:endParaRPr>
          </a:p>
          <a:p>
            <a:pPr indent="-314563" lvl="1" marL="914400" rtl="0" algn="l">
              <a:lnSpc>
                <a:spcPct val="115000"/>
              </a:lnSpc>
              <a:spcBef>
                <a:spcPts val="0"/>
              </a:spcBef>
              <a:spcAft>
                <a:spcPts val="0"/>
              </a:spcAft>
              <a:buSzPct val="100000"/>
              <a:buFont typeface="Cambria"/>
              <a:buChar char="○"/>
            </a:pPr>
            <a:r>
              <a:rPr lang="en-IN" sz="2850">
                <a:latin typeface="Cambria"/>
                <a:ea typeface="Cambria"/>
                <a:cs typeface="Cambria"/>
                <a:sym typeface="Cambria"/>
              </a:rPr>
              <a:t>Summary panel</a:t>
            </a:r>
            <a:endParaRPr sz="2850">
              <a:latin typeface="Cambria"/>
              <a:ea typeface="Cambria"/>
              <a:cs typeface="Cambria"/>
              <a:sym typeface="Cambria"/>
            </a:endParaRPr>
          </a:p>
          <a:p>
            <a:pPr indent="-314563" lvl="1" marL="914400" rtl="0" algn="l">
              <a:lnSpc>
                <a:spcPct val="115000"/>
              </a:lnSpc>
              <a:spcBef>
                <a:spcPts val="0"/>
              </a:spcBef>
              <a:spcAft>
                <a:spcPts val="0"/>
              </a:spcAft>
              <a:buSzPct val="100000"/>
              <a:buFont typeface="Cambria"/>
              <a:buChar char="○"/>
            </a:pPr>
            <a:r>
              <a:rPr lang="en-IN" sz="2850">
                <a:latin typeface="Cambria"/>
                <a:ea typeface="Cambria"/>
                <a:cs typeface="Cambria"/>
                <a:sym typeface="Cambria"/>
              </a:rPr>
              <a:t>Word cloud visualization</a:t>
            </a:r>
            <a:endParaRPr sz="2850">
              <a:latin typeface="Cambria"/>
              <a:ea typeface="Cambria"/>
              <a:cs typeface="Cambria"/>
              <a:sym typeface="Cambria"/>
            </a:endParaRPr>
          </a:p>
          <a:p>
            <a:pPr indent="0" lvl="0" marL="457200" rtl="0" algn="l">
              <a:lnSpc>
                <a:spcPct val="115000"/>
              </a:lnSpc>
              <a:spcBef>
                <a:spcPts val="1200"/>
              </a:spcBef>
              <a:spcAft>
                <a:spcPts val="0"/>
              </a:spcAft>
              <a:buNone/>
            </a:pPr>
            <a:r>
              <a:rPr b="1" lang="en-IN" sz="2850">
                <a:latin typeface="Cambria"/>
                <a:ea typeface="Cambria"/>
                <a:cs typeface="Cambria"/>
                <a:sym typeface="Cambria"/>
              </a:rPr>
              <a:t>8.Data Export</a:t>
            </a:r>
            <a:endParaRPr b="1" sz="2850">
              <a:latin typeface="Cambria"/>
              <a:ea typeface="Cambria"/>
              <a:cs typeface="Cambria"/>
              <a:sym typeface="Cambria"/>
            </a:endParaRPr>
          </a:p>
          <a:p>
            <a:pPr indent="-314563" lvl="1" marL="914400" rtl="0" algn="l">
              <a:lnSpc>
                <a:spcPct val="115000"/>
              </a:lnSpc>
              <a:spcBef>
                <a:spcPts val="1200"/>
              </a:spcBef>
              <a:spcAft>
                <a:spcPts val="0"/>
              </a:spcAft>
              <a:buSzPct val="100000"/>
              <a:buFont typeface="Cambria"/>
              <a:buChar char="○"/>
            </a:pPr>
            <a:r>
              <a:rPr lang="en-IN" sz="2850">
                <a:latin typeface="Cambria"/>
                <a:ea typeface="Cambria"/>
                <a:cs typeface="Cambria"/>
                <a:sym typeface="Cambria"/>
              </a:rPr>
              <a:t>CSV export for policy reporting and analysis.</a:t>
            </a:r>
            <a:endParaRPr sz="2850">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Literature Review</a:t>
            </a:r>
            <a:endParaRPr/>
          </a:p>
        </p:txBody>
      </p:sp>
      <p:sp>
        <p:nvSpPr>
          <p:cNvPr id="152" name="Google Shape;152;p23"/>
          <p:cNvSpPr txBox="1"/>
          <p:nvPr/>
        </p:nvSpPr>
        <p:spPr>
          <a:xfrm>
            <a:off x="1069175" y="1302650"/>
            <a:ext cx="9326700" cy="4524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Sentiment analysis is widely used in social media monitoring and feedback analysis</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336550" lvl="0" marL="457200" rtl="0" algn="l">
              <a:lnSpc>
                <a:spcPct val="115000"/>
              </a:lnSpc>
              <a:spcBef>
                <a:spcPts val="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Transformer models have shown strong performance in understanding contextual sentiment</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336550" lvl="0" marL="457200" rtl="0" algn="l">
              <a:lnSpc>
                <a:spcPct val="115000"/>
              </a:lnSpc>
              <a:spcBef>
                <a:spcPts val="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Existing systems lack tailored solutions for government e-Consultation platforms</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1700">
                <a:solidFill>
                  <a:schemeClr val="dk1"/>
                </a:solidFill>
                <a:latin typeface="Cambria"/>
                <a:ea typeface="Cambria"/>
                <a:cs typeface="Cambria"/>
                <a:sym typeface="Cambria"/>
              </a:rPr>
              <a:t>The review highlights the need for an automated and explainable sentiment analysis system for public policy feedback.</a:t>
            </a:r>
            <a:endParaRPr sz="1700">
              <a:solidFill>
                <a:schemeClr val="dk1"/>
              </a:solidFill>
              <a:latin typeface="Cambria"/>
              <a:ea typeface="Cambria"/>
              <a:cs typeface="Cambria"/>
              <a:sym typeface="Cambria"/>
            </a:endParaRPr>
          </a:p>
          <a:p>
            <a:pPr indent="0" lvl="0" marL="0" rtl="0" algn="l">
              <a:spcBef>
                <a:spcPts val="1200"/>
              </a:spcBef>
              <a:spcAft>
                <a:spcPts val="0"/>
              </a:spcAft>
              <a:buNone/>
            </a:pPr>
            <a:r>
              <a:t/>
            </a:r>
            <a:endParaRPr sz="1700">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733950" y="90694"/>
            <a:ext cx="10668000" cy="710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u="sng">
                <a:latin typeface="Times New Roman"/>
                <a:ea typeface="Times New Roman"/>
                <a:cs typeface="Times New Roman"/>
                <a:sym typeface="Times New Roman"/>
              </a:rPr>
              <a:t>Architecture Diagram</a:t>
            </a:r>
            <a:br>
              <a:rPr lang="en-IN">
                <a:latin typeface="Times New Roman"/>
                <a:ea typeface="Times New Roman"/>
                <a:cs typeface="Times New Roman"/>
                <a:sym typeface="Times New Roman"/>
              </a:rPr>
            </a:br>
            <a:endParaRPr/>
          </a:p>
        </p:txBody>
      </p:sp>
      <p:pic>
        <p:nvPicPr>
          <p:cNvPr id="158" name="Google Shape;158;p24"/>
          <p:cNvPicPr preferRelativeResize="0"/>
          <p:nvPr/>
        </p:nvPicPr>
        <p:blipFill>
          <a:blip r:embed="rId3">
            <a:alphaModFix/>
          </a:blip>
          <a:stretch>
            <a:fillRect/>
          </a:stretch>
        </p:blipFill>
        <p:spPr>
          <a:xfrm>
            <a:off x="-56100" y="565025"/>
            <a:ext cx="12248099" cy="62929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812800" y="274638"/>
            <a:ext cx="10668000" cy="487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IN"/>
              <a:t>Algorithm </a:t>
            </a:r>
            <a:endParaRPr/>
          </a:p>
        </p:txBody>
      </p:sp>
      <p:sp>
        <p:nvSpPr>
          <p:cNvPr id="164" name="Google Shape;164;p25"/>
          <p:cNvSpPr txBox="1"/>
          <p:nvPr>
            <p:ph idx="1" type="body"/>
          </p:nvPr>
        </p:nvSpPr>
        <p:spPr>
          <a:xfrm>
            <a:off x="812800" y="1143001"/>
            <a:ext cx="10668000" cy="49530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1800">
                <a:latin typeface="Cambria"/>
                <a:ea typeface="Cambria"/>
                <a:cs typeface="Cambria"/>
                <a:sym typeface="Cambria"/>
              </a:rPr>
              <a:t>Sentiment Analysis Algorithm</a:t>
            </a:r>
            <a:endParaRPr b="1" sz="1800">
              <a:latin typeface="Cambria"/>
              <a:ea typeface="Cambria"/>
              <a:cs typeface="Cambria"/>
              <a:sym typeface="Cambria"/>
            </a:endParaRPr>
          </a:p>
          <a:p>
            <a:pPr indent="-342900" lvl="0" marL="457200" rtl="0" algn="l">
              <a:lnSpc>
                <a:spcPct val="115000"/>
              </a:lnSpc>
              <a:spcBef>
                <a:spcPts val="1200"/>
              </a:spcBef>
              <a:spcAft>
                <a:spcPts val="0"/>
              </a:spcAft>
              <a:buSzPts val="1800"/>
              <a:buFont typeface="Cambria"/>
              <a:buAutoNum type="arabicPeriod"/>
            </a:pPr>
            <a:r>
              <a:rPr lang="en-IN" sz="1800">
                <a:latin typeface="Cambria"/>
                <a:ea typeface="Cambria"/>
                <a:cs typeface="Cambria"/>
                <a:sym typeface="Cambria"/>
              </a:rPr>
              <a:t>Fetch topic-specific comments from database.</a:t>
            </a:r>
            <a:endParaRPr sz="1800">
              <a:latin typeface="Cambria"/>
              <a:ea typeface="Cambria"/>
              <a:cs typeface="Cambria"/>
              <a:sym typeface="Cambria"/>
            </a:endParaRPr>
          </a:p>
          <a:p>
            <a:pPr indent="-342900" lvl="0" marL="457200" rtl="0" algn="l">
              <a:lnSpc>
                <a:spcPct val="115000"/>
              </a:lnSpc>
              <a:spcBef>
                <a:spcPts val="0"/>
              </a:spcBef>
              <a:spcAft>
                <a:spcPts val="0"/>
              </a:spcAft>
              <a:buSzPts val="1800"/>
              <a:buFont typeface="Cambria"/>
              <a:buAutoNum type="arabicPeriod"/>
            </a:pPr>
            <a:r>
              <a:rPr lang="en-IN" sz="1800">
                <a:latin typeface="Cambria"/>
                <a:ea typeface="Cambria"/>
                <a:cs typeface="Cambria"/>
                <a:sym typeface="Cambria"/>
              </a:rPr>
              <a:t>Preprocess comment text:</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lowercase conversion</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remove URLs</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remove special characters</a:t>
            </a:r>
            <a:br>
              <a:rPr lang="en-IN" sz="1800">
                <a:latin typeface="Cambria"/>
                <a:ea typeface="Cambria"/>
                <a:cs typeface="Cambria"/>
                <a:sym typeface="Cambria"/>
              </a:rPr>
            </a:br>
            <a:endParaRPr sz="1800">
              <a:latin typeface="Cambria"/>
              <a:ea typeface="Cambria"/>
              <a:cs typeface="Cambria"/>
              <a:sym typeface="Cambria"/>
            </a:endParaRPr>
          </a:p>
          <a:p>
            <a:pPr indent="-342900" lvl="0" marL="457200" rtl="0" algn="l">
              <a:lnSpc>
                <a:spcPct val="115000"/>
              </a:lnSpc>
              <a:spcBef>
                <a:spcPts val="0"/>
              </a:spcBef>
              <a:spcAft>
                <a:spcPts val="0"/>
              </a:spcAft>
              <a:buSzPts val="1800"/>
              <a:buAutoNum type="arabicPeriod"/>
            </a:pPr>
            <a:r>
              <a:rPr lang="en-IN" sz="1800">
                <a:latin typeface="Cambria"/>
                <a:ea typeface="Cambria"/>
                <a:cs typeface="Cambria"/>
                <a:sym typeface="Cambria"/>
              </a:rPr>
              <a:t>Input processed text into </a:t>
            </a:r>
            <a:r>
              <a:rPr b="1" lang="en-IN" sz="1800">
                <a:latin typeface="Cambria"/>
                <a:ea typeface="Cambria"/>
                <a:cs typeface="Cambria"/>
                <a:sym typeface="Cambria"/>
              </a:rPr>
              <a:t>DistilBERT sentiment classifier</a:t>
            </a:r>
            <a:r>
              <a:rPr lang="en-IN" sz="1800">
                <a:latin typeface="Cambria"/>
                <a:ea typeface="Cambria"/>
                <a:cs typeface="Cambria"/>
                <a:sym typeface="Cambria"/>
              </a:rPr>
              <a:t>.</a:t>
            </a:r>
            <a:endParaRPr sz="1800">
              <a:latin typeface="Cambria"/>
              <a:ea typeface="Cambria"/>
              <a:cs typeface="Cambria"/>
              <a:sym typeface="Cambria"/>
            </a:endParaRPr>
          </a:p>
          <a:p>
            <a:pPr indent="-342900" lvl="0" marL="457200" rtl="0" algn="l">
              <a:lnSpc>
                <a:spcPct val="115000"/>
              </a:lnSpc>
              <a:spcBef>
                <a:spcPts val="0"/>
              </a:spcBef>
              <a:spcAft>
                <a:spcPts val="0"/>
              </a:spcAft>
              <a:buSzPts val="1800"/>
              <a:buFont typeface="Cambria"/>
              <a:buAutoNum type="arabicPeriod"/>
            </a:pPr>
            <a:r>
              <a:rPr lang="en-IN" sz="1800">
                <a:latin typeface="Cambria"/>
                <a:ea typeface="Cambria"/>
                <a:cs typeface="Cambria"/>
                <a:sym typeface="Cambria"/>
              </a:rPr>
              <a:t>Model outputs probability scores.</a:t>
            </a:r>
            <a:endParaRPr sz="1800">
              <a:latin typeface="Cambria"/>
              <a:ea typeface="Cambria"/>
              <a:cs typeface="Cambria"/>
              <a:sym typeface="Cambria"/>
            </a:endParaRPr>
          </a:p>
          <a:p>
            <a:pPr indent="-342900" lvl="0" marL="457200" rtl="0" algn="l">
              <a:lnSpc>
                <a:spcPct val="115000"/>
              </a:lnSpc>
              <a:spcBef>
                <a:spcPts val="0"/>
              </a:spcBef>
              <a:spcAft>
                <a:spcPts val="0"/>
              </a:spcAft>
              <a:buSzPts val="1800"/>
              <a:buFont typeface="Cambria"/>
              <a:buAutoNum type="arabicPeriod"/>
            </a:pPr>
            <a:r>
              <a:rPr lang="en-IN" sz="1800">
                <a:latin typeface="Cambria"/>
                <a:ea typeface="Cambria"/>
                <a:cs typeface="Cambria"/>
                <a:sym typeface="Cambria"/>
              </a:rPr>
              <a:t>Map predictions into</a:t>
            </a:r>
            <a:r>
              <a:rPr lang="en-IN" sz="1800">
                <a:latin typeface="Cambria"/>
                <a:ea typeface="Cambria"/>
                <a:cs typeface="Cambria"/>
                <a:sym typeface="Cambria"/>
              </a:rPr>
              <a:t>:</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Positive</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Negative</a:t>
            </a:r>
            <a:endParaRPr sz="1800">
              <a:latin typeface="Cambria"/>
              <a:ea typeface="Cambria"/>
              <a:cs typeface="Cambria"/>
              <a:sym typeface="Cambria"/>
            </a:endParaRPr>
          </a:p>
          <a:p>
            <a:pPr indent="-342900" lvl="1" marL="914400" rtl="0" algn="l">
              <a:lnSpc>
                <a:spcPct val="115000"/>
              </a:lnSpc>
              <a:spcBef>
                <a:spcPts val="0"/>
              </a:spcBef>
              <a:spcAft>
                <a:spcPts val="0"/>
              </a:spcAft>
              <a:buSzPts val="1800"/>
              <a:buFont typeface="Cambria"/>
              <a:buChar char="○"/>
            </a:pPr>
            <a:r>
              <a:rPr lang="en-IN" sz="1800">
                <a:latin typeface="Cambria"/>
                <a:ea typeface="Cambria"/>
                <a:cs typeface="Cambria"/>
                <a:sym typeface="Cambria"/>
              </a:rPr>
              <a:t>Neutral (confidence threshold rule).</a:t>
            </a:r>
            <a:endParaRPr sz="1800">
              <a:latin typeface="Cambria"/>
              <a:ea typeface="Cambria"/>
              <a:cs typeface="Cambria"/>
              <a:sym typeface="Cambria"/>
            </a:endParaRPr>
          </a:p>
          <a:p>
            <a:pPr indent="-342900" lvl="0" marL="457200" rtl="0" algn="l">
              <a:lnSpc>
                <a:spcPct val="115000"/>
              </a:lnSpc>
              <a:spcBef>
                <a:spcPts val="0"/>
              </a:spcBef>
              <a:spcAft>
                <a:spcPts val="0"/>
              </a:spcAft>
              <a:buSzPts val="1800"/>
              <a:buFont typeface="Cambria"/>
              <a:buAutoNum type="arabicPeriod"/>
            </a:pPr>
            <a:r>
              <a:rPr lang="en-IN" sz="1800">
                <a:latin typeface="Cambria"/>
                <a:ea typeface="Cambria"/>
                <a:cs typeface="Cambria"/>
                <a:sym typeface="Cambria"/>
              </a:rPr>
              <a:t>Store sentiment label and score in database.</a:t>
            </a:r>
            <a:endParaRPr sz="1800">
              <a:latin typeface="Cambria"/>
              <a:ea typeface="Cambria"/>
              <a:cs typeface="Cambria"/>
              <a:sym typeface="Cambria"/>
            </a:endParaRPr>
          </a:p>
          <a:p>
            <a:pPr indent="0" lvl="0" marL="0" rtl="0" algn="l">
              <a:spcBef>
                <a:spcPts val="1200"/>
              </a:spcBef>
              <a:spcAft>
                <a:spcPts val="0"/>
              </a:spcAft>
              <a:buNone/>
            </a:pPr>
            <a:r>
              <a:t/>
            </a:r>
            <a:endParaRPr sz="180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812800" y="506663"/>
            <a:ext cx="10668000" cy="487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IN"/>
              <a:t>Algorithm </a:t>
            </a:r>
            <a:endParaRPr/>
          </a:p>
          <a:p>
            <a:pPr indent="0" lvl="0" marL="0" rtl="0" algn="l">
              <a:spcBef>
                <a:spcPts val="0"/>
              </a:spcBef>
              <a:spcAft>
                <a:spcPts val="0"/>
              </a:spcAft>
              <a:buNone/>
            </a:pPr>
            <a:r>
              <a:t/>
            </a:r>
            <a:endParaRPr/>
          </a:p>
        </p:txBody>
      </p:sp>
      <p:sp>
        <p:nvSpPr>
          <p:cNvPr id="170" name="Google Shape;170;p26"/>
          <p:cNvSpPr txBox="1"/>
          <p:nvPr>
            <p:ph idx="1" type="body"/>
          </p:nvPr>
        </p:nvSpPr>
        <p:spPr>
          <a:xfrm>
            <a:off x="812800" y="1143001"/>
            <a:ext cx="10668000" cy="49530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1100"/>
              <a:buFont typeface="Arial"/>
              <a:buNone/>
            </a:pPr>
            <a:r>
              <a:rPr b="1" lang="en-IN" sz="1700">
                <a:latin typeface="Cambria"/>
                <a:ea typeface="Cambria"/>
                <a:cs typeface="Cambria"/>
                <a:sym typeface="Cambria"/>
              </a:rPr>
              <a:t>Text Summarization Algorithm</a:t>
            </a:r>
            <a:endParaRPr b="1" sz="1700">
              <a:latin typeface="Cambria"/>
              <a:ea typeface="Cambria"/>
              <a:cs typeface="Cambria"/>
              <a:sym typeface="Cambria"/>
            </a:endParaRPr>
          </a:p>
          <a:p>
            <a:pPr indent="-336550" lvl="0" marL="457200" rtl="0" algn="l">
              <a:lnSpc>
                <a:spcPct val="95000"/>
              </a:lnSpc>
              <a:spcBef>
                <a:spcPts val="1200"/>
              </a:spcBef>
              <a:spcAft>
                <a:spcPts val="0"/>
              </a:spcAft>
              <a:buSzPts val="1700"/>
              <a:buFont typeface="Cambria"/>
              <a:buAutoNum type="arabicPeriod"/>
            </a:pPr>
            <a:r>
              <a:rPr lang="en-IN" sz="1700">
                <a:latin typeface="Cambria"/>
                <a:ea typeface="Cambria"/>
                <a:cs typeface="Cambria"/>
                <a:sym typeface="Cambria"/>
              </a:rPr>
              <a:t>Retrieve topic-filtered comments.</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Preprocess and concatenate text.</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Truncate input to maximum safe length.</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AutoNum type="arabicPeriod"/>
            </a:pPr>
            <a:r>
              <a:rPr lang="en-IN" sz="1700">
                <a:latin typeface="Cambria"/>
                <a:ea typeface="Cambria"/>
                <a:cs typeface="Cambria"/>
                <a:sym typeface="Cambria"/>
              </a:rPr>
              <a:t>Pass text to </a:t>
            </a:r>
            <a:r>
              <a:rPr b="1" lang="en-IN" sz="1700">
                <a:latin typeface="Cambria"/>
                <a:ea typeface="Cambria"/>
                <a:cs typeface="Cambria"/>
                <a:sym typeface="Cambria"/>
              </a:rPr>
              <a:t>T5-Small summarization model</a:t>
            </a:r>
            <a:r>
              <a:rPr lang="en-IN" sz="1700">
                <a:latin typeface="Cambria"/>
                <a:ea typeface="Cambria"/>
                <a:cs typeface="Cambria"/>
                <a:sym typeface="Cambria"/>
              </a:rPr>
              <a:t>.</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Generate concise summary output.</a:t>
            </a:r>
            <a:endParaRPr sz="1700">
              <a:latin typeface="Cambria"/>
              <a:ea typeface="Cambria"/>
              <a:cs typeface="Cambria"/>
              <a:sym typeface="Cambria"/>
            </a:endParaRPr>
          </a:p>
          <a:p>
            <a:pPr indent="0" lvl="0" marL="0" rtl="0" algn="l">
              <a:lnSpc>
                <a:spcPct val="95000"/>
              </a:lnSpc>
              <a:spcBef>
                <a:spcPts val="1200"/>
              </a:spcBef>
              <a:spcAft>
                <a:spcPts val="0"/>
              </a:spcAft>
              <a:buNone/>
            </a:pPr>
            <a:r>
              <a:t/>
            </a:r>
            <a:endParaRPr sz="1700">
              <a:latin typeface="Cambria"/>
              <a:ea typeface="Cambria"/>
              <a:cs typeface="Cambria"/>
              <a:sym typeface="Cambria"/>
            </a:endParaRPr>
          </a:p>
          <a:p>
            <a:pPr indent="0" lvl="0" marL="0" rtl="0" algn="l">
              <a:lnSpc>
                <a:spcPct val="95000"/>
              </a:lnSpc>
              <a:spcBef>
                <a:spcPts val="1400"/>
              </a:spcBef>
              <a:spcAft>
                <a:spcPts val="0"/>
              </a:spcAft>
              <a:buClr>
                <a:schemeClr val="dk1"/>
              </a:buClr>
              <a:buSzPts val="1100"/>
              <a:buFont typeface="Arial"/>
              <a:buNone/>
            </a:pPr>
            <a:r>
              <a:rPr b="1" lang="en-IN" sz="1700">
                <a:latin typeface="Cambria"/>
                <a:ea typeface="Cambria"/>
                <a:cs typeface="Cambria"/>
                <a:sym typeface="Cambria"/>
              </a:rPr>
              <a:t>Word Frequency Extraction</a:t>
            </a:r>
            <a:endParaRPr b="1" sz="1700">
              <a:latin typeface="Cambria"/>
              <a:ea typeface="Cambria"/>
              <a:cs typeface="Cambria"/>
              <a:sym typeface="Cambria"/>
            </a:endParaRPr>
          </a:p>
          <a:p>
            <a:pPr indent="-336550" lvl="0" marL="457200" rtl="0" algn="l">
              <a:lnSpc>
                <a:spcPct val="95000"/>
              </a:lnSpc>
              <a:spcBef>
                <a:spcPts val="1200"/>
              </a:spcBef>
              <a:spcAft>
                <a:spcPts val="0"/>
              </a:spcAft>
              <a:buSzPts val="1700"/>
              <a:buFont typeface="Cambria"/>
              <a:buAutoNum type="arabicPeriod"/>
            </a:pPr>
            <a:r>
              <a:rPr lang="en-IN" sz="1700">
                <a:latin typeface="Cambria"/>
                <a:ea typeface="Cambria"/>
                <a:cs typeface="Cambria"/>
                <a:sym typeface="Cambria"/>
              </a:rPr>
              <a:t>Combine topic comments.</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Remove stopwords.</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Tokenize text.</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Font typeface="Cambria"/>
              <a:buAutoNum type="arabicPeriod"/>
            </a:pPr>
            <a:r>
              <a:rPr lang="en-IN" sz="1700">
                <a:latin typeface="Cambria"/>
                <a:ea typeface="Cambria"/>
                <a:cs typeface="Cambria"/>
                <a:sym typeface="Cambria"/>
              </a:rPr>
              <a:t>Count word frequencies.</a:t>
            </a:r>
            <a:endParaRPr sz="1700">
              <a:latin typeface="Cambria"/>
              <a:ea typeface="Cambria"/>
              <a:cs typeface="Cambria"/>
              <a:sym typeface="Cambria"/>
            </a:endParaRPr>
          </a:p>
          <a:p>
            <a:pPr indent="-336550" lvl="0" marL="457200" rtl="0" algn="l">
              <a:lnSpc>
                <a:spcPct val="95000"/>
              </a:lnSpc>
              <a:spcBef>
                <a:spcPts val="0"/>
              </a:spcBef>
              <a:spcAft>
                <a:spcPts val="0"/>
              </a:spcAft>
              <a:buSzPts val="1700"/>
              <a:buAutoNum type="arabicPeriod"/>
            </a:pPr>
            <a:r>
              <a:rPr lang="en-IN" sz="1700">
                <a:latin typeface="Cambria"/>
                <a:ea typeface="Cambria"/>
                <a:cs typeface="Cambria"/>
                <a:sym typeface="Cambria"/>
              </a:rPr>
              <a:t>Return </a:t>
            </a:r>
            <a:r>
              <a:rPr b="1" lang="en-IN" sz="1700">
                <a:latin typeface="Cambria"/>
                <a:ea typeface="Cambria"/>
                <a:cs typeface="Cambria"/>
                <a:sym typeface="Cambria"/>
              </a:rPr>
              <a:t>Top-100 words</a:t>
            </a:r>
            <a:r>
              <a:rPr lang="en-IN" sz="1700">
                <a:latin typeface="Cambria"/>
                <a:ea typeface="Cambria"/>
                <a:cs typeface="Cambria"/>
                <a:sym typeface="Cambria"/>
              </a:rPr>
              <a:t> for word cloud visualization.</a:t>
            </a:r>
            <a:endParaRPr sz="1700">
              <a:latin typeface="Cambria"/>
              <a:ea typeface="Cambria"/>
              <a:cs typeface="Cambria"/>
              <a:sym typeface="Cambria"/>
            </a:endParaRPr>
          </a:p>
          <a:p>
            <a:pPr indent="0" lvl="0" marL="0" rtl="0" algn="l">
              <a:lnSpc>
                <a:spcPct val="80000"/>
              </a:lnSpc>
              <a:spcBef>
                <a:spcPts val="1200"/>
              </a:spcBef>
              <a:spcAft>
                <a:spcPts val="0"/>
              </a:spcAft>
              <a:buNone/>
            </a:pPr>
            <a:r>
              <a:t/>
            </a:r>
            <a:endParaRPr sz="2500">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812800" y="274638"/>
            <a:ext cx="10668000" cy="487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IN"/>
              <a:t>System Features</a:t>
            </a:r>
            <a:endParaRPr/>
          </a:p>
        </p:txBody>
      </p:sp>
      <p:sp>
        <p:nvSpPr>
          <p:cNvPr id="176" name="Google Shape;176;p27"/>
          <p:cNvSpPr txBox="1"/>
          <p:nvPr>
            <p:ph idx="1" type="body"/>
          </p:nvPr>
        </p:nvSpPr>
        <p:spPr>
          <a:xfrm>
            <a:off x="812800" y="1143001"/>
            <a:ext cx="10668000" cy="4953000"/>
          </a:xfrm>
          <a:prstGeom prst="rect">
            <a:avLst/>
          </a:prstGeom>
        </p:spPr>
        <p:txBody>
          <a:bodyPr anchorCtr="0" anchor="t" bIns="45700" lIns="91425" spcFirstLastPara="1" rIns="91425" wrap="square" tIns="45700">
            <a:normAutofit lnSpcReduction="20000"/>
          </a:bodyPr>
          <a:lstStyle/>
          <a:p>
            <a:pPr indent="-381000" lvl="0" marL="457200" rtl="0" algn="l">
              <a:spcBef>
                <a:spcPts val="480"/>
              </a:spcBef>
              <a:spcAft>
                <a:spcPts val="0"/>
              </a:spcAft>
              <a:buSzPts val="2400"/>
              <a:buFont typeface="Cambria"/>
              <a:buChar char="•"/>
            </a:pPr>
            <a:r>
              <a:rPr lang="en-IN">
                <a:latin typeface="Cambria"/>
                <a:ea typeface="Cambria"/>
                <a:cs typeface="Cambria"/>
                <a:sym typeface="Cambria"/>
              </a:rPr>
              <a:t>Role-based authentication (Admin / Citizen / Expert)</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Topic-wise consultation system</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Transformer-based sentiment analysis</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Automated text summarization</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Word cloud keyword extraction</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Admin analytics dashboard</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CSV export for reporting</a:t>
            </a:r>
            <a:br>
              <a:rPr lang="en-IN">
                <a:latin typeface="Cambria"/>
                <a:ea typeface="Cambria"/>
                <a:cs typeface="Cambria"/>
                <a:sym typeface="Cambria"/>
              </a:rPr>
            </a:br>
            <a:endParaRPr>
              <a:latin typeface="Cambria"/>
              <a:ea typeface="Cambria"/>
              <a:cs typeface="Cambria"/>
              <a:sym typeface="Cambria"/>
            </a:endParaRPr>
          </a:p>
          <a:p>
            <a:pPr indent="-381000" lvl="0" marL="457200" rtl="0" algn="l">
              <a:spcBef>
                <a:spcPts val="0"/>
              </a:spcBef>
              <a:spcAft>
                <a:spcPts val="0"/>
              </a:spcAft>
              <a:buSzPts val="2400"/>
              <a:buFont typeface="Cambria"/>
              <a:buChar char="•"/>
            </a:pPr>
            <a:r>
              <a:rPr lang="en-IN">
                <a:latin typeface="Cambria"/>
                <a:ea typeface="Cambria"/>
                <a:cs typeface="Cambria"/>
                <a:sym typeface="Cambria"/>
              </a:rPr>
              <a:t>Secure JWT-based API communication</a:t>
            </a:r>
            <a:endParaRPr>
              <a:latin typeface="Cambria"/>
              <a:ea typeface="Cambria"/>
              <a:cs typeface="Cambria"/>
              <a:sym typeface="Cambria"/>
            </a:endParaRPr>
          </a:p>
          <a:p>
            <a:pPr indent="0" lvl="0" marL="457200" rtl="0" algn="l">
              <a:spcBef>
                <a:spcPts val="480"/>
              </a:spcBef>
              <a:spcAft>
                <a:spcPts val="0"/>
              </a:spcAft>
              <a:buNone/>
            </a:pPr>
            <a:r>
              <a:t/>
            </a:r>
            <a:endParaRPr>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Github Link</a:t>
            </a:r>
            <a:endParaRPr/>
          </a:p>
        </p:txBody>
      </p:sp>
      <p:sp>
        <p:nvSpPr>
          <p:cNvPr id="182" name="Google Shape;182;p28"/>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83" name="Google Shape;183;p28"/>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84" name="Google Shape;184;p28"/>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IN" sz="2400" u="none" cap="none" strike="noStrike">
                <a:solidFill>
                  <a:srgbClr val="953734"/>
                </a:solidFill>
                <a:latin typeface="Times New Roman"/>
                <a:ea typeface="Times New Roman"/>
                <a:cs typeface="Times New Roman"/>
                <a:sym typeface="Times New Roman"/>
              </a:rPr>
              <a:t>Github Link</a:t>
            </a:r>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rPr lang="en-IN" sz="2400">
                <a:solidFill>
                  <a:schemeClr val="dk1"/>
                </a:solidFill>
                <a:latin typeface="Times New Roman"/>
                <a:ea typeface="Times New Roman"/>
                <a:cs typeface="Times New Roman"/>
                <a:sym typeface="Times New Roman"/>
              </a:rPr>
              <a:t>https://github.com/chirustark17/Sentiment-analysis-of-comments-received-through-E-consultation-module</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Times New Roman"/>
                <a:ea typeface="Times New Roman"/>
                <a:cs typeface="Times New Roman"/>
                <a:sym typeface="Times New Roman"/>
              </a:rPr>
              <a:t>Visibility : Public</a:t>
            </a:r>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nvSpPr>
        <p:spPr>
          <a:xfrm>
            <a:off x="748665" y="240665"/>
            <a:ext cx="6174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IN" sz="3600" u="none" cap="none" strike="noStrike">
                <a:solidFill>
                  <a:srgbClr val="000000"/>
                </a:solidFill>
                <a:latin typeface="Verdana"/>
                <a:ea typeface="Verdana"/>
                <a:cs typeface="Verdana"/>
                <a:sym typeface="Verdana"/>
              </a:rPr>
              <a:t>Timeline of the Project</a:t>
            </a:r>
            <a:endParaRPr b="1" i="0" sz="3600" u="none" cap="none" strike="noStrike">
              <a:solidFill>
                <a:srgbClr val="000000"/>
              </a:solidFill>
              <a:latin typeface="Verdana"/>
              <a:ea typeface="Verdana"/>
              <a:cs typeface="Verdana"/>
              <a:sym typeface="Verdana"/>
            </a:endParaRPr>
          </a:p>
        </p:txBody>
      </p:sp>
      <p:graphicFrame>
        <p:nvGraphicFramePr>
          <p:cNvPr id="190" name="Google Shape;190;p29"/>
          <p:cNvGraphicFramePr/>
          <p:nvPr/>
        </p:nvGraphicFramePr>
        <p:xfrm>
          <a:off x="1181725" y="1125575"/>
          <a:ext cx="3000000" cy="3000000"/>
        </p:xfrm>
        <a:graphic>
          <a:graphicData uri="http://schemas.openxmlformats.org/drawingml/2006/table">
            <a:tbl>
              <a:tblPr>
                <a:noFill/>
                <a:tableStyleId>{97B6C911-E3F7-49F0-A06A-BE314B7AFAE2}</a:tableStyleId>
              </a:tblPr>
              <a:tblGrid>
                <a:gridCol w="2704675"/>
                <a:gridCol w="2704675"/>
                <a:gridCol w="2704675"/>
                <a:gridCol w="2704675"/>
              </a:tblGrid>
              <a:tr h="317075">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Month</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Phase</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Key Activities</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Deliverables</a:t>
                      </a:r>
                      <a:endParaRPr b="1" sz="1100" u="none" cap="none" strike="noStrike"/>
                    </a:p>
                  </a:txBody>
                  <a:tcPr marT="91425" marB="91425" marR="91425" marL="91425"/>
                </a:tc>
              </a:tr>
              <a:tr h="181697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1</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Data Collection &amp; Setup</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Collect e-consultation comments and similar public datasets • Data cleaning and preprocessing (tokenization, stopword removal, deduplication) • Exploratory data analysis (word frequency, comment length) • Build baseline sentiment model</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Cleaned dataset • EDA report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Baseline sentiment classifier</a:t>
                      </a:r>
                      <a:endParaRPr sz="1200" u="none" cap="none" strike="noStrike">
                        <a:latin typeface="Cambria"/>
                        <a:ea typeface="Cambria"/>
                        <a:cs typeface="Cambria"/>
                        <a:sym typeface="Cambria"/>
                      </a:endParaRPr>
                    </a:p>
                  </a:txBody>
                  <a:tcPr marT="91425" marB="91425" marR="91425" marL="91425"/>
                </a:tc>
              </a:tr>
              <a:tr h="132142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2</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Model Development</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Fine-tune sentiment models (BERT / RoBERTa) • Evaluate model performance against baseline methods • Develop initial text summarization prototype</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Trained sentiment model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Evaluation metrics • Summary generation prototype</a:t>
                      </a:r>
                      <a:endParaRPr sz="1200" u="none" cap="none" strike="noStrike">
                        <a:latin typeface="Cambria"/>
                        <a:ea typeface="Cambria"/>
                        <a:cs typeface="Cambria"/>
                        <a:sym typeface="Cambria"/>
                      </a:endParaRPr>
                    </a:p>
                  </a:txBody>
                  <a:tcPr marT="91425" marB="91425" marR="91425" marL="91425"/>
                </a:tc>
              </a:tr>
              <a:tr h="1158100">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3</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Advanced Features</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Aspect / topic extraction • Duplicate comment detection • Generate word clouds and sentiment visualizations • Integrate models with dashboard UI</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Topic insights • Visual analytics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Functional dashboard</a:t>
                      </a:r>
                      <a:endParaRPr sz="1200" u="none" cap="none" strike="noStrike">
                        <a:latin typeface="Cambria"/>
                        <a:ea typeface="Cambria"/>
                        <a:cs typeface="Cambria"/>
                        <a:sym typeface="Cambria"/>
                      </a:endParaRPr>
                    </a:p>
                  </a:txBody>
                  <a:tcPr marT="91425" marB="91425" marR="91425" marL="91425"/>
                </a:tc>
              </a:tr>
              <a:tr h="132142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4</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Testing &amp; Final Delivery</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System testing and validation • Performance optimization • Final documentation and report preparation • GitHub code organization and submission</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Final system • Project report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&amp; PPT • Public GitHub repository</a:t>
                      </a:r>
                      <a:endParaRPr sz="12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IN">
                <a:latin typeface="Cambria"/>
                <a:ea typeface="Cambria"/>
                <a:cs typeface="Cambria"/>
                <a:sym typeface="Cambria"/>
              </a:rPr>
              <a:t>References </a:t>
            </a:r>
            <a:endParaRPr>
              <a:latin typeface="Cambria"/>
              <a:ea typeface="Cambria"/>
              <a:cs typeface="Cambria"/>
              <a:sym typeface="Cambria"/>
            </a:endParaRPr>
          </a:p>
        </p:txBody>
      </p:sp>
      <p:sp>
        <p:nvSpPr>
          <p:cNvPr id="196" name="Google Shape;196;p30"/>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5000"/>
              </a:lnSpc>
              <a:spcBef>
                <a:spcPts val="1200"/>
              </a:spcBef>
              <a:spcAft>
                <a:spcPts val="0"/>
              </a:spcAft>
              <a:buClr>
                <a:schemeClr val="dk1"/>
              </a:buClr>
              <a:buSzPct val="100000"/>
              <a:buFont typeface="Arial"/>
              <a:buNone/>
            </a:pPr>
            <a:r>
              <a:rPr lang="en-IN" sz="1100">
                <a:latin typeface="Arial"/>
                <a:ea typeface="Arial"/>
                <a:cs typeface="Arial"/>
                <a:sym typeface="Arial"/>
              </a:rPr>
              <a:t>[1] B. Liu, </a:t>
            </a:r>
            <a:r>
              <a:rPr i="1" lang="en-IN" sz="1100">
                <a:latin typeface="Arial"/>
                <a:ea typeface="Arial"/>
                <a:cs typeface="Arial"/>
                <a:sym typeface="Arial"/>
              </a:rPr>
              <a:t>Sentiment Analysis and Opinion Mining</a:t>
            </a:r>
            <a:r>
              <a:rPr lang="en-IN" sz="1100">
                <a:latin typeface="Arial"/>
                <a:ea typeface="Arial"/>
                <a:cs typeface="Arial"/>
                <a:sym typeface="Arial"/>
              </a:rPr>
              <a:t>, Morgan &amp; Claypool Publishers, San Rafael, CA, USA, 2012.</a:t>
            </a:r>
            <a:br>
              <a:rPr lang="en-IN" sz="1100">
                <a:latin typeface="Arial"/>
                <a:ea typeface="Arial"/>
                <a:cs typeface="Arial"/>
                <a:sym typeface="Arial"/>
              </a:rPr>
            </a:br>
            <a:r>
              <a:rPr i="1" lang="en-IN" sz="1100">
                <a:latin typeface="Arial"/>
                <a:ea typeface="Arial"/>
                <a:cs typeface="Arial"/>
                <a:sym typeface="Arial"/>
              </a:rPr>
              <a:t>(Foundational reference for sentiment analysis concepts used in this project.)</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[2] C. J. Hutto and E. Gilbert, “VADER: A Parsimonious Rule-Based Model for Sentiment Analysis of Social Media Text,” in Proceedings of the 8th International AAAI Conference on Weblogs and Social Media (ICWSM)</a:t>
            </a:r>
            <a:r>
              <a:rPr lang="en-IN" sz="1100">
                <a:latin typeface="Arial"/>
                <a:ea typeface="Arial"/>
                <a:cs typeface="Arial"/>
                <a:sym typeface="Arial"/>
              </a:rPr>
              <a:t>, Ann Arbor, MI, USA, 2014, pp. 216–225.</a:t>
            </a:r>
            <a:br>
              <a:rPr lang="en-IN" sz="1100">
                <a:latin typeface="Arial"/>
                <a:ea typeface="Arial"/>
                <a:cs typeface="Arial"/>
                <a:sym typeface="Arial"/>
              </a:rPr>
            </a:br>
            <a:r>
              <a:rPr i="1" lang="en-IN" sz="1100">
                <a:latin typeface="Arial"/>
                <a:ea typeface="Arial"/>
                <a:cs typeface="Arial"/>
                <a:sym typeface="Arial"/>
              </a:rPr>
              <a:t>(Used for lexicon-based sentiment analysis in the proposed system.)</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[3] J. Devlin, M.-W. Chang, K. Lee, and K. Toutanova, “BERT: Pre-training of Deep Bidirectional Transformers for Language Understanding,” in Proceedings of the 2019 Conference of the North American Chapter of the Association for Computational Linguistics (NAACL)</a:t>
            </a:r>
            <a:r>
              <a:rPr lang="en-IN" sz="1100">
                <a:latin typeface="Arial"/>
                <a:ea typeface="Arial"/>
                <a:cs typeface="Arial"/>
                <a:sym typeface="Arial"/>
              </a:rPr>
              <a:t>, Minneapolis, MN, USA, 2019, pp. 4171–4186.</a:t>
            </a:r>
            <a:br>
              <a:rPr lang="en-IN" sz="1100">
                <a:latin typeface="Arial"/>
                <a:ea typeface="Arial"/>
                <a:cs typeface="Arial"/>
                <a:sym typeface="Arial"/>
              </a:rPr>
            </a:br>
            <a:r>
              <a:rPr i="1" lang="en-IN" sz="1100">
                <a:latin typeface="Arial"/>
                <a:ea typeface="Arial"/>
                <a:cs typeface="Arial"/>
                <a:sym typeface="Arial"/>
              </a:rPr>
              <a:t>(Transformer-based models accessed via HuggingFace for sentiment analysis and summarization.)</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[4] M. Lewis et al.</a:t>
            </a:r>
            <a:r>
              <a:rPr lang="en-IN" sz="1100">
                <a:latin typeface="Arial"/>
                <a:ea typeface="Arial"/>
                <a:cs typeface="Arial"/>
                <a:sym typeface="Arial"/>
              </a:rPr>
              <a:t>, “BART: Denoising Sequence-to-Sequence Pre-training for Natural Language Generation, Translation, and Comprehension,” in </a:t>
            </a:r>
            <a:r>
              <a:rPr i="1" lang="en-IN" sz="1100">
                <a:latin typeface="Arial"/>
                <a:ea typeface="Arial"/>
                <a:cs typeface="Arial"/>
                <a:sym typeface="Arial"/>
              </a:rPr>
              <a:t>Proceedings of the 58th Annual Meeting of the Association for Computational Linguistics (ACL)</a:t>
            </a:r>
            <a:r>
              <a:rPr lang="en-IN" sz="1100">
                <a:latin typeface="Arial"/>
                <a:ea typeface="Arial"/>
                <a:cs typeface="Arial"/>
                <a:sym typeface="Arial"/>
              </a:rPr>
              <a:t>, Online, 2020, pp. 7871–7880.</a:t>
            </a:r>
            <a:br>
              <a:rPr lang="en-IN" sz="1100">
                <a:latin typeface="Arial"/>
                <a:ea typeface="Arial"/>
                <a:cs typeface="Arial"/>
                <a:sym typeface="Arial"/>
              </a:rPr>
            </a:br>
            <a:r>
              <a:rPr i="1" lang="en-IN" sz="1100">
                <a:latin typeface="Arial"/>
                <a:ea typeface="Arial"/>
                <a:cs typeface="Arial"/>
                <a:sym typeface="Arial"/>
              </a:rPr>
              <a:t>(Used for abstractive text summarization of public comments.)</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[5] A. Go, R. Bhayani, and L. Huang, “Twitter Sentiment Classification using Distant Supervision,” Stanford University</a:t>
            </a:r>
            <a:r>
              <a:rPr lang="en-IN" sz="1100">
                <a:latin typeface="Arial"/>
                <a:ea typeface="Arial"/>
                <a:cs typeface="Arial"/>
                <a:sym typeface="Arial"/>
              </a:rPr>
              <a:t>, Tech. Rep., 2009.</a:t>
            </a:r>
            <a:br>
              <a:rPr lang="en-IN" sz="1100">
                <a:latin typeface="Arial"/>
                <a:ea typeface="Arial"/>
                <a:cs typeface="Arial"/>
                <a:sym typeface="Arial"/>
              </a:rPr>
            </a:br>
            <a:r>
              <a:rPr i="1" lang="en-IN" sz="1100">
                <a:latin typeface="Arial"/>
                <a:ea typeface="Arial"/>
                <a:cs typeface="Arial"/>
                <a:sym typeface="Arial"/>
              </a:rPr>
              <a:t>(Publicly available sentiment dataset used as the base for training the machine learning model.)</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[6] Federal Communications Commission (FCC), “Public Notice and Comment Procedures,” FCC, Washington, DC, USA. [Online]. Available:</a:t>
            </a:r>
            <a:r>
              <a:rPr i="1" lang="en-IN" sz="1100">
                <a:uFill>
                  <a:noFill/>
                </a:uFill>
                <a:latin typeface="Arial"/>
                <a:ea typeface="Arial"/>
                <a:cs typeface="Arial"/>
                <a:sym typeface="Arial"/>
                <a:hlinkClick r:id="rId3"/>
              </a:rPr>
              <a:t> </a:t>
            </a:r>
            <a:r>
              <a:rPr lang="en-IN" sz="1100" u="sng">
                <a:solidFill>
                  <a:schemeClr val="hlink"/>
                </a:solidFill>
                <a:latin typeface="Arial"/>
                <a:ea typeface="Arial"/>
                <a:cs typeface="Arial"/>
                <a:sym typeface="Arial"/>
                <a:hlinkClick r:id="rId4"/>
              </a:rPr>
              <a:t>https://www.fcc.gov</a:t>
            </a:r>
            <a:br>
              <a:rPr lang="en-IN" sz="1100" u="sng">
                <a:solidFill>
                  <a:schemeClr val="hlink"/>
                </a:solidFill>
                <a:latin typeface="Arial"/>
                <a:ea typeface="Arial"/>
                <a:cs typeface="Arial"/>
                <a:sym typeface="Arial"/>
                <a:hlinkClick r:id="rId5"/>
              </a:rPr>
            </a:br>
            <a:r>
              <a:rPr i="1" lang="en-IN" sz="1100">
                <a:latin typeface="Arial"/>
                <a:ea typeface="Arial"/>
                <a:cs typeface="Arial"/>
                <a:sym typeface="Arial"/>
              </a:rPr>
              <a:t>(Referenced to understand public consultation and comment-based regulatory feedback mechanisms.)</a:t>
            </a:r>
            <a:endParaRPr i="1" sz="1100">
              <a:latin typeface="Arial"/>
              <a:ea typeface="Arial"/>
              <a:cs typeface="Arial"/>
              <a:sym typeface="Arial"/>
            </a:endParaRPr>
          </a:p>
          <a:p>
            <a:pPr indent="0" lvl="0" marL="76200" rtl="0" algn="l">
              <a:lnSpc>
                <a:spcPct val="100000"/>
              </a:lnSpc>
              <a:spcBef>
                <a:spcPts val="1200"/>
              </a:spcBef>
              <a:spcAft>
                <a:spcPts val="0"/>
              </a:spcAft>
              <a:buSzPct val="133333"/>
              <a:buNone/>
            </a:pPr>
            <a:r>
              <a:t/>
            </a:r>
            <a:endParaRPr sz="1800">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1"/>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